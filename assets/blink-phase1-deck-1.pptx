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Hong Kong</c:v>
                </c:pt>
              </c:strCache>
            </c:strRef>
          </c:tx>
          <c:spPr>
            <a:solidFill>
              <a:srgbClr val="F07B20"/>
            </a:solidFill>
          </c:spPr>
          <c:dLbls>
            <c:dLbl>
              <c:idx val="0"/>
              <c:tx>
                <c:rich>
                  <a:bodyPr/>
                  <a:lstStyle/>
                  <a:p>
                    <a:r>
                      <a:rPr lang="en-US" b="1" sz="900">
                        <a:solidFill>
                          <a:srgbClr val="2D3142"/>
                        </a:solidFill>
                      </a:rPr>
                      <a:t>4</a:t>
                    </a:r>
                  </a:p>
                </c:rich>
              </c:tx>
              <c:showLegendKey val="0"/>
              <c:showVal val="0"/>
              <c:showCatName val="0"/>
              <c:showSerName val="0"/>
              <c:showPercent val="0"/>
              <c:showBubbleSize val="0"/>
            </c:dLbl>
            <c:dLbl>
              <c:idx val="1"/>
              <c:tx>
                <c:rich>
                  <a:bodyPr/>
                  <a:lstStyle/>
                  <a:p>
                    <a:r>
                      <a:rPr lang="en-US" b="1" sz="900">
                        <a:solidFill>
                          <a:srgbClr val="2D3142"/>
                        </a:solidFill>
                      </a:rPr>
                      <a:t>26</a:t>
                    </a:r>
                  </a:p>
                </c:rich>
              </c:tx>
              <c:showLegendKey val="0"/>
              <c:showVal val="0"/>
              <c:showCatName val="0"/>
              <c:showSerName val="0"/>
              <c:showPercent val="0"/>
              <c:showBubbleSize val="0"/>
            </c:dLbl>
            <c:dLbl>
              <c:idx val="2"/>
              <c:tx>
                <c:rich>
                  <a:bodyPr/>
                  <a:lstStyle/>
                  <a:p>
                    <a:r>
                      <a:rPr lang="en-US" b="1" sz="900">
                        <a:solidFill>
                          <a:srgbClr val="2D3142"/>
                        </a:solidFill>
                      </a:rPr>
                      <a:t>29</a:t>
                    </a:r>
                  </a:p>
                </c:rich>
              </c:tx>
              <c:showLegendKey val="0"/>
              <c:showVal val="0"/>
              <c:showCatName val="0"/>
              <c:showSerName val="0"/>
              <c:showPercent val="0"/>
              <c:showBubbleSize val="0"/>
            </c:dLbl>
            <c:dLbl>
              <c:idx val="3"/>
              <c:tx>
                <c:rich>
                  <a:bodyPr/>
                  <a:lstStyle/>
                  <a:p>
                    <a:r>
                      <a:rPr lang="en-US" b="1" sz="900">
                        <a:solidFill>
                          <a:srgbClr val="2D3142"/>
                        </a:solidFill>
                      </a:rPr>
                      <a:t>4</a:t>
                    </a:r>
                  </a:p>
                </c:rich>
              </c:tx>
              <c:showLegendKey val="0"/>
              <c:showVal val="0"/>
              <c:showCatName val="0"/>
              <c:showSerName val="0"/>
              <c:showPercent val="0"/>
              <c:showBubbleSize val="0"/>
            </c:dLbl>
            <c:dLbl>
              <c:idx val="4"/>
              <c:tx>
                <c:rich>
                  <a:bodyPr/>
                  <a:lstStyle/>
                  <a:p>
                    <a:r>
                      <a:rPr lang="en-US" b="1" sz="900">
                        <a:solidFill>
                          <a:srgbClr val="2D3142"/>
                        </a:solidFill>
                      </a:rPr>
                      <a:t>6</a:t>
                    </a:r>
                  </a:p>
                </c:rich>
              </c:tx>
              <c:showLegendKey val="0"/>
              <c:showVal val="0"/>
              <c:showCatName val="0"/>
              <c:showSerName val="0"/>
              <c:showPercent val="0"/>
              <c:showBubbleSize val="0"/>
            </c:dLbl>
            <c:dLbl>
              <c:idx val="5"/>
              <c:tx>
                <c:rich>
                  <a:bodyPr/>
                  <a:lstStyle/>
                  <a:p>
                    <a:r>
                      <a:rPr lang="en-US" b="1" sz="900">
                        <a:solidFill>
                          <a:srgbClr val="2D3142"/>
                        </a:solidFill>
                      </a:rPr>
                      <a:t>30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Others</c:v>
                </c:pt>
                <c:pt idx="1">
                  <c:v>Buddhist</c:v>
                </c:pt>
                <c:pt idx="2">
                  <c:v>Catholic, Protestant or other Christian</c:v>
                </c:pt>
                <c:pt idx="3">
                  <c:v>Daoist</c:v>
                </c:pt>
                <c:pt idx="4">
                  <c:v>Local religions/ Indigenous religions</c:v>
                </c:pt>
                <c:pt idx="5">
                  <c:v>No religion</c:v>
                </c:pt>
              </c:strCache>
            </c:strRef>
          </c:cat>
          <c:val>
            <c:numRef>
              <c:f>Sheet1!$B$2:$B$7</c:f>
              <c:numCache>
                <c:formatCode>0</c:formatCode>
                <c:ptCount val="6"/>
                <c:pt idx="0">
                  <c:v>3.7</c:v>
                </c:pt>
                <c:pt idx="1">
                  <c:v>26.368947669898375</c:v>
                </c:pt>
                <c:pt idx="2">
                  <c:v>28.95453565461848</c:v>
                </c:pt>
                <c:pt idx="3">
                  <c:v>3.839573942347744</c:v>
                </c:pt>
                <c:pt idx="4">
                  <c:v>6.240702904344189</c:v>
                </c:pt>
                <c:pt idx="5">
                  <c:v>30.17772322218676</c:v>
                </c:pt>
              </c:numCache>
            </c:numRef>
          </c:val>
        </c:ser>
        <c:ser>
          <c:idx val="1"/>
          <c:order val="1"/>
          <c:tx>
            <c:strRef>
              <c:f>Sheet1!$C$1</c:f>
              <c:strCache>
                <c:ptCount val="1"/>
                <c:pt idx="0">
                  <c:v>Japan</c:v>
                </c:pt>
              </c:strCache>
            </c:strRef>
          </c:tx>
          <c:spPr>
            <a:solidFill>
              <a:srgbClr val="F0A060"/>
            </a:solidFill>
          </c:spPr>
          <c:dLbls>
            <c:dLbl>
              <c:idx val="0"/>
              <c:tx>
                <c:rich>
                  <a:bodyPr/>
                  <a:lstStyle/>
                  <a:p>
                    <a:r>
                      <a:rPr lang="en-US" b="1" sz="900">
                        <a:solidFill>
                          <a:srgbClr val="2D3142"/>
                        </a:solidFill>
                      </a:rPr>
                      <a:t>6 </a:t>
                    </a:r>
                    <a:r>
                      <a:rPr lang="en-US" b="1" sz="900">
                        <a:solidFill>
                          <a:srgbClr val="1B5E20"/>
                        </a:solidFill>
                      </a:rPr>
                      <a:t>▲</a:t>
                    </a:r>
                  </a:p>
                </c:rich>
              </c:tx>
              <c:showLegendKey val="0"/>
              <c:showVal val="0"/>
              <c:showCatName val="0"/>
              <c:showSerName val="0"/>
              <c:showPercent val="0"/>
              <c:showBubbleSize val="0"/>
            </c:dLbl>
            <c:dLbl>
              <c:idx val="1"/>
              <c:tx>
                <c:rich>
                  <a:bodyPr/>
                  <a:lstStyle/>
                  <a:p>
                    <a:r>
                      <a:rPr lang="en-US" b="1" sz="900">
                        <a:solidFill>
                          <a:srgbClr val="2D3142"/>
                        </a:solidFill>
                      </a:rPr>
                      <a:t>57 </a:t>
                    </a:r>
                    <a:r>
                      <a:rPr lang="en-US" b="1" sz="900">
                        <a:solidFill>
                          <a:srgbClr val="1B5E20"/>
                        </a:solidFill>
                      </a:rPr>
                      <a:t>▲</a:t>
                    </a:r>
                  </a:p>
                </c:rich>
              </c:tx>
              <c:showLegendKey val="0"/>
              <c:showVal val="0"/>
              <c:showCatName val="0"/>
              <c:showSerName val="0"/>
              <c:showPercent val="0"/>
              <c:showBubbleSize val="0"/>
            </c:dLbl>
            <c:dLbl>
              <c:idx val="2"/>
              <c:tx>
                <c:rich>
                  <a:bodyPr/>
                  <a:lstStyle/>
                  <a:p>
                    <a:r>
                      <a:rPr lang="en-US" b="1" sz="900">
                        <a:solidFill>
                          <a:srgbClr val="2D3142"/>
                        </a:solidFill>
                      </a:rPr>
                      <a:t>3 </a:t>
                    </a:r>
                    <a:r>
                      <a:rPr lang="en-US" b="1" sz="900">
                        <a:solidFill>
                          <a:srgbClr val="8E2430"/>
                        </a:solidFill>
                      </a:rPr>
                      <a:t>▼</a:t>
                    </a:r>
                  </a:p>
                </c:rich>
              </c:tx>
              <c:showLegendKey val="0"/>
              <c:showVal val="0"/>
              <c:showCatName val="0"/>
              <c:showSerName val="0"/>
              <c:showPercent val="0"/>
              <c:showBubbleSize val="0"/>
            </c:dLbl>
            <c:dLbl>
              <c:idx val="3"/>
              <c:tx>
                <c:rich>
                  <a:bodyPr/>
                  <a:lstStyle/>
                  <a:p>
                    <a:r>
                      <a:rPr lang="en-US" b="1" sz="900">
                        <a:solidFill>
                          <a:srgbClr val="2D3142"/>
                        </a:solidFill>
                      </a:rPr>
                      <a:t>0 </a:t>
                    </a:r>
                    <a:r>
                      <a:rPr lang="en-US" b="1" sz="900">
                        <a:solidFill>
                          <a:srgbClr val="8E2430"/>
                        </a:solidFill>
                      </a:rPr>
                      <a:t>▼</a:t>
                    </a:r>
                  </a:p>
                </c:rich>
              </c:tx>
              <c:showLegendKey val="0"/>
              <c:showVal val="0"/>
              <c:showCatName val="0"/>
              <c:showSerName val="0"/>
              <c:showPercent val="0"/>
              <c:showBubbleSize val="0"/>
            </c:dLbl>
            <c:dLbl>
              <c:idx val="4"/>
              <c:tx>
                <c:rich>
                  <a:bodyPr/>
                  <a:lstStyle/>
                  <a:p>
                    <a:r>
                      <a:rPr lang="en-US" b="1" sz="900">
                        <a:solidFill>
                          <a:srgbClr val="2D3142"/>
                        </a:solidFill>
                      </a:rPr>
                      <a:t>4 </a:t>
                    </a:r>
                    <a:r>
                      <a:rPr lang="en-US" b="1" sz="900">
                        <a:solidFill>
                          <a:srgbClr val="8E2430"/>
                        </a:solidFill>
                      </a:rPr>
                      <a:t>▼</a:t>
                    </a:r>
                  </a:p>
                </c:rich>
              </c:tx>
              <c:showLegendKey val="0"/>
              <c:showVal val="0"/>
              <c:showCatName val="0"/>
              <c:showSerName val="0"/>
              <c:showPercent val="0"/>
              <c:showBubbleSize val="0"/>
            </c:dLbl>
            <c:dLbl>
              <c:idx val="5"/>
              <c:tx>
                <c:rich>
                  <a:bodyPr/>
                  <a:lstStyle/>
                  <a:p>
                    <a:r>
                      <a:rPr lang="en-US" b="1" sz="900">
                        <a:solidFill>
                          <a:srgbClr val="2D3142"/>
                        </a:solidFill>
                      </a:rPr>
                      <a:t>25 </a:t>
                    </a:r>
                    <a:r>
                      <a:rPr lang="en-US" b="1" sz="900">
                        <a:solidFill>
                          <a:srgbClr val="8E2430"/>
                        </a:solidFill>
                      </a:rPr>
                      <a:t>▼</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Others</c:v>
                </c:pt>
                <c:pt idx="1">
                  <c:v>Buddhist</c:v>
                </c:pt>
                <c:pt idx="2">
                  <c:v>Catholic, Protestant or other Christian</c:v>
                </c:pt>
                <c:pt idx="3">
                  <c:v>Daoist</c:v>
                </c:pt>
                <c:pt idx="4">
                  <c:v>Local religions/ Indigenous religions</c:v>
                </c:pt>
                <c:pt idx="5">
                  <c:v>No religion</c:v>
                </c:pt>
              </c:strCache>
            </c:strRef>
          </c:cat>
          <c:val>
            <c:numRef>
              <c:f>Sheet1!$C$2:$C$7</c:f>
              <c:numCache>
                <c:formatCode>0</c:formatCode>
                <c:ptCount val="6"/>
                <c:pt idx="0">
                  <c:v>6.2</c:v>
                </c:pt>
                <c:pt idx="1">
                  <c:v>57.442200554899934</c:v>
                </c:pt>
                <c:pt idx="2">
                  <c:v>3.371646468919488</c:v>
                </c:pt>
                <c:pt idx="3">
                  <c:v>0.08175398803331901</c:v>
                </c:pt>
                <c:pt idx="4">
                  <c:v>4.132437799763437</c:v>
                </c:pt>
                <c:pt idx="5">
                  <c:v>25.29291681072352</c:v>
                </c:pt>
              </c:numCache>
            </c:numRef>
          </c:val>
        </c:ser>
        <c:ser>
          <c:idx val="2"/>
          <c:order val="2"/>
          <c:tx>
            <c:strRef>
              <c:f>Sheet1!$D$1</c:f>
              <c:strCache>
                <c:ptCount val="1"/>
                <c:pt idx="0">
                  <c:v>Korea</c:v>
                </c:pt>
              </c:strCache>
            </c:strRef>
          </c:tx>
          <c:spPr>
            <a:solidFill>
              <a:srgbClr val="F4BF9A"/>
            </a:solidFill>
          </c:spPr>
          <c:dLbls>
            <c:dLbl>
              <c:idx val="0"/>
              <c:tx>
                <c:rich>
                  <a:bodyPr/>
                  <a:lstStyle/>
                  <a:p>
                    <a:r>
                      <a:rPr lang="en-US" b="1" sz="900">
                        <a:solidFill>
                          <a:srgbClr val="2D3142"/>
                        </a:solidFill>
                      </a:rPr>
                      <a:t>6</a:t>
                    </a:r>
                  </a:p>
                </c:rich>
              </c:tx>
              <c:showLegendKey val="0"/>
              <c:showVal val="0"/>
              <c:showCatName val="0"/>
              <c:showSerName val="0"/>
              <c:showPercent val="0"/>
              <c:showBubbleSize val="0"/>
            </c:dLbl>
            <c:dLbl>
              <c:idx val="1"/>
              <c:tx>
                <c:rich>
                  <a:bodyPr/>
                  <a:lstStyle/>
                  <a:p>
                    <a:r>
                      <a:rPr lang="en-US" b="1" sz="900">
                        <a:solidFill>
                          <a:srgbClr val="2D3142"/>
                        </a:solidFill>
                      </a:rPr>
                      <a:t>29 </a:t>
                    </a:r>
                    <a:r>
                      <a:rPr lang="en-US" b="1" sz="900">
                        <a:solidFill>
                          <a:srgbClr val="8E2430"/>
                        </a:solidFill>
                      </a:rPr>
                      <a:t>▼</a:t>
                    </a:r>
                  </a:p>
                </c:rich>
              </c:tx>
              <c:showLegendKey val="0"/>
              <c:showVal val="0"/>
              <c:showCatName val="0"/>
              <c:showSerName val="0"/>
              <c:showPercent val="0"/>
              <c:showBubbleSize val="0"/>
            </c:dLbl>
            <c:dLbl>
              <c:idx val="2"/>
              <c:tx>
                <c:rich>
                  <a:bodyPr/>
                  <a:lstStyle/>
                  <a:p>
                    <a:r>
                      <a:rPr lang="en-US" b="1" sz="900">
                        <a:solidFill>
                          <a:srgbClr val="2D3142"/>
                        </a:solidFill>
                      </a:rPr>
                      <a:t>40 </a:t>
                    </a:r>
                    <a:r>
                      <a:rPr lang="en-US" b="1" sz="900">
                        <a:solidFill>
                          <a:srgbClr val="1B5E20"/>
                        </a:solidFill>
                      </a:rPr>
                      <a:t>▲</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dLbl>
              <c:idx val="4"/>
              <c:tx>
                <c:rich>
                  <a:bodyPr/>
                  <a:lstStyle/>
                  <a:p>
                    <a:r>
                      <a:rPr lang="en-US" b="1" sz="900">
                        <a:solidFill>
                          <a:srgbClr val="2D3142"/>
                        </a:solidFill>
                      </a:rPr>
                      <a:t>1 </a:t>
                    </a:r>
                    <a:r>
                      <a:rPr lang="en-US" b="1" sz="900">
                        <a:solidFill>
                          <a:srgbClr val="8E2430"/>
                        </a:solidFill>
                      </a:rPr>
                      <a:t>▼</a:t>
                    </a:r>
                  </a:p>
                </c:rich>
              </c:tx>
              <c:showLegendKey val="0"/>
              <c:showVal val="0"/>
              <c:showCatName val="0"/>
              <c:showSerName val="0"/>
              <c:showPercent val="0"/>
              <c:showBubbleSize val="0"/>
            </c:dLbl>
            <c:dLbl>
              <c:idx val="5"/>
              <c:tx>
                <c:rich>
                  <a:bodyPr/>
                  <a:lstStyle/>
                  <a:p>
                    <a:r>
                      <a:rPr lang="en-US" b="1" sz="900">
                        <a:solidFill>
                          <a:srgbClr val="2D3142"/>
                        </a:solidFill>
                      </a:rPr>
                      <a:t>23</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Others</c:v>
                </c:pt>
                <c:pt idx="1">
                  <c:v>Buddhist</c:v>
                </c:pt>
                <c:pt idx="2">
                  <c:v>Catholic, Protestant or other Christian</c:v>
                </c:pt>
                <c:pt idx="3">
                  <c:v>Daoist</c:v>
                </c:pt>
                <c:pt idx="4">
                  <c:v>Local religions/ Indigenous religions</c:v>
                </c:pt>
                <c:pt idx="5">
                  <c:v>No religion</c:v>
                </c:pt>
              </c:strCache>
            </c:strRef>
          </c:cat>
          <c:val>
            <c:numRef>
              <c:f>Sheet1!$D$2:$D$7</c:f>
              <c:numCache>
                <c:formatCode>0</c:formatCode>
                <c:ptCount val="6"/>
                <c:pt idx="0">
                  <c:v>6.1</c:v>
                </c:pt>
                <c:pt idx="1">
                  <c:v>28.776443942401713</c:v>
                </c:pt>
                <c:pt idx="2">
                  <c:v>40.04261558682765</c:v>
                </c:pt>
                <c:pt idx="3">
                  <c:v>0.022551780590996003</c:v>
                </c:pt>
                <c:pt idx="4">
                  <c:v>1.4320778241417123</c:v>
                </c:pt>
                <c:pt idx="5">
                  <c:v>23.068277042877295</c:v>
                </c:pt>
              </c:numCache>
            </c:numRef>
          </c:val>
        </c:ser>
        <c:ser>
          <c:idx val="3"/>
          <c:order val="3"/>
          <c:tx>
            <c:strRef>
              <c:f>Sheet1!$E$1</c:f>
              <c:strCache>
                <c:ptCount val="1"/>
                <c:pt idx="0">
                  <c:v>Taiwan</c:v>
                </c:pt>
              </c:strCache>
            </c:strRef>
          </c:tx>
          <c:spPr>
            <a:solidFill>
              <a:srgbClr val="F7D8C0"/>
            </a:solidFill>
          </c:spPr>
          <c:dLbls>
            <c:dLbl>
              <c:idx val="0"/>
              <c:tx>
                <c:rich>
                  <a:bodyPr/>
                  <a:lstStyle/>
                  <a:p>
                    <a:r>
                      <a:rPr lang="en-US" b="1" sz="900">
                        <a:solidFill>
                          <a:srgbClr val="2D3142"/>
                        </a:solidFill>
                      </a:rPr>
                      <a:t>8 </a:t>
                    </a:r>
                    <a:r>
                      <a:rPr lang="en-US" b="1" sz="900">
                        <a:solidFill>
                          <a:srgbClr val="1B5E20"/>
                        </a:solidFill>
                      </a:rPr>
                      <a:t>▲</a:t>
                    </a:r>
                  </a:p>
                </c:rich>
              </c:tx>
              <c:showLegendKey val="0"/>
              <c:showVal val="0"/>
              <c:showCatName val="0"/>
              <c:showSerName val="0"/>
              <c:showPercent val="0"/>
              <c:showBubbleSize val="0"/>
            </c:dLbl>
            <c:dLbl>
              <c:idx val="1"/>
              <c:tx>
                <c:rich>
                  <a:bodyPr/>
                  <a:lstStyle/>
                  <a:p>
                    <a:r>
                      <a:rPr lang="en-US" b="1" sz="900">
                        <a:solidFill>
                          <a:srgbClr val="2D3142"/>
                        </a:solidFill>
                      </a:rPr>
                      <a:t>25 </a:t>
                    </a:r>
                    <a:r>
                      <a:rPr lang="en-US" b="1" sz="900">
                        <a:solidFill>
                          <a:srgbClr val="8E2430"/>
                        </a:solidFill>
                      </a:rPr>
                      <a:t>▼</a:t>
                    </a:r>
                  </a:p>
                </c:rich>
              </c:tx>
              <c:showLegendKey val="0"/>
              <c:showVal val="0"/>
              <c:showCatName val="0"/>
              <c:showSerName val="0"/>
              <c:showPercent val="0"/>
              <c:showBubbleSize val="0"/>
            </c:dLbl>
            <c:dLbl>
              <c:idx val="2"/>
              <c:tx>
                <c:rich>
                  <a:bodyPr/>
                  <a:lstStyle/>
                  <a:p>
                    <a:r>
                      <a:rPr lang="en-US" b="1" sz="900">
                        <a:solidFill>
                          <a:srgbClr val="2D3142"/>
                        </a:solidFill>
                      </a:rPr>
                      <a:t>5 </a:t>
                    </a:r>
                    <a:r>
                      <a:rPr lang="en-US" b="1" sz="900">
                        <a:solidFill>
                          <a:srgbClr val="8E2430"/>
                        </a:solidFill>
                      </a:rPr>
                      <a:t>▼</a:t>
                    </a:r>
                  </a:p>
                </c:rich>
              </c:tx>
              <c:showLegendKey val="0"/>
              <c:showVal val="0"/>
              <c:showCatName val="0"/>
              <c:showSerName val="0"/>
              <c:showPercent val="0"/>
              <c:showBubbleSize val="0"/>
            </c:dLbl>
            <c:dLbl>
              <c:idx val="3"/>
              <c:tx>
                <c:rich>
                  <a:bodyPr/>
                  <a:lstStyle/>
                  <a:p>
                    <a:r>
                      <a:rPr lang="en-US" b="1" sz="900">
                        <a:solidFill>
                          <a:srgbClr val="2D3142"/>
                        </a:solidFill>
                      </a:rPr>
                      <a:t>42 </a:t>
                    </a:r>
                    <a:r>
                      <a:rPr lang="en-US" b="1" sz="900">
                        <a:solidFill>
                          <a:srgbClr val="1B5E20"/>
                        </a:solidFill>
                      </a:rPr>
                      <a:t>▲</a:t>
                    </a:r>
                  </a:p>
                </c:rich>
              </c:tx>
              <c:showLegendKey val="0"/>
              <c:showVal val="0"/>
              <c:showCatName val="0"/>
              <c:showSerName val="0"/>
              <c:showPercent val="0"/>
              <c:showBubbleSize val="0"/>
            </c:dLbl>
            <c:dLbl>
              <c:idx val="4"/>
              <c:tx>
                <c:rich>
                  <a:bodyPr/>
                  <a:lstStyle/>
                  <a:p>
                    <a:r>
                      <a:rPr lang="en-US" b="1" sz="900">
                        <a:solidFill>
                          <a:srgbClr val="2D3142"/>
                        </a:solidFill>
                      </a:rPr>
                      <a:t>10 </a:t>
                    </a:r>
                    <a:r>
                      <a:rPr lang="en-US" b="1" sz="900">
                        <a:solidFill>
                          <a:srgbClr val="1B5E20"/>
                        </a:solidFill>
                      </a:rPr>
                      <a:t>▲</a:t>
                    </a:r>
                  </a:p>
                </c:rich>
              </c:tx>
              <c:showLegendKey val="0"/>
              <c:showVal val="0"/>
              <c:showCatName val="0"/>
              <c:showSerName val="0"/>
              <c:showPercent val="0"/>
              <c:showBubbleSize val="0"/>
            </c:dLbl>
            <c:dLbl>
              <c:idx val="5"/>
              <c:tx>
                <c:rich>
                  <a:bodyPr/>
                  <a:lstStyle/>
                  <a:p>
                    <a:r>
                      <a:rPr lang="en-US" b="1" sz="900">
                        <a:solidFill>
                          <a:srgbClr val="2D3142"/>
                        </a:solidFill>
                      </a:rPr>
                      <a:t>9 </a:t>
                    </a:r>
                    <a:r>
                      <a:rPr lang="en-US" b="1" sz="900">
                        <a:solidFill>
                          <a:srgbClr val="8E2430"/>
                        </a:solidFill>
                      </a:rPr>
                      <a:t>▼</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Others</c:v>
                </c:pt>
                <c:pt idx="1">
                  <c:v>Buddhist</c:v>
                </c:pt>
                <c:pt idx="2">
                  <c:v>Catholic, Protestant or other Christian</c:v>
                </c:pt>
                <c:pt idx="3">
                  <c:v>Daoist</c:v>
                </c:pt>
                <c:pt idx="4">
                  <c:v>Local religions/ Indigenous religions</c:v>
                </c:pt>
                <c:pt idx="5">
                  <c:v>No religion</c:v>
                </c:pt>
              </c:strCache>
            </c:strRef>
          </c:cat>
          <c:val>
            <c:numRef>
              <c:f>Sheet1!$E$2:$E$7</c:f>
              <c:numCache>
                <c:formatCode>0</c:formatCode>
                <c:ptCount val="6"/>
                <c:pt idx="0">
                  <c:v>8.5</c:v>
                </c:pt>
                <c:pt idx="1">
                  <c:v>24.76913150150928</c:v>
                </c:pt>
                <c:pt idx="2">
                  <c:v>5.4037128139035095</c:v>
                </c:pt>
                <c:pt idx="3">
                  <c:v>41.602667938404814</c:v>
                </c:pt>
                <c:pt idx="4">
                  <c:v>9.618397790808862</c:v>
                </c:pt>
                <c:pt idx="5">
                  <c:v>8.607782209338572</c:v>
                </c:pt>
              </c:numCache>
            </c:numRef>
          </c:val>
        </c:ser>
        <c:ser>
          <c:idx val="4"/>
          <c:order val="4"/>
          <c:tx>
            <c:strRef>
              <c:f>Sheet1!$F$1</c:f>
              <c:strCache>
                <c:ptCount val="1"/>
                <c:pt idx="0">
                  <c:v>Vietnam</c:v>
                </c:pt>
              </c:strCache>
            </c:strRef>
          </c:tx>
          <c:spPr>
            <a:solidFill>
              <a:srgbClr val="FBF1E9"/>
            </a:solidFill>
          </c:spPr>
          <c:dLbls>
            <c:dLbl>
              <c:idx val="0"/>
              <c:tx>
                <c:rich>
                  <a:bodyPr/>
                  <a:lstStyle/>
                  <a:p>
                    <a:r>
                      <a:rPr lang="en-US" b="1" sz="900">
                        <a:solidFill>
                          <a:srgbClr val="2D3142"/>
                        </a:solidFill>
                      </a:rPr>
                      <a:t>1 </a:t>
                    </a:r>
                    <a:r>
                      <a:rPr lang="en-US" b="1" sz="900">
                        <a:solidFill>
                          <a:srgbClr val="8E2430"/>
                        </a:solidFill>
                      </a:rPr>
                      <a:t>▼</a:t>
                    </a:r>
                  </a:p>
                </c:rich>
              </c:tx>
              <c:showLegendKey val="0"/>
              <c:showVal val="0"/>
              <c:showCatName val="0"/>
              <c:showSerName val="0"/>
              <c:showPercent val="0"/>
              <c:showBubbleSize val="0"/>
            </c:dLbl>
            <c:dLbl>
              <c:idx val="1"/>
              <c:tx>
                <c:rich>
                  <a:bodyPr/>
                  <a:lstStyle/>
                  <a:p>
                    <a:r>
                      <a:rPr lang="en-US" b="1" sz="900">
                        <a:solidFill>
                          <a:srgbClr val="2D3142"/>
                        </a:solidFill>
                      </a:rPr>
                      <a:t>33 </a:t>
                    </a:r>
                    <a:r>
                      <a:rPr lang="en-US" b="1" sz="900">
                        <a:solidFill>
                          <a:srgbClr val="1B5E20"/>
                        </a:solidFill>
                      </a:rPr>
                      <a:t>▲</a:t>
                    </a:r>
                  </a:p>
                </c:rich>
              </c:tx>
              <c:showLegendKey val="0"/>
              <c:showVal val="0"/>
              <c:showCatName val="0"/>
              <c:showSerName val="0"/>
              <c:showPercent val="0"/>
              <c:showBubbleSize val="0"/>
            </c:dLbl>
            <c:dLbl>
              <c:idx val="2"/>
              <c:tx>
                <c:rich>
                  <a:bodyPr/>
                  <a:lstStyle/>
                  <a:p>
                    <a:r>
                      <a:rPr lang="en-US" b="1" sz="900">
                        <a:solidFill>
                          <a:srgbClr val="2D3142"/>
                        </a:solidFill>
                      </a:rPr>
                      <a:t>9 </a:t>
                    </a:r>
                    <a:r>
                      <a:rPr lang="en-US" b="1" sz="900">
                        <a:solidFill>
                          <a:srgbClr val="1B5E20"/>
                        </a:solidFill>
                      </a:rPr>
                      <a:t>▲</a:t>
                    </a:r>
                  </a:p>
                </c:rich>
              </c:tx>
              <c:showLegendKey val="0"/>
              <c:showVal val="0"/>
              <c:showCatName val="0"/>
              <c:showSerName val="0"/>
              <c:showPercent val="0"/>
              <c:showBubbleSize val="0"/>
            </c:dLbl>
            <c:dLbl>
              <c:idx val="3"/>
              <c:tx>
                <c:rich>
                  <a:bodyPr/>
                  <a:lstStyle/>
                  <a:p>
                    <a:r>
                      <a:rPr lang="en-US" b="1" sz="900">
                        <a:solidFill>
                          <a:srgbClr val="2D3142"/>
                        </a:solidFill>
                      </a:rPr>
                      <a:t>0 </a:t>
                    </a:r>
                    <a:r>
                      <a:rPr lang="en-US" b="1" sz="900">
                        <a:solidFill>
                          <a:srgbClr val="8E2430"/>
                        </a:solidFill>
                      </a:rPr>
                      <a:t>▼</a:t>
                    </a:r>
                  </a:p>
                </c:rich>
              </c:tx>
              <c:showLegendKey val="0"/>
              <c:showVal val="0"/>
              <c:showCatName val="0"/>
              <c:showSerName val="0"/>
              <c:showPercent val="0"/>
              <c:showBubbleSize val="0"/>
            </c:dLbl>
            <c:dLbl>
              <c:idx val="4"/>
              <c:tx>
                <c:rich>
                  <a:bodyPr/>
                  <a:lstStyle/>
                  <a:p>
                    <a:r>
                      <a:rPr lang="en-US" b="1" sz="900">
                        <a:solidFill>
                          <a:srgbClr val="2D3142"/>
                        </a:solidFill>
                      </a:rPr>
                      <a:t>1 </a:t>
                    </a:r>
                    <a:r>
                      <a:rPr lang="en-US" b="1" sz="900">
                        <a:solidFill>
                          <a:srgbClr val="8E2430"/>
                        </a:solidFill>
                      </a:rPr>
                      <a:t>▼</a:t>
                    </a:r>
                  </a:p>
                </c:rich>
              </c:tx>
              <c:showLegendKey val="0"/>
              <c:showVal val="0"/>
              <c:showCatName val="0"/>
              <c:showSerName val="0"/>
              <c:showPercent val="0"/>
              <c:showBubbleSize val="0"/>
            </c:dLbl>
            <c:dLbl>
              <c:idx val="5"/>
              <c:tx>
                <c:rich>
                  <a:bodyPr/>
                  <a:lstStyle/>
                  <a:p>
                    <a:r>
                      <a:rPr lang="en-US" b="1" sz="900">
                        <a:solidFill>
                          <a:srgbClr val="2D3142"/>
                        </a:solidFill>
                      </a:rPr>
                      <a:t>55 </a:t>
                    </a:r>
                    <a:r>
                      <a:rPr lang="en-US" b="1" sz="900">
                        <a:solidFill>
                          <a:srgbClr val="1B5E20"/>
                        </a:solidFill>
                      </a:rPr>
                      <a:t>▲</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Others</c:v>
                </c:pt>
                <c:pt idx="1">
                  <c:v>Buddhist</c:v>
                </c:pt>
                <c:pt idx="2">
                  <c:v>Catholic, Protestant or other Christian</c:v>
                </c:pt>
                <c:pt idx="3">
                  <c:v>Daoist</c:v>
                </c:pt>
                <c:pt idx="4">
                  <c:v>Local religions/ Indigenous religions</c:v>
                </c:pt>
                <c:pt idx="5">
                  <c:v>No religion</c:v>
                </c:pt>
              </c:strCache>
            </c:strRef>
          </c:cat>
          <c:val>
            <c:numRef>
              <c:f>Sheet1!$F$2:$F$7</c:f>
              <c:numCache>
                <c:formatCode>0</c:formatCode>
                <c:ptCount val="6"/>
                <c:pt idx="0">
                  <c:v>1.2</c:v>
                </c:pt>
                <c:pt idx="1">
                  <c:v>33.05393215455683</c:v>
                </c:pt>
                <c:pt idx="2">
                  <c:v>8.863981935905546</c:v>
                </c:pt>
                <c:pt idx="3">
                  <c:v>0.04228299438744856</c:v>
                </c:pt>
                <c:pt idx="4">
                  <c:v>1.4314941121138767</c:v>
                </c:pt>
                <c:pt idx="5">
                  <c:v>54.6877717005795</c:v>
                </c:pt>
              </c:numCache>
            </c:numRef>
          </c:val>
        </c:ser>
        <c:gapWidth val="4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14</a:t>
                    </a:r>
                  </a:p>
                </c:rich>
              </c:tx>
              <c:showLegendKey val="0"/>
              <c:showVal val="0"/>
              <c:showCatName val="0"/>
              <c:showSerName val="0"/>
              <c:showPercent val="0"/>
              <c:showBubbleSize val="0"/>
            </c:dLbl>
            <c:dLbl>
              <c:idx val="1"/>
              <c:tx>
                <c:rich>
                  <a:bodyPr/>
                  <a:lstStyle/>
                  <a:p>
                    <a:r>
                      <a:rPr lang="en-US" b="1" sz="900">
                        <a:solidFill>
                          <a:srgbClr val="2D3142"/>
                        </a:solidFill>
                      </a:rPr>
                      <a:t>20 </a:t>
                    </a:r>
                    <a:r>
                      <a:rPr lang="en-US" b="1" sz="900">
                        <a:solidFill>
                          <a:srgbClr val="2D3142"/>
                        </a:solidFill>
                      </a:rPr>
                      <a:t>BDE</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dLbl>
              <c:idx val="4"/>
              <c:tx>
                <c:rich>
                  <a:bodyPr/>
                  <a:lstStyle/>
                  <a:p>
                    <a:r>
                      <a:rPr lang="en-US" b="1" sz="900">
                        <a:solidFill>
                          <a:srgbClr val="2D3142"/>
                        </a:solidFill>
                      </a:rPr>
                      <a:t>1 </a:t>
                    </a:r>
                    <a:r>
                      <a:rPr lang="en-US" b="1" sz="900">
                        <a:solidFill>
                          <a:srgbClr val="2D3142"/>
                        </a:solidFill>
                      </a:rPr>
                      <a:t>BCE</a:t>
                    </a:r>
                  </a:p>
                </c:rich>
              </c:tx>
              <c:showLegendKey val="0"/>
              <c:showVal val="0"/>
              <c:showCatName val="0"/>
              <c:showSerName val="0"/>
              <c:showPercent val="0"/>
              <c:showBubbleSize val="0"/>
            </c:dLbl>
            <c:dLbl>
              <c:idx val="5"/>
              <c:tx>
                <c:rich>
                  <a:bodyPr/>
                  <a:lstStyle/>
                  <a:p>
                    <a:r>
                      <a:rPr lang="en-US" b="1" sz="900">
                        <a:solidFill>
                          <a:srgbClr val="2D3142"/>
                        </a:solidFill>
                      </a:rPr>
                      <a:t>0</a:t>
                    </a:r>
                  </a:p>
                </c:rich>
              </c:tx>
              <c:showLegendKey val="0"/>
              <c:showVal val="0"/>
              <c:showCatName val="0"/>
              <c:showSerName val="0"/>
              <c:showPercent val="0"/>
              <c:showBubbleSize val="0"/>
            </c:dLbl>
            <c:dLbl>
              <c:idx val="6"/>
              <c:tx>
                <c:rich>
                  <a:bodyPr/>
                  <a:lstStyle/>
                  <a:p>
                    <a:r>
                      <a:rPr lang="en-US" b="1" sz="900">
                        <a:solidFill>
                          <a:srgbClr val="2D3142"/>
                        </a:solidFill>
                      </a:rPr>
                      <a:t>2 </a:t>
                    </a:r>
                    <a:r>
                      <a:rPr lang="en-US" b="1" sz="900">
                        <a:solidFill>
                          <a:srgbClr val="2D3142"/>
                        </a:solidFill>
                      </a:rPr>
                      <a:t>C</a:t>
                    </a:r>
                  </a:p>
                </c:rich>
              </c:tx>
              <c:showLegendKey val="0"/>
              <c:showVal val="0"/>
              <c:showCatName val="0"/>
              <c:showSerName val="0"/>
              <c:showPercent val="0"/>
              <c:showBubbleSize val="0"/>
            </c:dLbl>
            <c:dLbl>
              <c:idx val="7"/>
              <c:tx>
                <c:rich>
                  <a:bodyPr/>
                  <a:lstStyle/>
                  <a:p>
                    <a:r>
                      <a:rPr lang="en-US" b="1" sz="900">
                        <a:solidFill>
                          <a:srgbClr val="2D3142"/>
                        </a:solidFill>
                      </a:rPr>
                      <a:t>61 </a:t>
                    </a:r>
                    <a:r>
                      <a:rPr lang="en-US" b="1" sz="900">
                        <a:solidFill>
                          <a:srgbClr val="2D3142"/>
                        </a:solidFill>
                      </a:rPr>
                      <a:t>BCDE</a:t>
                    </a:r>
                  </a:p>
                </c:rich>
              </c:tx>
              <c:showLegendKey val="0"/>
              <c:showVal val="0"/>
              <c:showCatName val="0"/>
              <c:showSerName val="0"/>
              <c:showPercent val="0"/>
              <c:showBubbleSize val="0"/>
            </c:dLbl>
            <c:dLbl>
              <c:idx val="8"/>
              <c:tx>
                <c:rich>
                  <a:bodyPr/>
                  <a:lstStyle/>
                  <a:p>
                    <a:r>
                      <a:rPr lang="en-US" b="1" sz="900">
                        <a:solidFill>
                          <a:srgbClr val="2D3142"/>
                        </a:solidFill>
                      </a:rPr>
                      <a:t>1</a:t>
                    </a:r>
                  </a:p>
                </c:rich>
              </c:tx>
              <c:showLegendKey val="0"/>
              <c:showVal val="0"/>
              <c:showCatName val="0"/>
              <c:showSerName val="0"/>
              <c:showPercent val="0"/>
              <c:showBubbleSize val="0"/>
            </c:dLbl>
            <c:dLbl>
              <c:idx val="9"/>
              <c:tx>
                <c:rich>
                  <a:bodyPr/>
                  <a:lstStyle/>
                  <a:p>
                    <a:r>
                      <a:rPr lang="en-US" b="1" sz="900">
                        <a:solidFill>
                          <a:srgbClr val="2D3142"/>
                        </a:solidFill>
                      </a:rPr>
                      <a:t>0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Sheet1!$A$2:$A$11</c:f>
              <c:strCache>
                <c:ptCount val="10"/>
                <c:pt idx="0">
                  <c:v>Buddhist</c:v>
                </c:pt>
                <c:pt idx="1">
                  <c:v>Catholic, Protestant or other Christian</c:v>
                </c:pt>
                <c:pt idx="2">
                  <c:v>Muslim</c:v>
                </c:pt>
                <c:pt idx="3">
                  <c:v>Shinto [ASK IN JAPAN]</c:v>
                </c:pt>
                <c:pt idx="4">
                  <c:v>Daoist</c:v>
                </c:pt>
                <c:pt idx="5">
                  <c:v>Confucian</c:v>
                </c:pt>
                <c:pt idx="6">
                  <c:v>Local religions/ Indigenous religions</c:v>
                </c:pt>
                <c:pt idx="7">
                  <c:v>No religion</c:v>
                </c:pt>
                <c:pt idx="8">
                  <c:v>Some other religion [SPECIFY IN QCURRELb]</c:v>
                </c:pt>
                <c:pt idx="9">
                  <c:v>Combination of religions</c:v>
                </c:pt>
              </c:strCache>
            </c:strRef>
          </c:cat>
          <c:val>
            <c:numRef>
              <c:f>Sheet1!$B$2:$B$11</c:f>
              <c:numCache>
                <c:formatCode>0</c:formatCode>
                <c:ptCount val="10"/>
                <c:pt idx="0">
                  <c:v>14.28055264105824</c:v>
                </c:pt>
                <c:pt idx="1">
                  <c:v>20.433157770585115</c:v>
                </c:pt>
                <c:pt idx="2">
                  <c:v>0.21765923373524287</c:v>
                </c:pt>
                <c:pt idx="3">
                  <c:v>0.0</c:v>
                </c:pt>
                <c:pt idx="4">
                  <c:v>1.0828344643390837</c:v>
                </c:pt>
                <c:pt idx="5">
                  <c:v>0.0</c:v>
                </c:pt>
                <c:pt idx="6">
                  <c:v>1.7927978508328506</c:v>
                </c:pt>
                <c:pt idx="7">
                  <c:v>61.10319322564717</c:v>
                </c:pt>
                <c:pt idx="8">
                  <c:v>0.5824516652443182</c:v>
                </c:pt>
                <c:pt idx="9">
                  <c:v>0.3728174772720279</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46 </a:t>
                    </a:r>
                    <a:r>
                      <a:rPr lang="en-US" b="1" sz="900">
                        <a:solidFill>
                          <a:srgbClr val="2D3142"/>
                        </a:solidFill>
                      </a:rPr>
                      <a:t>ACDE</a:t>
                    </a:r>
                  </a:p>
                </c:rich>
              </c:tx>
              <c:showLegendKey val="0"/>
              <c:showVal val="0"/>
              <c:showCatName val="0"/>
              <c:showSerName val="0"/>
              <c:showPercent val="0"/>
              <c:showBubbleSize val="0"/>
            </c:dLbl>
            <c:dLbl>
              <c:idx val="1"/>
              <c:tx>
                <c:rich>
                  <a:bodyPr/>
                  <a:lstStyle/>
                  <a:p>
                    <a:r>
                      <a:rPr lang="en-US" b="1" sz="900">
                        <a:solidFill>
                          <a:srgbClr val="2D3142"/>
                        </a:solidFill>
                      </a:rPr>
                      <a:t>2</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dLbl>
              <c:idx val="3"/>
              <c:tx>
                <c:rich>
                  <a:bodyPr/>
                  <a:lstStyle/>
                  <a:p>
                    <a:r>
                      <a:rPr lang="en-US" b="1" sz="900">
                        <a:solidFill>
                          <a:srgbClr val="2D3142"/>
                        </a:solidFill>
                      </a:rPr>
                      <a:t>4 </a:t>
                    </a:r>
                    <a:r>
                      <a:rPr lang="en-US" b="1" sz="900">
                        <a:solidFill>
                          <a:srgbClr val="2D3142"/>
                        </a:solidFill>
                      </a:rPr>
                      <a:t>ACDE</a:t>
                    </a:r>
                  </a:p>
                </c:rich>
              </c:tx>
              <c:showLegendKey val="0"/>
              <c:showVal val="0"/>
              <c:showCatName val="0"/>
              <c:showSerName val="0"/>
              <c:showPercent val="0"/>
              <c:showBubbleSize val="0"/>
            </c:dLbl>
            <c:dLbl>
              <c:idx val="4"/>
              <c:tx>
                <c:rich>
                  <a:bodyPr/>
                  <a:lstStyle/>
                  <a:p>
                    <a:r>
                      <a:rPr lang="en-US" b="1" sz="900">
                        <a:solidFill>
                          <a:srgbClr val="2D3142"/>
                        </a:solidFill>
                      </a:rPr>
                      <a:t>0</a:t>
                    </a:r>
                  </a:p>
                </c:rich>
              </c:tx>
              <c:showLegendKey val="0"/>
              <c:showVal val="0"/>
              <c:showCatName val="0"/>
              <c:showSerName val="0"/>
              <c:showPercent val="0"/>
              <c:showBubbleSize val="0"/>
            </c:dLbl>
            <c:dLbl>
              <c:idx val="5"/>
              <c:tx>
                <c:rich>
                  <a:bodyPr/>
                  <a:lstStyle/>
                  <a:p>
                    <a:r>
                      <a:rPr lang="en-US" b="1" sz="900">
                        <a:solidFill>
                          <a:srgbClr val="2D3142"/>
                        </a:solidFill>
                      </a:rPr>
                      <a:t>0</a:t>
                    </a:r>
                  </a:p>
                </c:rich>
              </c:tx>
              <c:showLegendKey val="0"/>
              <c:showVal val="0"/>
              <c:showCatName val="0"/>
              <c:showSerName val="0"/>
              <c:showPercent val="0"/>
              <c:showBubbleSize val="0"/>
            </c:dLbl>
            <c:dLbl>
              <c:idx val="6"/>
              <c:tx>
                <c:rich>
                  <a:bodyPr/>
                  <a:lstStyle/>
                  <a:p>
                    <a:r>
                      <a:rPr lang="en-US" b="1" sz="900">
                        <a:solidFill>
                          <a:srgbClr val="2D3142"/>
                        </a:solidFill>
                      </a:rPr>
                      <a:t>3 </a:t>
                    </a:r>
                    <a:r>
                      <a:rPr lang="en-US" b="1" sz="900">
                        <a:solidFill>
                          <a:srgbClr val="2D3142"/>
                        </a:solidFill>
                      </a:rPr>
                      <a:t>ACE</a:t>
                    </a:r>
                  </a:p>
                </c:rich>
              </c:tx>
              <c:showLegendKey val="0"/>
              <c:showVal val="0"/>
              <c:showCatName val="0"/>
              <c:showSerName val="0"/>
              <c:showPercent val="0"/>
              <c:showBubbleSize val="0"/>
            </c:dLbl>
            <c:dLbl>
              <c:idx val="7"/>
              <c:tx>
                <c:rich>
                  <a:bodyPr/>
                  <a:lstStyle/>
                  <a:p>
                    <a:r>
                      <a:rPr lang="en-US" b="1" sz="900">
                        <a:solidFill>
                          <a:srgbClr val="2D3142"/>
                        </a:solidFill>
                      </a:rPr>
                      <a:t>42 </a:t>
                    </a:r>
                    <a:r>
                      <a:rPr lang="en-US" b="1" sz="900">
                        <a:solidFill>
                          <a:srgbClr val="2D3142"/>
                        </a:solidFill>
                      </a:rPr>
                      <a:t>D</a:t>
                    </a:r>
                  </a:p>
                </c:rich>
              </c:tx>
              <c:showLegendKey val="0"/>
              <c:showVal val="0"/>
              <c:showCatName val="0"/>
              <c:showSerName val="0"/>
              <c:showPercent val="0"/>
              <c:showBubbleSize val="0"/>
            </c:dLbl>
            <c:dLbl>
              <c:idx val="8"/>
              <c:tx>
                <c:rich>
                  <a:bodyPr/>
                  <a:lstStyle/>
                  <a:p>
                    <a:r>
                      <a:rPr lang="en-US" b="1" sz="900">
                        <a:solidFill>
                          <a:srgbClr val="2D3142"/>
                        </a:solidFill>
                      </a:rPr>
                      <a:t>1</a:t>
                    </a:r>
                  </a:p>
                </c:rich>
              </c:tx>
              <c:showLegendKey val="0"/>
              <c:showVal val="0"/>
              <c:showCatName val="0"/>
              <c:showSerName val="0"/>
              <c:showPercent val="0"/>
              <c:showBubbleSize val="0"/>
            </c:dLbl>
            <c:dLbl>
              <c:idx val="9"/>
              <c:tx>
                <c:rich>
                  <a:bodyPr/>
                  <a:lstStyle/>
                  <a:p>
                    <a:r>
                      <a:rPr lang="en-US" b="1" sz="900">
                        <a:solidFill>
                          <a:srgbClr val="2D3142"/>
                        </a:solidFill>
                      </a:rPr>
                      <a:t>1 </a:t>
                    </a:r>
                    <a:r>
                      <a:rPr lang="en-US" b="1" sz="900">
                        <a:solidFill>
                          <a:srgbClr val="2D3142"/>
                        </a:solidFill>
                      </a:rPr>
                      <a:t>ACE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Sheet1!$A$2:$A$11</c:f>
              <c:strCache>
                <c:ptCount val="10"/>
                <c:pt idx="0">
                  <c:v>Buddhist</c:v>
                </c:pt>
                <c:pt idx="1">
                  <c:v>Catholic, Protestant or other Christian</c:v>
                </c:pt>
                <c:pt idx="2">
                  <c:v>Muslim</c:v>
                </c:pt>
                <c:pt idx="3">
                  <c:v>Shinto [ASK IN JAPAN]</c:v>
                </c:pt>
                <c:pt idx="4">
                  <c:v>Daoist</c:v>
                </c:pt>
                <c:pt idx="5">
                  <c:v>Confucian</c:v>
                </c:pt>
                <c:pt idx="6">
                  <c:v>Local religions/ Indigenous religions</c:v>
                </c:pt>
                <c:pt idx="7">
                  <c:v>No religion</c:v>
                </c:pt>
                <c:pt idx="8">
                  <c:v>Some other religion [SPECIFY IN QCURRELb]</c:v>
                </c:pt>
                <c:pt idx="9">
                  <c:v>Combination of religions</c:v>
                </c:pt>
              </c:strCache>
            </c:strRef>
          </c:cat>
          <c:val>
            <c:numRef>
              <c:f>Sheet1!$C$2:$C$11</c:f>
              <c:numCache>
                <c:formatCode>0</c:formatCode>
                <c:ptCount val="10"/>
                <c:pt idx="0">
                  <c:v>45.83183264911896</c:v>
                </c:pt>
                <c:pt idx="1">
                  <c:v>1.7187345961964817</c:v>
                </c:pt>
                <c:pt idx="2">
                  <c:v>0.0</c:v>
                </c:pt>
                <c:pt idx="3">
                  <c:v>3.612819764645784</c:v>
                </c:pt>
                <c:pt idx="4">
                  <c:v>0.044935926449046856</c:v>
                </c:pt>
                <c:pt idx="5">
                  <c:v>0.11168301531272944</c:v>
                </c:pt>
                <c:pt idx="6">
                  <c:v>3.3048859549882335</c:v>
                </c:pt>
                <c:pt idx="7">
                  <c:v>41.7970114581603</c:v>
                </c:pt>
                <c:pt idx="8">
                  <c:v>0.6061631118640474</c:v>
                </c:pt>
                <c:pt idx="9">
                  <c:v>1.1887222242789688</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14</a:t>
                    </a:r>
                  </a:p>
                </c:rich>
              </c:tx>
              <c:showLegendKey val="0"/>
              <c:showVal val="0"/>
              <c:showCatName val="0"/>
              <c:showSerName val="0"/>
              <c:showPercent val="0"/>
              <c:showBubbleSize val="0"/>
            </c:dLbl>
            <c:dLbl>
              <c:idx val="1"/>
              <c:tx>
                <c:rich>
                  <a:bodyPr/>
                  <a:lstStyle/>
                  <a:p>
                    <a:r>
                      <a:rPr lang="en-US" b="1" sz="900">
                        <a:solidFill>
                          <a:srgbClr val="2D3142"/>
                        </a:solidFill>
                      </a:rPr>
                      <a:t>32 </a:t>
                    </a:r>
                    <a:r>
                      <a:rPr lang="en-US" b="1" sz="900">
                        <a:solidFill>
                          <a:srgbClr val="2D3142"/>
                        </a:solidFill>
                      </a:rPr>
                      <a:t>ABDE</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dLbl>
              <c:idx val="4"/>
              <c:tx>
                <c:rich>
                  <a:bodyPr/>
                  <a:lstStyle/>
                  <a:p>
                    <a:r>
                      <a:rPr lang="en-US" b="1" sz="900">
                        <a:solidFill>
                          <a:srgbClr val="2D3142"/>
                        </a:solidFill>
                      </a:rPr>
                      <a:t>0</a:t>
                    </a:r>
                  </a:p>
                </c:rich>
              </c:tx>
              <c:showLegendKey val="0"/>
              <c:showVal val="0"/>
              <c:showCatName val="0"/>
              <c:showSerName val="0"/>
              <c:showPercent val="0"/>
              <c:showBubbleSize val="0"/>
            </c:dLbl>
            <c:dLbl>
              <c:idx val="5"/>
              <c:tx>
                <c:rich>
                  <a:bodyPr/>
                  <a:lstStyle/>
                  <a:p>
                    <a:r>
                      <a:rPr lang="en-US" b="1" sz="900">
                        <a:solidFill>
                          <a:srgbClr val="2D3142"/>
                        </a:solidFill>
                      </a:rPr>
                      <a:t>1 </a:t>
                    </a:r>
                    <a:r>
                      <a:rPr lang="en-US" b="1" sz="900">
                        <a:solidFill>
                          <a:srgbClr val="2D3142"/>
                        </a:solidFill>
                      </a:rPr>
                      <a:t>Abe</a:t>
                    </a:r>
                  </a:p>
                </c:rich>
              </c:tx>
              <c:showLegendKey val="0"/>
              <c:showVal val="0"/>
              <c:showCatName val="0"/>
              <c:showSerName val="0"/>
              <c:showPercent val="0"/>
              <c:showBubbleSize val="0"/>
            </c:dLbl>
            <c:dLbl>
              <c:idx val="6"/>
              <c:tx>
                <c:rich>
                  <a:bodyPr/>
                  <a:lstStyle/>
                  <a:p>
                    <a:r>
                      <a:rPr lang="en-US" b="1" sz="900">
                        <a:solidFill>
                          <a:srgbClr val="2D3142"/>
                        </a:solidFill>
                      </a:rPr>
                      <a:t>0</a:t>
                    </a:r>
                  </a:p>
                </c:rich>
              </c:tx>
              <c:showLegendKey val="0"/>
              <c:showVal val="0"/>
              <c:showCatName val="0"/>
              <c:showSerName val="0"/>
              <c:showPercent val="0"/>
              <c:showBubbleSize val="0"/>
            </c:dLbl>
            <c:dLbl>
              <c:idx val="7"/>
              <c:tx>
                <c:rich>
                  <a:bodyPr/>
                  <a:lstStyle/>
                  <a:p>
                    <a:r>
                      <a:rPr lang="en-US" b="1" sz="900">
                        <a:solidFill>
                          <a:srgbClr val="2D3142"/>
                        </a:solidFill>
                      </a:rPr>
                      <a:t>52 </a:t>
                    </a:r>
                    <a:r>
                      <a:rPr lang="en-US" b="1" sz="900">
                        <a:solidFill>
                          <a:srgbClr val="2D3142"/>
                        </a:solidFill>
                      </a:rPr>
                      <a:t>BDE</a:t>
                    </a:r>
                  </a:p>
                </c:rich>
              </c:tx>
              <c:showLegendKey val="0"/>
              <c:showVal val="0"/>
              <c:showCatName val="0"/>
              <c:showSerName val="0"/>
              <c:showPercent val="0"/>
              <c:showBubbleSize val="0"/>
            </c:dLbl>
            <c:dLbl>
              <c:idx val="8"/>
              <c:tx>
                <c:rich>
                  <a:bodyPr/>
                  <a:lstStyle/>
                  <a:p>
                    <a:r>
                      <a:rPr lang="en-US" b="1" sz="900">
                        <a:solidFill>
                          <a:srgbClr val="2D3142"/>
                        </a:solidFill>
                      </a:rPr>
                      <a:t>0</a:t>
                    </a:r>
                  </a:p>
                </c:rich>
              </c:tx>
              <c:showLegendKey val="0"/>
              <c:showVal val="0"/>
              <c:showCatName val="0"/>
              <c:showSerName val="0"/>
              <c:showPercent val="0"/>
              <c:showBubbleSize val="0"/>
            </c:dLbl>
            <c:dLbl>
              <c:idx val="9"/>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Sheet1!$A$2:$A$11</c:f>
              <c:strCache>
                <c:ptCount val="10"/>
                <c:pt idx="0">
                  <c:v>Buddhist</c:v>
                </c:pt>
                <c:pt idx="1">
                  <c:v>Catholic, Protestant or other Christian</c:v>
                </c:pt>
                <c:pt idx="2">
                  <c:v>Muslim</c:v>
                </c:pt>
                <c:pt idx="3">
                  <c:v>Shinto [ASK IN JAPAN]</c:v>
                </c:pt>
                <c:pt idx="4">
                  <c:v>Daoist</c:v>
                </c:pt>
                <c:pt idx="5">
                  <c:v>Confucian</c:v>
                </c:pt>
                <c:pt idx="6">
                  <c:v>Local religions/ Indigenous religions</c:v>
                </c:pt>
                <c:pt idx="7">
                  <c:v>No religion</c:v>
                </c:pt>
                <c:pt idx="8">
                  <c:v>Some other religion [SPECIFY IN QCURRELb]</c:v>
                </c:pt>
                <c:pt idx="9">
                  <c:v>Combination of religions</c:v>
                </c:pt>
              </c:strCache>
            </c:strRef>
          </c:cat>
          <c:val>
            <c:numRef>
              <c:f>Sheet1!$D$2:$D$11</c:f>
              <c:numCache>
                <c:formatCode>0</c:formatCode>
                <c:ptCount val="10"/>
                <c:pt idx="0">
                  <c:v>14.255096005821374</c:v>
                </c:pt>
                <c:pt idx="1">
                  <c:v>32.22142944097278</c:v>
                </c:pt>
                <c:pt idx="2">
                  <c:v>0.014406902994985378</c:v>
                </c:pt>
                <c:pt idx="3">
                  <c:v>0.0</c:v>
                </c:pt>
                <c:pt idx="4">
                  <c:v>0.022551780590996003</c:v>
                </c:pt>
                <c:pt idx="5">
                  <c:v>0.6469623416479545</c:v>
                </c:pt>
                <c:pt idx="6">
                  <c:v>0.135027827844612</c:v>
                </c:pt>
                <c:pt idx="7">
                  <c:v>52.16379387114196</c:v>
                </c:pt>
                <c:pt idx="8">
                  <c:v>0.2900367360543856</c:v>
                </c:pt>
                <c:pt idx="9">
                  <c:v>0.06780108469033884</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28 </a:t>
                    </a:r>
                    <a:r>
                      <a:rPr lang="en-US" b="1" sz="900">
                        <a:solidFill>
                          <a:srgbClr val="2D3142"/>
                        </a:solidFill>
                      </a:rPr>
                      <a:t>AC</a:t>
                    </a:r>
                  </a:p>
                </c:rich>
              </c:tx>
              <c:showLegendKey val="0"/>
              <c:showVal val="0"/>
              <c:showCatName val="0"/>
              <c:showSerName val="0"/>
              <c:showPercent val="0"/>
              <c:showBubbleSize val="0"/>
            </c:dLbl>
            <c:dLbl>
              <c:idx val="1"/>
              <c:tx>
                <c:rich>
                  <a:bodyPr/>
                  <a:lstStyle/>
                  <a:p>
                    <a:r>
                      <a:rPr lang="en-US" b="1" sz="900">
                        <a:solidFill>
                          <a:srgbClr val="2D3142"/>
                        </a:solidFill>
                      </a:rPr>
                      <a:t>7 </a:t>
                    </a:r>
                    <a:r>
                      <a:rPr lang="en-US" b="1" sz="900">
                        <a:solidFill>
                          <a:srgbClr val="2D3142"/>
                        </a:solidFill>
                      </a:rPr>
                      <a:t>B</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dLbl>
              <c:idx val="4"/>
              <c:tx>
                <c:rich>
                  <a:bodyPr/>
                  <a:lstStyle/>
                  <a:p>
                    <a:r>
                      <a:rPr lang="en-US" b="1" sz="900">
                        <a:solidFill>
                          <a:srgbClr val="2D3142"/>
                        </a:solidFill>
                      </a:rPr>
                      <a:t>24 </a:t>
                    </a:r>
                    <a:r>
                      <a:rPr lang="en-US" b="1" sz="900">
                        <a:solidFill>
                          <a:srgbClr val="2D3142"/>
                        </a:solidFill>
                      </a:rPr>
                      <a:t>ABCE</a:t>
                    </a:r>
                  </a:p>
                </c:rich>
              </c:tx>
              <c:showLegendKey val="0"/>
              <c:showVal val="0"/>
              <c:showCatName val="0"/>
              <c:showSerName val="0"/>
              <c:showPercent val="0"/>
              <c:showBubbleSize val="0"/>
            </c:dLbl>
            <c:dLbl>
              <c:idx val="5"/>
              <c:tx>
                <c:rich>
                  <a:bodyPr/>
                  <a:lstStyle/>
                  <a:p>
                    <a:r>
                      <a:rPr lang="en-US" b="1" sz="900">
                        <a:solidFill>
                          <a:srgbClr val="2D3142"/>
                        </a:solidFill>
                      </a:rPr>
                      <a:t>0</a:t>
                    </a:r>
                  </a:p>
                </c:rich>
              </c:tx>
              <c:showLegendKey val="0"/>
              <c:showVal val="0"/>
              <c:showCatName val="0"/>
              <c:showSerName val="0"/>
              <c:showPercent val="0"/>
              <c:showBubbleSize val="0"/>
            </c:dLbl>
            <c:dLbl>
              <c:idx val="6"/>
              <c:tx>
                <c:rich>
                  <a:bodyPr/>
                  <a:lstStyle/>
                  <a:p>
                    <a:r>
                      <a:rPr lang="en-US" b="1" sz="900">
                        <a:solidFill>
                          <a:srgbClr val="2D3142"/>
                        </a:solidFill>
                      </a:rPr>
                      <a:t>4 </a:t>
                    </a:r>
                    <a:r>
                      <a:rPr lang="en-US" b="1" sz="900">
                        <a:solidFill>
                          <a:srgbClr val="2D3142"/>
                        </a:solidFill>
                      </a:rPr>
                      <a:t>ACE</a:t>
                    </a:r>
                  </a:p>
                </c:rich>
              </c:tx>
              <c:showLegendKey val="0"/>
              <c:showVal val="0"/>
              <c:showCatName val="0"/>
              <c:showSerName val="0"/>
              <c:showPercent val="0"/>
              <c:showBubbleSize val="0"/>
            </c:dLbl>
            <c:dLbl>
              <c:idx val="7"/>
              <c:tx>
                <c:rich>
                  <a:bodyPr/>
                  <a:lstStyle/>
                  <a:p>
                    <a:r>
                      <a:rPr lang="en-US" b="1" sz="900">
                        <a:solidFill>
                          <a:srgbClr val="2D3142"/>
                        </a:solidFill>
                      </a:rPr>
                      <a:t>27</a:t>
                    </a:r>
                  </a:p>
                </c:rich>
              </c:tx>
              <c:showLegendKey val="0"/>
              <c:showVal val="0"/>
              <c:showCatName val="0"/>
              <c:showSerName val="0"/>
              <c:showPercent val="0"/>
              <c:showBubbleSize val="0"/>
            </c:dLbl>
            <c:dLbl>
              <c:idx val="8"/>
              <c:tx>
                <c:rich>
                  <a:bodyPr/>
                  <a:lstStyle/>
                  <a:p>
                    <a:r>
                      <a:rPr lang="en-US" b="1" sz="900">
                        <a:solidFill>
                          <a:srgbClr val="2D3142"/>
                        </a:solidFill>
                      </a:rPr>
                      <a:t>2 </a:t>
                    </a:r>
                    <a:r>
                      <a:rPr lang="en-US" b="1" sz="900">
                        <a:solidFill>
                          <a:srgbClr val="2D3142"/>
                        </a:solidFill>
                      </a:rPr>
                      <a:t>ABC</a:t>
                    </a:r>
                  </a:p>
                </c:rich>
              </c:tx>
              <c:showLegendKey val="0"/>
              <c:showVal val="0"/>
              <c:showCatName val="0"/>
              <c:showSerName val="0"/>
              <c:showPercent val="0"/>
              <c:showBubbleSize val="0"/>
            </c:dLbl>
            <c:dLbl>
              <c:idx val="9"/>
              <c:tx>
                <c:rich>
                  <a:bodyPr/>
                  <a:lstStyle/>
                  <a:p>
                    <a:r>
                      <a:rPr lang="en-US" b="1" sz="900">
                        <a:solidFill>
                          <a:srgbClr val="2D3142"/>
                        </a:solidFill>
                      </a:rPr>
                      <a:t>5 </a:t>
                    </a:r>
                    <a:r>
                      <a:rPr lang="en-US" b="1" sz="900">
                        <a:solidFill>
                          <a:srgbClr val="2D3142"/>
                        </a:solidFill>
                      </a:rPr>
                      <a:t>ABCE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Sheet1!$A$2:$A$11</c:f>
              <c:strCache>
                <c:ptCount val="10"/>
                <c:pt idx="0">
                  <c:v>Buddhist</c:v>
                </c:pt>
                <c:pt idx="1">
                  <c:v>Catholic, Protestant or other Christian</c:v>
                </c:pt>
                <c:pt idx="2">
                  <c:v>Muslim</c:v>
                </c:pt>
                <c:pt idx="3">
                  <c:v>Shinto [ASK IN JAPAN]</c:v>
                </c:pt>
                <c:pt idx="4">
                  <c:v>Daoist</c:v>
                </c:pt>
                <c:pt idx="5">
                  <c:v>Confucian</c:v>
                </c:pt>
                <c:pt idx="6">
                  <c:v>Local religions/ Indigenous religions</c:v>
                </c:pt>
                <c:pt idx="7">
                  <c:v>No religion</c:v>
                </c:pt>
                <c:pt idx="8">
                  <c:v>Some other religion [SPECIFY IN QCURRELb]</c:v>
                </c:pt>
                <c:pt idx="9">
                  <c:v>Combination of religions</c:v>
                </c:pt>
              </c:strCache>
            </c:strRef>
          </c:cat>
          <c:val>
            <c:numRef>
              <c:f>Sheet1!$E$2:$E$11</c:f>
              <c:numCache>
                <c:formatCode>0</c:formatCode>
                <c:ptCount val="10"/>
                <c:pt idx="0">
                  <c:v>27.93510550380902</c:v>
                </c:pt>
                <c:pt idx="1">
                  <c:v>6.904320206337173</c:v>
                </c:pt>
                <c:pt idx="2">
                  <c:v>0.14034248323224696</c:v>
                </c:pt>
                <c:pt idx="3">
                  <c:v>0.0</c:v>
                </c:pt>
                <c:pt idx="4">
                  <c:v>24.30911463208346</c:v>
                </c:pt>
                <c:pt idx="5">
                  <c:v>0.2937174723864006</c:v>
                </c:pt>
                <c:pt idx="6">
                  <c:v>4.410855722343848</c:v>
                </c:pt>
                <c:pt idx="7">
                  <c:v>27.082753761036837</c:v>
                </c:pt>
                <c:pt idx="8">
                  <c:v>1.8858678111929001</c:v>
                </c:pt>
                <c:pt idx="9">
                  <c:v>4.957265864951313</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38 </a:t>
                    </a:r>
                    <a:r>
                      <a:rPr lang="en-US" b="1" sz="900">
                        <a:solidFill>
                          <a:srgbClr val="2D3142"/>
                        </a:solidFill>
                      </a:rPr>
                      <a:t>ACD</a:t>
                    </a:r>
                  </a:p>
                </c:rich>
              </c:tx>
              <c:showLegendKey val="0"/>
              <c:showVal val="0"/>
              <c:showCatName val="0"/>
              <c:showSerName val="0"/>
              <c:showPercent val="0"/>
              <c:showBubbleSize val="0"/>
            </c:dLbl>
            <c:dLbl>
              <c:idx val="1"/>
              <c:tx>
                <c:rich>
                  <a:bodyPr/>
                  <a:lstStyle/>
                  <a:p>
                    <a:r>
                      <a:rPr lang="en-US" b="1" sz="900">
                        <a:solidFill>
                          <a:srgbClr val="2D3142"/>
                        </a:solidFill>
                      </a:rPr>
                      <a:t>10 </a:t>
                    </a:r>
                    <a:r>
                      <a:rPr lang="en-US" b="1" sz="900">
                        <a:solidFill>
                          <a:srgbClr val="2D3142"/>
                        </a:solidFill>
                      </a:rPr>
                      <a:t>BD</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dLbl>
              <c:idx val="3"/>
              <c:tx>
                <c:rich>
                  <a:bodyPr/>
                  <a:lstStyle/>
                  <a:p>
                    <a:r>
                      <a:rPr lang="en-US" b="1" sz="900">
                        <a:solidFill>
                          <a:srgbClr val="2D3142"/>
                        </a:solidFill>
                      </a:rPr>
                      <a:t>0</a:t>
                    </a:r>
                  </a:p>
                </c:rich>
              </c:tx>
              <c:showLegendKey val="0"/>
              <c:showVal val="0"/>
              <c:showCatName val="0"/>
              <c:showSerName val="0"/>
              <c:showPercent val="0"/>
              <c:showBubbleSize val="0"/>
            </c:dLbl>
            <c:dLbl>
              <c:idx val="4"/>
              <c:tx>
                <c:rich>
                  <a:bodyPr/>
                  <a:lstStyle/>
                  <a:p>
                    <a:r>
                      <a:rPr lang="en-US" b="1" sz="900">
                        <a:solidFill>
                          <a:srgbClr val="2D3142"/>
                        </a:solidFill>
                      </a:rPr>
                      <a:t>0</a:t>
                    </a:r>
                  </a:p>
                </c:rich>
              </c:tx>
              <c:showLegendKey val="0"/>
              <c:showVal val="0"/>
              <c:showCatName val="0"/>
              <c:showSerName val="0"/>
              <c:showPercent val="0"/>
              <c:showBubbleSize val="0"/>
            </c:dLbl>
            <c:dLbl>
              <c:idx val="5"/>
              <c:tx>
                <c:rich>
                  <a:bodyPr/>
                  <a:lstStyle/>
                  <a:p>
                    <a:r>
                      <a:rPr lang="en-US" b="1" sz="900">
                        <a:solidFill>
                          <a:srgbClr val="2D3142"/>
                        </a:solidFill>
                      </a:rPr>
                      <a:t>0</a:t>
                    </a:r>
                  </a:p>
                </c:rich>
              </c:tx>
              <c:showLegendKey val="0"/>
              <c:showVal val="0"/>
              <c:showCatName val="0"/>
              <c:showSerName val="0"/>
              <c:showPercent val="0"/>
              <c:showBubbleSize val="0"/>
            </c:dLbl>
            <c:dLbl>
              <c:idx val="6"/>
              <c:tx>
                <c:rich>
                  <a:bodyPr/>
                  <a:lstStyle/>
                  <a:p>
                    <a:r>
                      <a:rPr lang="en-US" b="1" sz="900">
                        <a:solidFill>
                          <a:srgbClr val="2D3142"/>
                        </a:solidFill>
                      </a:rPr>
                      <a:t>1 </a:t>
                    </a:r>
                    <a:r>
                      <a:rPr lang="en-US" b="1" sz="900">
                        <a:solidFill>
                          <a:srgbClr val="2D3142"/>
                        </a:solidFill>
                      </a:rPr>
                      <a:t>C</a:t>
                    </a:r>
                  </a:p>
                </c:rich>
              </c:tx>
              <c:showLegendKey val="0"/>
              <c:showVal val="0"/>
              <c:showCatName val="0"/>
              <c:showSerName val="0"/>
              <c:showPercent val="0"/>
              <c:showBubbleSize val="0"/>
            </c:dLbl>
            <c:dLbl>
              <c:idx val="7"/>
              <c:tx>
                <c:rich>
                  <a:bodyPr/>
                  <a:lstStyle/>
                  <a:p>
                    <a:r>
                      <a:rPr lang="en-US" b="1" sz="900">
                        <a:solidFill>
                          <a:srgbClr val="2D3142"/>
                        </a:solidFill>
                      </a:rPr>
                      <a:t>48 </a:t>
                    </a:r>
                    <a:r>
                      <a:rPr lang="en-US" b="1" sz="900">
                        <a:solidFill>
                          <a:srgbClr val="2D3142"/>
                        </a:solidFill>
                      </a:rPr>
                      <a:t>BD</a:t>
                    </a:r>
                  </a:p>
                </c:rich>
              </c:tx>
              <c:showLegendKey val="0"/>
              <c:showVal val="0"/>
              <c:showCatName val="0"/>
              <c:showSerName val="0"/>
              <c:showPercent val="0"/>
              <c:showBubbleSize val="0"/>
            </c:dLbl>
            <c:dLbl>
              <c:idx val="8"/>
              <c:tx>
                <c:rich>
                  <a:bodyPr/>
                  <a:lstStyle/>
                  <a:p>
                    <a:r>
                      <a:rPr lang="en-US" b="1" sz="900">
                        <a:solidFill>
                          <a:srgbClr val="2D3142"/>
                        </a:solidFill>
                      </a:rPr>
                      <a:t>2 </a:t>
                    </a:r>
                    <a:r>
                      <a:rPr lang="en-US" b="1" sz="900">
                        <a:solidFill>
                          <a:srgbClr val="2D3142"/>
                        </a:solidFill>
                      </a:rPr>
                      <a:t>ABC</a:t>
                    </a:r>
                  </a:p>
                </c:rich>
              </c:tx>
              <c:showLegendKey val="0"/>
              <c:showVal val="0"/>
              <c:showCatName val="0"/>
              <c:showSerName val="0"/>
              <c:showPercent val="0"/>
              <c:showBubbleSize val="0"/>
            </c:dLbl>
            <c:dLbl>
              <c:idx val="9"/>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Sheet1!$A$2:$A$11</c:f>
              <c:strCache>
                <c:ptCount val="10"/>
                <c:pt idx="0">
                  <c:v>Buddhist</c:v>
                </c:pt>
                <c:pt idx="1">
                  <c:v>Catholic, Protestant or other Christian</c:v>
                </c:pt>
                <c:pt idx="2">
                  <c:v>Muslim</c:v>
                </c:pt>
                <c:pt idx="3">
                  <c:v>Shinto [ASK IN JAPAN]</c:v>
                </c:pt>
                <c:pt idx="4">
                  <c:v>Daoist</c:v>
                </c:pt>
                <c:pt idx="5">
                  <c:v>Confucian</c:v>
                </c:pt>
                <c:pt idx="6">
                  <c:v>Local religions/ Indigenous religions</c:v>
                </c:pt>
                <c:pt idx="7">
                  <c:v>No religion</c:v>
                </c:pt>
                <c:pt idx="8">
                  <c:v>Some other religion [SPECIFY IN QCURRELb]</c:v>
                </c:pt>
                <c:pt idx="9">
                  <c:v>Combination of religions</c:v>
                </c:pt>
              </c:strCache>
            </c:strRef>
          </c:cat>
          <c:val>
            <c:numRef>
              <c:f>Sheet1!$F$2:$F$11</c:f>
              <c:numCache>
                <c:formatCode>0</c:formatCode>
                <c:ptCount val="10"/>
                <c:pt idx="0">
                  <c:v>38.46268782207891</c:v>
                </c:pt>
                <c:pt idx="1">
                  <c:v>9.864538777099149</c:v>
                </c:pt>
                <c:pt idx="2">
                  <c:v>0.044984337585101376</c:v>
                </c:pt>
                <c:pt idx="3">
                  <c:v>0.0</c:v>
                </c:pt>
                <c:pt idx="4">
                  <c:v>0.08628582578353558</c:v>
                </c:pt>
                <c:pt idx="5">
                  <c:v>0.1744072260105441</c:v>
                </c:pt>
                <c:pt idx="6">
                  <c:v>1.2249132102153268</c:v>
                </c:pt>
                <c:pt idx="7">
                  <c:v>48.16844463750288</c:v>
                </c:pt>
                <c:pt idx="8">
                  <c:v>1.641782773215011</c:v>
                </c:pt>
                <c:pt idx="9">
                  <c:v>0.010140774685453291</c:v>
                </c:pt>
              </c:numCache>
            </c:numRef>
          </c:val>
        </c:ser>
        <c:gapWidth val="4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Not at all important</c:v>
                </c:pt>
              </c:strCache>
            </c:strRef>
          </c:tx>
          <c:spPr>
            <a:solidFill>
              <a:srgbClr val="F7D8C0"/>
            </a:solidFill>
          </c:spPr>
          <c:dLbls>
            <c:dLbl>
              <c:idx val="0"/>
              <c:tx>
                <c:rich>
                  <a:bodyPr/>
                  <a:lstStyle/>
                  <a:p>
                    <a:r>
                      <a:rPr lang="en-US" b="1" sz="800">
                        <a:solidFill>
                          <a:srgbClr val="2D3142"/>
                        </a:solidFill>
                      </a:rPr>
                      <a:t>23 </a:t>
                    </a:r>
                    <a:r>
                      <a:rPr lang="en-US" b="1" sz="900">
                        <a:solidFill>
                          <a:srgbClr val="2D3142"/>
                        </a:solidFill>
                      </a:rPr>
                      <a:t>DE</a:t>
                    </a:r>
                  </a:p>
                </c:rich>
              </c:tx>
              <c:showLegendKey val="0"/>
              <c:showVal val="0"/>
              <c:showCatName val="0"/>
              <c:showSerName val="0"/>
              <c:showPercent val="0"/>
              <c:showBubbleSize val="0"/>
            </c:dLbl>
            <c:dLbl>
              <c:idx val="1"/>
              <c:tx>
                <c:rich>
                  <a:bodyPr/>
                  <a:lstStyle/>
                  <a:p>
                    <a:r>
                      <a:rPr lang="en-US" b="1" sz="800">
                        <a:solidFill>
                          <a:srgbClr val="2D3142"/>
                        </a:solidFill>
                      </a:rPr>
                      <a:t>23 </a:t>
                    </a:r>
                    <a:r>
                      <a:rPr lang="en-US" b="1" sz="900">
                        <a:solidFill>
                          <a:srgbClr val="2D3142"/>
                        </a:solidFill>
                      </a:rPr>
                      <a:t>DE</a:t>
                    </a:r>
                  </a:p>
                </c:rich>
              </c:tx>
              <c:showLegendKey val="0"/>
              <c:showVal val="0"/>
              <c:showCatName val="0"/>
              <c:showSerName val="0"/>
              <c:showPercent val="0"/>
              <c:showBubbleSize val="0"/>
            </c:dLbl>
            <c:dLbl>
              <c:idx val="2"/>
              <c:tx>
                <c:rich>
                  <a:bodyPr/>
                  <a:lstStyle/>
                  <a:p>
                    <a:r>
                      <a:rPr lang="en-US" b="1" sz="800">
                        <a:solidFill>
                          <a:srgbClr val="2D3142"/>
                        </a:solidFill>
                      </a:rPr>
                      <a:t>28 </a:t>
                    </a:r>
                    <a:r>
                      <a:rPr lang="en-US" b="1" sz="900">
                        <a:solidFill>
                          <a:srgbClr val="2D3142"/>
                        </a:solidFill>
                      </a:rPr>
                      <a:t>ABDE</a:t>
                    </a:r>
                  </a:p>
                </c:rich>
              </c:tx>
              <c:showLegendKey val="0"/>
              <c:showVal val="0"/>
              <c:showCatName val="0"/>
              <c:showSerName val="0"/>
              <c:showPercent val="0"/>
              <c:showBubbleSize val="0"/>
            </c:dLbl>
            <c:dLbl>
              <c:idx val="3"/>
              <c:tx>
                <c:rich>
                  <a:bodyPr/>
                  <a:lstStyle/>
                  <a:p>
                    <a:r>
                      <a:rPr lang="en-US" b="1" sz="800">
                        <a:solidFill>
                          <a:srgbClr val="2D3142"/>
                        </a:solidFill>
                      </a:rPr>
                      <a:t>12</a:t>
                    </a:r>
                  </a:p>
                </c:rich>
              </c:tx>
              <c:showLegendKey val="0"/>
              <c:showVal val="0"/>
              <c:showCatName val="0"/>
              <c:showSerName val="0"/>
              <c:showPercent val="0"/>
              <c:showBubbleSize val="0"/>
            </c:dLbl>
            <c:dLbl>
              <c:idx val="4"/>
              <c:tx>
                <c:rich>
                  <a:bodyPr/>
                  <a:lstStyle/>
                  <a:p>
                    <a:r>
                      <a:rPr lang="en-US" b="1" sz="800">
                        <a:solidFill>
                          <a:srgbClr val="2D3142"/>
                        </a:solidFill>
                      </a:rPr>
                      <a:t>11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23.411344822209696</c:v>
                </c:pt>
                <c:pt idx="1">
                  <c:v>23.235010677731267</c:v>
                </c:pt>
                <c:pt idx="2">
                  <c:v>28.37291499452057</c:v>
                </c:pt>
                <c:pt idx="3">
                  <c:v>12.067638019466752</c:v>
                </c:pt>
                <c:pt idx="4">
                  <c:v>10.732679616701688</c:v>
                </c:pt>
              </c:numCache>
            </c:numRef>
          </c:val>
        </c:ser>
        <c:ser>
          <c:idx val="1"/>
          <c:order val="1"/>
          <c:tx>
            <c:strRef>
              <c:f>Sheet1!$C$1</c:f>
              <c:strCache>
                <c:ptCount val="1"/>
                <c:pt idx="0">
                  <c:v>Not very important</c:v>
                </c:pt>
              </c:strCache>
            </c:strRef>
          </c:tx>
          <c:spPr>
            <a:solidFill>
              <a:srgbClr val="F4BF9A"/>
            </a:solidFill>
          </c:spPr>
          <c:dLbls>
            <c:dLbl>
              <c:idx val="0"/>
              <c:tx>
                <c:rich>
                  <a:bodyPr/>
                  <a:lstStyle/>
                  <a:p>
                    <a:r>
                      <a:rPr lang="en-US" b="1" sz="800">
                        <a:solidFill>
                          <a:srgbClr val="2D3142"/>
                        </a:solidFill>
                      </a:rPr>
                      <a:t>32 </a:t>
                    </a:r>
                    <a:r>
                      <a:rPr lang="en-US" b="1" sz="900">
                        <a:solidFill>
                          <a:srgbClr val="2D3142"/>
                        </a:solidFill>
                      </a:rPr>
                      <a:t>C</a:t>
                    </a:r>
                  </a:p>
                </c:rich>
              </c:tx>
              <c:showLegendKey val="0"/>
              <c:showVal val="0"/>
              <c:showCatName val="0"/>
              <c:showSerName val="0"/>
              <c:showPercent val="0"/>
              <c:showBubbleSize val="0"/>
            </c:dLbl>
            <c:dLbl>
              <c:idx val="1"/>
              <c:tx>
                <c:rich>
                  <a:bodyPr/>
                  <a:lstStyle/>
                  <a:p>
                    <a:r>
                      <a:rPr lang="en-US" b="1" sz="800">
                        <a:solidFill>
                          <a:srgbClr val="2D3142"/>
                        </a:solidFill>
                      </a:rPr>
                      <a:t>38 </a:t>
                    </a:r>
                    <a:r>
                      <a:rPr lang="en-US" b="1" sz="900">
                        <a:solidFill>
                          <a:srgbClr val="2D3142"/>
                        </a:solidFill>
                      </a:rPr>
                      <a:t>AC</a:t>
                    </a:r>
                  </a:p>
                </c:rich>
              </c:tx>
              <c:showLegendKey val="0"/>
              <c:showVal val="0"/>
              <c:showCatName val="0"/>
              <c:showSerName val="0"/>
              <c:showPercent val="0"/>
              <c:showBubbleSize val="0"/>
            </c:dLbl>
            <c:dLbl>
              <c:idx val="2"/>
              <c:tx>
                <c:rich>
                  <a:bodyPr/>
                  <a:lstStyle/>
                  <a:p>
                    <a:r>
                      <a:rPr lang="en-US" b="1" sz="800">
                        <a:solidFill>
                          <a:srgbClr val="2D3142"/>
                        </a:solidFill>
                      </a:rPr>
                      <a:t>25</a:t>
                    </a:r>
                  </a:p>
                </c:rich>
              </c:tx>
              <c:showLegendKey val="0"/>
              <c:showVal val="0"/>
              <c:showCatName val="0"/>
              <c:showSerName val="0"/>
              <c:showPercent val="0"/>
              <c:showBubbleSize val="0"/>
            </c:dLbl>
            <c:dLbl>
              <c:idx val="3"/>
              <c:tx>
                <c:rich>
                  <a:bodyPr/>
                  <a:lstStyle/>
                  <a:p>
                    <a:r>
                      <a:rPr lang="en-US" b="1" sz="800">
                        <a:solidFill>
                          <a:srgbClr val="2D3142"/>
                        </a:solidFill>
                      </a:rPr>
                      <a:t>39 </a:t>
                    </a:r>
                    <a:r>
                      <a:rPr lang="en-US" b="1" sz="900">
                        <a:solidFill>
                          <a:srgbClr val="2D3142"/>
                        </a:solidFill>
                      </a:rPr>
                      <a:t>ACE</a:t>
                    </a:r>
                  </a:p>
                </c:rich>
              </c:tx>
              <c:showLegendKey val="0"/>
              <c:showVal val="0"/>
              <c:showCatName val="0"/>
              <c:showSerName val="0"/>
              <c:showPercent val="0"/>
              <c:showBubbleSize val="0"/>
            </c:dLbl>
            <c:dLbl>
              <c:idx val="4"/>
              <c:tx>
                <c:rich>
                  <a:bodyPr/>
                  <a:lstStyle/>
                  <a:p>
                    <a:r>
                      <a:rPr lang="en-US" b="1" sz="800">
                        <a:solidFill>
                          <a:srgbClr val="2D3142"/>
                        </a:solidFill>
                      </a:rPr>
                      <a:t>35 </a:t>
                    </a:r>
                    <a:r>
                      <a:rPr lang="en-US" b="1" sz="900">
                        <a:solidFill>
                          <a:srgbClr val="2D3142"/>
                        </a:solidFill>
                      </a:rPr>
                      <a:t>Ca</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32.13771775503069</c:v>
                </c:pt>
                <c:pt idx="1">
                  <c:v>38.31432337034762</c:v>
                </c:pt>
                <c:pt idx="2">
                  <c:v>24.501680456558844</c:v>
                </c:pt>
                <c:pt idx="3">
                  <c:v>39.27436438461759</c:v>
                </c:pt>
                <c:pt idx="4">
                  <c:v>35.429877196322</c:v>
                </c:pt>
              </c:numCache>
            </c:numRef>
          </c:val>
        </c:ser>
        <c:ser>
          <c:idx val="2"/>
          <c:order val="2"/>
          <c:tx>
            <c:strRef>
              <c:f>Sheet1!$D$1</c:f>
              <c:strCache>
                <c:ptCount val="1"/>
                <c:pt idx="0">
                  <c:v>Somewhat important</c:v>
                </c:pt>
              </c:strCache>
            </c:strRef>
          </c:tx>
          <c:spPr>
            <a:solidFill>
              <a:srgbClr val="F0A060"/>
            </a:solidFill>
          </c:spPr>
          <c:dLbls>
            <c:dLbl>
              <c:idx val="0"/>
              <c:tx>
                <c:rich>
                  <a:bodyPr/>
                  <a:lstStyle/>
                  <a:p>
                    <a:r>
                      <a:rPr lang="en-US" b="1" sz="800">
                        <a:solidFill>
                          <a:srgbClr val="FFFFFF"/>
                        </a:solidFill>
                      </a:rPr>
                      <a:t>33 </a:t>
                    </a:r>
                    <a:r>
                      <a:rPr lang="en-US" b="1" sz="900">
                        <a:solidFill>
                          <a:srgbClr val="FFFFFF"/>
                        </a:solidFill>
                      </a:rPr>
                      <a:t>E</a:t>
                    </a:r>
                  </a:p>
                </c:rich>
              </c:tx>
              <c:showLegendKey val="0"/>
              <c:showVal val="0"/>
              <c:showCatName val="0"/>
              <c:showSerName val="0"/>
              <c:showPercent val="0"/>
              <c:showBubbleSize val="0"/>
            </c:dLbl>
            <c:dLbl>
              <c:idx val="1"/>
              <c:tx>
                <c:rich>
                  <a:bodyPr/>
                  <a:lstStyle/>
                  <a:p>
                    <a:r>
                      <a:rPr lang="en-US" b="1" sz="800">
                        <a:solidFill>
                          <a:srgbClr val="FFFFFF"/>
                        </a:solidFill>
                      </a:rPr>
                      <a:t>32 </a:t>
                    </a:r>
                    <a:r>
                      <a:rPr lang="en-US" b="1" sz="900">
                        <a:solidFill>
                          <a:srgbClr val="FFFFFF"/>
                        </a:solidFill>
                      </a:rPr>
                      <a:t>E</a:t>
                    </a:r>
                  </a:p>
                </c:rich>
              </c:tx>
              <c:showLegendKey val="0"/>
              <c:showVal val="0"/>
              <c:showCatName val="0"/>
              <c:showSerName val="0"/>
              <c:showPercent val="0"/>
              <c:showBubbleSize val="0"/>
            </c:dLbl>
            <c:dLbl>
              <c:idx val="2"/>
              <c:tx>
                <c:rich>
                  <a:bodyPr/>
                  <a:lstStyle/>
                  <a:p>
                    <a:r>
                      <a:rPr lang="en-US" b="1" sz="800">
                        <a:solidFill>
                          <a:srgbClr val="FFFFFF"/>
                        </a:solidFill>
                      </a:rPr>
                      <a:t>31 </a:t>
                    </a:r>
                    <a:r>
                      <a:rPr lang="en-US" b="1" sz="900">
                        <a:solidFill>
                          <a:srgbClr val="FFFFFF"/>
                        </a:solidFill>
                      </a:rPr>
                      <a:t>E</a:t>
                    </a:r>
                  </a:p>
                </c:rich>
              </c:tx>
              <c:showLegendKey val="0"/>
              <c:showVal val="0"/>
              <c:showCatName val="0"/>
              <c:showSerName val="0"/>
              <c:showPercent val="0"/>
              <c:showBubbleSize val="0"/>
            </c:dLbl>
            <c:dLbl>
              <c:idx val="3"/>
              <c:tx>
                <c:rich>
                  <a:bodyPr/>
                  <a:lstStyle/>
                  <a:p>
                    <a:r>
                      <a:rPr lang="en-US" b="1" sz="800">
                        <a:solidFill>
                          <a:srgbClr val="FFFFFF"/>
                        </a:solidFill>
                      </a:rPr>
                      <a:t>36 </a:t>
                    </a:r>
                    <a:r>
                      <a:rPr lang="en-US" b="1" sz="900">
                        <a:solidFill>
                          <a:srgbClr val="FFFFFF"/>
                        </a:solidFill>
                      </a:rPr>
                      <a:t>ABCE</a:t>
                    </a:r>
                  </a:p>
                </c:rich>
              </c:tx>
              <c:showLegendKey val="0"/>
              <c:showVal val="0"/>
              <c:showCatName val="0"/>
              <c:showSerName val="0"/>
              <c:showPercent val="0"/>
              <c:showBubbleSize val="0"/>
            </c:dLbl>
            <c:dLbl>
              <c:idx val="4"/>
              <c:tx>
                <c:rich>
                  <a:bodyPr/>
                  <a:lstStyle/>
                  <a:p>
                    <a:r>
                      <a:rPr lang="en-US" b="1" sz="800">
                        <a:solidFill>
                          <a:srgbClr val="FFFFFF"/>
                        </a:solidFill>
                      </a:rPr>
                      <a:t>27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32.53289028810789</c:v>
                </c:pt>
                <c:pt idx="1">
                  <c:v>31.97819913125039</c:v>
                </c:pt>
                <c:pt idx="2">
                  <c:v>31.15067640389157</c:v>
                </c:pt>
                <c:pt idx="3">
                  <c:v>36.45780859085628</c:v>
                </c:pt>
                <c:pt idx="4">
                  <c:v>26.600047832712566</c:v>
                </c:pt>
              </c:numCache>
            </c:numRef>
          </c:val>
        </c:ser>
        <c:ser>
          <c:idx val="3"/>
          <c:order val="3"/>
          <c:tx>
            <c:strRef>
              <c:f>Sheet1!$E$1</c:f>
              <c:strCache>
                <c:ptCount val="1"/>
                <c:pt idx="0">
                  <c:v>Very important</c:v>
                </c:pt>
              </c:strCache>
            </c:strRef>
          </c:tx>
          <c:spPr>
            <a:solidFill>
              <a:srgbClr val="F07B20"/>
            </a:solidFill>
          </c:spPr>
          <c:dLbls>
            <c:dLbl>
              <c:idx val="0"/>
              <c:tx>
                <c:rich>
                  <a:bodyPr/>
                  <a:lstStyle/>
                  <a:p>
                    <a:r>
                      <a:rPr lang="en-US" b="1" sz="800">
                        <a:solidFill>
                          <a:srgbClr val="FFFFFF"/>
                        </a:solidFill>
                      </a:rPr>
                      <a:t>11 </a:t>
                    </a:r>
                    <a:r>
                      <a:rPr lang="en-US" b="1" sz="900">
                        <a:solidFill>
                          <a:srgbClr val="FFFFFF"/>
                        </a:solidFill>
                      </a:rPr>
                      <a:t>B</a:t>
                    </a:r>
                  </a:p>
                </c:rich>
              </c:tx>
              <c:showLegendKey val="0"/>
              <c:showVal val="0"/>
              <c:showCatName val="0"/>
              <c:showSerName val="0"/>
              <c:showPercent val="0"/>
              <c:showBubbleSize val="0"/>
            </c:dLbl>
            <c:dLbl>
              <c:idx val="1"/>
              <c:tx>
                <c:rich>
                  <a:bodyPr/>
                  <a:lstStyle/>
                  <a:p>
                    <a:r>
                      <a:rPr lang="en-US" b="1" sz="800">
                        <a:solidFill>
                          <a:srgbClr val="FFFFFF"/>
                        </a:solidFill>
                      </a:rPr>
                      <a:t>6</a:t>
                    </a:r>
                  </a:p>
                </c:rich>
              </c:tx>
              <c:showLegendKey val="0"/>
              <c:showVal val="0"/>
              <c:showCatName val="0"/>
              <c:showSerName val="0"/>
              <c:showPercent val="0"/>
              <c:showBubbleSize val="0"/>
            </c:dLbl>
            <c:dLbl>
              <c:idx val="2"/>
              <c:tx>
                <c:rich>
                  <a:bodyPr/>
                  <a:lstStyle/>
                  <a:p>
                    <a:r>
                      <a:rPr lang="en-US" b="1" sz="800">
                        <a:solidFill>
                          <a:srgbClr val="FFFFFF"/>
                        </a:solidFill>
                      </a:rPr>
                      <a:t>16 </a:t>
                    </a:r>
                    <a:r>
                      <a:rPr lang="en-US" b="1" sz="900">
                        <a:solidFill>
                          <a:srgbClr val="FFFFFF"/>
                        </a:solidFill>
                      </a:rPr>
                      <a:t>ABD</a:t>
                    </a:r>
                  </a:p>
                </c:rich>
              </c:tx>
              <c:showLegendKey val="0"/>
              <c:showVal val="0"/>
              <c:showCatName val="0"/>
              <c:showSerName val="0"/>
              <c:showPercent val="0"/>
              <c:showBubbleSize val="0"/>
            </c:dLbl>
            <c:dLbl>
              <c:idx val="3"/>
              <c:tx>
                <c:rich>
                  <a:bodyPr/>
                  <a:lstStyle/>
                  <a:p>
                    <a:r>
                      <a:rPr lang="en-US" b="1" sz="800">
                        <a:solidFill>
                          <a:srgbClr val="FFFFFF"/>
                        </a:solidFill>
                      </a:rPr>
                      <a:t>11 </a:t>
                    </a:r>
                    <a:r>
                      <a:rPr lang="en-US" b="1" sz="900">
                        <a:solidFill>
                          <a:srgbClr val="FFFFFF"/>
                        </a:solidFill>
                      </a:rPr>
                      <a:t>B</a:t>
                    </a:r>
                  </a:p>
                </c:rich>
              </c:tx>
              <c:showLegendKey val="0"/>
              <c:showVal val="0"/>
              <c:showCatName val="0"/>
              <c:showSerName val="0"/>
              <c:showPercent val="0"/>
              <c:showBubbleSize val="0"/>
            </c:dLbl>
            <c:dLbl>
              <c:idx val="4"/>
              <c:tx>
                <c:rich>
                  <a:bodyPr/>
                  <a:lstStyle/>
                  <a:p>
                    <a:r>
                      <a:rPr lang="en-US" b="1" sz="800">
                        <a:solidFill>
                          <a:srgbClr val="FFFFFF"/>
                        </a:solidFill>
                      </a:rPr>
                      <a:t>26 </a:t>
                    </a:r>
                    <a:r>
                      <a:rPr lang="en-US" b="1" sz="900">
                        <a:solidFill>
                          <a:srgbClr val="FFFFFF"/>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11.459946744289123</c:v>
                </c:pt>
                <c:pt idx="1">
                  <c:v>6.121363086969886</c:v>
                </c:pt>
                <c:pt idx="2">
                  <c:v>15.749186677875857</c:v>
                </c:pt>
                <c:pt idx="3">
                  <c:v>10.872293269115227</c:v>
                </c:pt>
                <c:pt idx="4">
                  <c:v>26.396816105511327</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54 </a:t>
                    </a:r>
                    <a:r>
                      <a:rPr lang="en-US" b="1" sz="900">
                        <a:solidFill>
                          <a:srgbClr val="2D3142"/>
                        </a:solidFill>
                      </a:rPr>
                      <a:t>BC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Sheet1!$B$2:$B$2</c:f>
              <c:numCache>
                <c:formatCode>0</c:formatCode>
                <c:ptCount val="1"/>
                <c:pt idx="0">
                  <c:v>53.8515091166379</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42</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Sheet1!$C$2:$C$2</c:f>
              <c:numCache>
                <c:formatCode>0</c:formatCode>
                <c:ptCount val="1"/>
                <c:pt idx="0">
                  <c:v>41.57232488659609</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43</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Sheet1!$D$2:$D$2</c:f>
              <c:numCache>
                <c:formatCode>0</c:formatCode>
                <c:ptCount val="1"/>
                <c:pt idx="0">
                  <c:v>42.863131214038546</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71 </a:t>
                    </a:r>
                    <a:r>
                      <a:rPr lang="en-US" b="1" sz="900">
                        <a:solidFill>
                          <a:srgbClr val="2D3142"/>
                        </a:solidFill>
                      </a:rPr>
                      <a:t>ABCE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Sheet1!$E$2:$E$2</c:f>
              <c:numCache>
                <c:formatCode>0</c:formatCode>
                <c:ptCount val="1"/>
                <c:pt idx="0">
                  <c:v>71.31887689712839</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54 </a:t>
                    </a:r>
                    <a:r>
                      <a:rPr lang="en-US" b="1" sz="900">
                        <a:solidFill>
                          <a:srgbClr val="2D3142"/>
                        </a:solidFill>
                      </a:rPr>
                      <a:t>BC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Sheet1!$F$2:$F$2</c:f>
              <c:numCache>
                <c:formatCode>0</c:formatCode>
                <c:ptCount val="1"/>
                <c:pt idx="0">
                  <c:v>53.95948636062254</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69 </a:t>
                    </a:r>
                    <a:r>
                      <a:rPr lang="en-US" b="1" sz="900">
                        <a:solidFill>
                          <a:srgbClr val="2D3142"/>
                        </a:solidFill>
                      </a:rPr>
                      <a:t>BCE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Sheet1!$B$2:$B$2</c:f>
              <c:numCache>
                <c:formatCode>0</c:formatCode>
                <c:ptCount val="1"/>
                <c:pt idx="0">
                  <c:v>69.4189592540054</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57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Sheet1!$C$2:$C$2</c:f>
              <c:numCache>
                <c:formatCode>0</c:formatCode>
                <c:ptCount val="1"/>
                <c:pt idx="0">
                  <c:v>57.30370581940956</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57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Sheet1!$D$2:$D$2</c:f>
              <c:numCache>
                <c:formatCode>0</c:formatCode>
                <c:ptCount val="1"/>
                <c:pt idx="0">
                  <c:v>56.50067902796173</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85 </a:t>
                    </a:r>
                    <a:r>
                      <a:rPr lang="en-US" b="1" sz="900">
                        <a:solidFill>
                          <a:srgbClr val="2D3142"/>
                        </a:solidFill>
                      </a:rPr>
                      <a:t>ABCE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Sheet1!$E$2:$E$2</c:f>
              <c:numCache>
                <c:formatCode>0</c:formatCode>
                <c:ptCount val="1"/>
                <c:pt idx="0">
                  <c:v>85.01140430638604</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51</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Sheet1!$F$2:$F$2</c:f>
              <c:numCache>
                <c:formatCode>0</c:formatCode>
                <c:ptCount val="1"/>
                <c:pt idx="0">
                  <c:v>50.9132571082233</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23 </a:t>
                    </a:r>
                    <a:r>
                      <a:rPr lang="en-US" b="1" sz="900">
                        <a:solidFill>
                          <a:srgbClr val="2D3142"/>
                        </a:solidFill>
                      </a:rPr>
                      <a:t>BD</a:t>
                    </a:r>
                  </a:p>
                </c:rich>
              </c:tx>
              <c:showLegendKey val="0"/>
              <c:showVal val="0"/>
              <c:showCatName val="0"/>
              <c:showSerName val="0"/>
              <c:showPercent val="0"/>
              <c:showBubbleSize val="0"/>
            </c:dLbl>
            <c:dLbl>
              <c:idx val="1"/>
              <c:tx>
                <c:rich>
                  <a:bodyPr/>
                  <a:lstStyle/>
                  <a:p>
                    <a:r>
                      <a:rPr lang="en-US" b="1" sz="900">
                        <a:solidFill>
                          <a:srgbClr val="2D3142"/>
                        </a:solidFill>
                      </a:rPr>
                      <a:t>70 </a:t>
                    </a:r>
                    <a:r>
                      <a:rPr lang="en-US" b="1" sz="900">
                        <a:solidFill>
                          <a:srgbClr val="2D3142"/>
                        </a:solidFill>
                      </a:rPr>
                      <a:t>BCE</a:t>
                    </a:r>
                  </a:p>
                </c:rich>
              </c:tx>
              <c:showLegendKey val="0"/>
              <c:showVal val="0"/>
              <c:showCatName val="0"/>
              <c:showSerName val="0"/>
              <c:showPercent val="0"/>
              <c:showBubbleSize val="0"/>
            </c:dLbl>
            <c:dLbl>
              <c:idx val="2"/>
              <c:tx>
                <c:rich>
                  <a:bodyPr/>
                  <a:lstStyle/>
                  <a:p>
                    <a:r>
                      <a:rPr lang="en-US" b="1" sz="900">
                        <a:solidFill>
                          <a:srgbClr val="2D3142"/>
                        </a:solidFill>
                      </a:rPr>
                      <a:t>6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There is only ONE true religion</c:v>
                </c:pt>
                <c:pt idx="1">
                  <c:v>Many religions can be true</c:v>
                </c:pt>
                <c:pt idx="2">
                  <c:v>Other/Neither/Depends on situation</c:v>
                </c:pt>
              </c:strCache>
            </c:strRef>
          </c:cat>
          <c:val>
            <c:numRef>
              <c:f>Sheet1!$B$2:$B$4</c:f>
              <c:numCache>
                <c:formatCode>0</c:formatCode>
                <c:ptCount val="3"/>
                <c:pt idx="0">
                  <c:v>22.84434350765923</c:v>
                </c:pt>
                <c:pt idx="1">
                  <c:v>70.18417532676399</c:v>
                </c:pt>
                <c:pt idx="2">
                  <c:v>5.841388573232581</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14 </a:t>
                    </a:r>
                    <a:r>
                      <a:rPr lang="en-US" b="1" sz="900">
                        <a:solidFill>
                          <a:srgbClr val="2D3142"/>
                        </a:solidFill>
                      </a:rPr>
                      <a:t>D</a:t>
                    </a:r>
                  </a:p>
                </c:rich>
              </c:tx>
              <c:showLegendKey val="0"/>
              <c:showVal val="0"/>
              <c:showCatName val="0"/>
              <c:showSerName val="0"/>
              <c:showPercent val="0"/>
              <c:showBubbleSize val="0"/>
            </c:dLbl>
            <c:dLbl>
              <c:idx val="1"/>
              <c:tx>
                <c:rich>
                  <a:bodyPr/>
                  <a:lstStyle/>
                  <a:p>
                    <a:r>
                      <a:rPr lang="en-US" b="1" sz="900">
                        <a:solidFill>
                          <a:srgbClr val="2D3142"/>
                        </a:solidFill>
                      </a:rPr>
                      <a:t>65 </a:t>
                    </a:r>
                    <a:r>
                      <a:rPr lang="en-US" b="1" sz="900">
                        <a:solidFill>
                          <a:srgbClr val="2D3142"/>
                        </a:solidFill>
                      </a:rPr>
                      <a:t>C</a:t>
                    </a:r>
                  </a:p>
                </c:rich>
              </c:tx>
              <c:showLegendKey val="0"/>
              <c:showVal val="0"/>
              <c:showCatName val="0"/>
              <c:showSerName val="0"/>
              <c:showPercent val="0"/>
              <c:showBubbleSize val="0"/>
            </c:dLbl>
            <c:dLbl>
              <c:idx val="2"/>
              <c:tx>
                <c:rich>
                  <a:bodyPr/>
                  <a:lstStyle/>
                  <a:p>
                    <a:r>
                      <a:rPr lang="en-US" b="1" sz="900">
                        <a:solidFill>
                          <a:srgbClr val="2D3142"/>
                        </a:solidFill>
                      </a:rPr>
                      <a:t>13 </a:t>
                    </a:r>
                    <a:r>
                      <a:rPr lang="en-US" b="1" sz="900">
                        <a:solidFill>
                          <a:srgbClr val="2D3142"/>
                        </a:solidFill>
                      </a:rPr>
                      <a:t>ADE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There is only ONE true religion</c:v>
                </c:pt>
                <c:pt idx="1">
                  <c:v>Many religions can be true</c:v>
                </c:pt>
                <c:pt idx="2">
                  <c:v>Other/Neither/Depends on situation</c:v>
                </c:pt>
              </c:strCache>
            </c:strRef>
          </c:cat>
          <c:val>
            <c:numRef>
              <c:f>Sheet1!$C$2:$C$4</c:f>
              <c:numCache>
                <c:formatCode>0</c:formatCode>
                <c:ptCount val="3"/>
                <c:pt idx="0">
                  <c:v>13.918037384295426</c:v>
                </c:pt>
                <c:pt idx="1">
                  <c:v>64.63830966774805</c:v>
                </c:pt>
                <c:pt idx="2">
                  <c:v>12.877932153449995</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27 </a:t>
                    </a:r>
                    <a:r>
                      <a:rPr lang="en-US" b="1" sz="900">
                        <a:solidFill>
                          <a:srgbClr val="2D3142"/>
                        </a:solidFill>
                      </a:rPr>
                      <a:t>ABD</a:t>
                    </a:r>
                  </a:p>
                </c:rich>
              </c:tx>
              <c:showLegendKey val="0"/>
              <c:showVal val="0"/>
              <c:showCatName val="0"/>
              <c:showSerName val="0"/>
              <c:showPercent val="0"/>
              <c:showBubbleSize val="0"/>
            </c:dLbl>
            <c:dLbl>
              <c:idx val="1"/>
              <c:tx>
                <c:rich>
                  <a:bodyPr/>
                  <a:lstStyle/>
                  <a:p>
                    <a:r>
                      <a:rPr lang="en-US" b="1" sz="900">
                        <a:solidFill>
                          <a:srgbClr val="2D3142"/>
                        </a:solidFill>
                      </a:rPr>
                      <a:t>49</a:t>
                    </a:r>
                  </a:p>
                </c:rich>
              </c:tx>
              <c:showLegendKey val="0"/>
              <c:showVal val="0"/>
              <c:showCatName val="0"/>
              <c:showSerName val="0"/>
              <c:showPercent val="0"/>
              <c:showBubbleSize val="0"/>
            </c:dLbl>
            <c:dLbl>
              <c:idx val="2"/>
              <c:tx>
                <c:rich>
                  <a:bodyPr/>
                  <a:lstStyle/>
                  <a:p>
                    <a:r>
                      <a:rPr lang="en-US" b="1" sz="900">
                        <a:solidFill>
                          <a:srgbClr val="2D3142"/>
                        </a:solidFill>
                      </a:rPr>
                      <a:t>19 </a:t>
                    </a:r>
                    <a:r>
                      <a:rPr lang="en-US" b="1" sz="900">
                        <a:solidFill>
                          <a:srgbClr val="2D3142"/>
                        </a:solidFill>
                      </a:rPr>
                      <a:t>ABDE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There is only ONE true religion</c:v>
                </c:pt>
                <c:pt idx="1">
                  <c:v>Many religions can be true</c:v>
                </c:pt>
                <c:pt idx="2">
                  <c:v>Other/Neither/Depends on situation</c:v>
                </c:pt>
              </c:strCache>
            </c:strRef>
          </c:cat>
          <c:val>
            <c:numRef>
              <c:f>Sheet1!$D$2:$D$4</c:f>
              <c:numCache>
                <c:formatCode>0</c:formatCode>
                <c:ptCount val="3"/>
                <c:pt idx="0">
                  <c:v>27.35111841715575</c:v>
                </c:pt>
                <c:pt idx="1">
                  <c:v>49.317219961723104</c:v>
                </c:pt>
                <c:pt idx="2">
                  <c:v>18.821377630907417</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8</a:t>
                    </a:r>
                  </a:p>
                </c:rich>
              </c:tx>
              <c:showLegendKey val="0"/>
              <c:showVal val="0"/>
              <c:showCatName val="0"/>
              <c:showSerName val="0"/>
              <c:showPercent val="0"/>
              <c:showBubbleSize val="0"/>
            </c:dLbl>
            <c:dLbl>
              <c:idx val="1"/>
              <c:tx>
                <c:rich>
                  <a:bodyPr/>
                  <a:lstStyle/>
                  <a:p>
                    <a:r>
                      <a:rPr lang="en-US" b="1" sz="900">
                        <a:solidFill>
                          <a:srgbClr val="2D3142"/>
                        </a:solidFill>
                      </a:rPr>
                      <a:t>80 </a:t>
                    </a:r>
                    <a:r>
                      <a:rPr lang="en-US" b="1" sz="900">
                        <a:solidFill>
                          <a:srgbClr val="2D3142"/>
                        </a:solidFill>
                      </a:rPr>
                      <a:t>ABCE</a:t>
                    </a:r>
                  </a:p>
                </c:rich>
              </c:tx>
              <c:showLegendKey val="0"/>
              <c:showVal val="0"/>
              <c:showCatName val="0"/>
              <c:showSerName val="0"/>
              <c:showPercent val="0"/>
              <c:showBubbleSize val="0"/>
            </c:dLbl>
            <c:dLbl>
              <c:idx val="2"/>
              <c:tx>
                <c:rich>
                  <a:bodyPr/>
                  <a:lstStyle/>
                  <a:p>
                    <a:r>
                      <a:rPr lang="en-US" b="1" sz="900">
                        <a:solidFill>
                          <a:srgbClr val="2D3142"/>
                        </a:solidFill>
                      </a:rPr>
                      <a:t>6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There is only ONE true religion</c:v>
                </c:pt>
                <c:pt idx="1">
                  <c:v>Many religions can be true</c:v>
                </c:pt>
                <c:pt idx="2">
                  <c:v>Other/Neither/Depends on situation</c:v>
                </c:pt>
              </c:strCache>
            </c:strRef>
          </c:cat>
          <c:val>
            <c:numRef>
              <c:f>Sheet1!$E$2:$E$4</c:f>
              <c:numCache>
                <c:formatCode>0</c:formatCode>
                <c:ptCount val="3"/>
                <c:pt idx="0">
                  <c:v>7.565544684479794</c:v>
                </c:pt>
                <c:pt idx="1">
                  <c:v>79.86116925914364</c:v>
                </c:pt>
                <c:pt idx="2">
                  <c:v>5.677736451326074</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27 </a:t>
                    </a:r>
                    <a:r>
                      <a:rPr lang="en-US" b="1" sz="900">
                        <a:solidFill>
                          <a:srgbClr val="2D3142"/>
                        </a:solidFill>
                      </a:rPr>
                      <a:t>ABD</a:t>
                    </a:r>
                  </a:p>
                </c:rich>
              </c:tx>
              <c:showLegendKey val="0"/>
              <c:showVal val="0"/>
              <c:showCatName val="0"/>
              <c:showSerName val="0"/>
              <c:showPercent val="0"/>
              <c:showBubbleSize val="0"/>
            </c:dLbl>
            <c:dLbl>
              <c:idx val="1"/>
              <c:tx>
                <c:rich>
                  <a:bodyPr/>
                  <a:lstStyle/>
                  <a:p>
                    <a:r>
                      <a:rPr lang="en-US" b="1" sz="900">
                        <a:solidFill>
                          <a:srgbClr val="2D3142"/>
                        </a:solidFill>
                      </a:rPr>
                      <a:t>64 </a:t>
                    </a:r>
                    <a:r>
                      <a:rPr lang="en-US" b="1" sz="900">
                        <a:solidFill>
                          <a:srgbClr val="2D3142"/>
                        </a:solidFill>
                      </a:rPr>
                      <a:t>C</a:t>
                    </a:r>
                  </a:p>
                </c:rich>
              </c:tx>
              <c:showLegendKey val="0"/>
              <c:showVal val="0"/>
              <c:showCatName val="0"/>
              <c:showSerName val="0"/>
              <c:showPercent val="0"/>
              <c:showBubbleSize val="0"/>
            </c:dLbl>
            <c:dLbl>
              <c:idx val="2"/>
              <c:tx>
                <c:rich>
                  <a:bodyPr/>
                  <a:lstStyle/>
                  <a:p>
                    <a:r>
                      <a:rPr lang="en-US" b="1" sz="900">
                        <a:solidFill>
                          <a:srgbClr val="2D3142"/>
                        </a:solidFill>
                      </a:rPr>
                      <a:t>2</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There is only ONE true religion</c:v>
                </c:pt>
                <c:pt idx="1">
                  <c:v>Many religions can be true</c:v>
                </c:pt>
                <c:pt idx="2">
                  <c:v>Other/Neither/Depends on situation</c:v>
                </c:pt>
              </c:strCache>
            </c:strRef>
          </c:cat>
          <c:val>
            <c:numRef>
              <c:f>Sheet1!$F$2:$F$4</c:f>
              <c:numCache>
                <c:formatCode>0</c:formatCode>
                <c:ptCount val="3"/>
                <c:pt idx="0">
                  <c:v>27.476134895651246</c:v>
                </c:pt>
                <c:pt idx="1">
                  <c:v>63.6835358077393</c:v>
                </c:pt>
                <c:pt idx="2">
                  <c:v>1.9546693911647262</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54 </a:t>
                    </a:r>
                    <a:r>
                      <a:rPr lang="en-US" b="1" sz="900">
                        <a:solidFill>
                          <a:srgbClr val="2D3142"/>
                        </a:solidFill>
                      </a:rPr>
                      <a:t>BC</a:t>
                    </a:r>
                  </a:p>
                </c:rich>
              </c:tx>
              <c:showLegendKey val="0"/>
              <c:showVal val="0"/>
              <c:showCatName val="0"/>
              <c:showSerName val="0"/>
              <c:showPercent val="0"/>
              <c:showBubbleSize val="0"/>
            </c:dLbl>
            <c:dLbl>
              <c:idx val="1"/>
              <c:tx>
                <c:rich>
                  <a:bodyPr/>
                  <a:lstStyle/>
                  <a:p>
                    <a:r>
                      <a:rPr lang="en-US" b="1" sz="900">
                        <a:solidFill>
                          <a:srgbClr val="2D3142"/>
                        </a:solidFill>
                      </a:rPr>
                      <a:t>76 </a:t>
                    </a:r>
                    <a:r>
                      <a:rPr lang="en-US" b="1" sz="900">
                        <a:solidFill>
                          <a:srgbClr val="2D3142"/>
                        </a:solidFill>
                      </a:rPr>
                      <a:t>BC</a:t>
                    </a:r>
                  </a:p>
                </c:rich>
              </c:tx>
              <c:showLegendKey val="0"/>
              <c:showVal val="0"/>
              <c:showCatName val="0"/>
              <c:showSerName val="0"/>
              <c:showPercent val="0"/>
              <c:showBubbleSize val="0"/>
            </c:dLbl>
            <c:dLbl>
              <c:idx val="2"/>
              <c:tx>
                <c:rich>
                  <a:bodyPr/>
                  <a:lstStyle/>
                  <a:p>
                    <a:r>
                      <a:rPr lang="en-US" b="1" sz="900">
                        <a:solidFill>
                          <a:srgbClr val="2D3142"/>
                        </a:solidFill>
                      </a:rPr>
                      <a:t>76 </a:t>
                    </a:r>
                    <a:r>
                      <a:rPr lang="en-US" b="1" sz="900">
                        <a:solidFill>
                          <a:srgbClr val="2D3142"/>
                        </a:solidFill>
                      </a:rPr>
                      <a:t>BC</a:t>
                    </a:r>
                  </a:p>
                </c:rich>
              </c:tx>
              <c:showLegendKey val="0"/>
              <c:showVal val="0"/>
              <c:showCatName val="0"/>
              <c:showSerName val="0"/>
              <c:showPercent val="0"/>
              <c:showBubbleSize val="0"/>
            </c:dLbl>
            <c:dLbl>
              <c:idx val="3"/>
              <c:tx>
                <c:rich>
                  <a:bodyPr/>
                  <a:lstStyle/>
                  <a:p>
                    <a:r>
                      <a:rPr lang="en-US" b="1" sz="900">
                        <a:solidFill>
                          <a:srgbClr val="2D3142"/>
                        </a:solidFill>
                      </a:rPr>
                      <a:t>48 </a:t>
                    </a:r>
                    <a:r>
                      <a:rPr lang="en-US" b="1" sz="900">
                        <a:solidFill>
                          <a:srgbClr val="2D3142"/>
                        </a:solidFill>
                      </a:rPr>
                      <a:t>BCDE</a:t>
                    </a:r>
                  </a:p>
                </c:rich>
              </c:tx>
              <c:showLegendKey val="0"/>
              <c:showVal val="0"/>
              <c:showCatName val="0"/>
              <c:showSerName val="0"/>
              <c:showPercent val="0"/>
              <c:showBubbleSize val="0"/>
            </c:dLbl>
            <c:dLbl>
              <c:idx val="4"/>
              <c:tx>
                <c:rich>
                  <a:bodyPr/>
                  <a:lstStyle/>
                  <a:p>
                    <a:r>
                      <a:rPr lang="en-US" b="1" sz="900">
                        <a:solidFill>
                          <a:srgbClr val="2D3142"/>
                        </a:solidFill>
                      </a:rPr>
                      <a:t>59 </a:t>
                    </a:r>
                    <a:r>
                      <a:rPr lang="en-US" b="1" sz="900">
                        <a:solidFill>
                          <a:srgbClr val="2D3142"/>
                        </a:solidFill>
                      </a:rPr>
                      <a:t>BCE</a:t>
                    </a:r>
                  </a:p>
                </c:rich>
              </c:tx>
              <c:showLegendKey val="0"/>
              <c:showVal val="0"/>
              <c:showCatName val="0"/>
              <c:showSerName val="0"/>
              <c:showPercent val="0"/>
              <c:showBubbleSize val="0"/>
            </c:dLbl>
            <c:dLbl>
              <c:idx val="5"/>
              <c:tx>
                <c:rich>
                  <a:bodyPr/>
                  <a:lstStyle/>
                  <a:p>
                    <a:r>
                      <a:rPr lang="en-US" b="1" sz="900">
                        <a:solidFill>
                          <a:srgbClr val="2D3142"/>
                        </a:solidFill>
                      </a:rPr>
                      <a:t>55 </a:t>
                    </a:r>
                    <a:r>
                      <a:rPr lang="en-US" b="1" sz="900">
                        <a:solidFill>
                          <a:srgbClr val="2D3142"/>
                        </a:solidFill>
                      </a:rPr>
                      <a:t>BCE</a:t>
                    </a:r>
                  </a:p>
                </c:rich>
              </c:tx>
              <c:showLegendKey val="0"/>
              <c:showVal val="0"/>
              <c:showCatName val="0"/>
              <c:showSerName val="0"/>
              <c:showPercent val="0"/>
              <c:showBubbleSize val="0"/>
            </c:dLbl>
            <c:dLbl>
              <c:idx val="6"/>
              <c:tx>
                <c:rich>
                  <a:bodyPr/>
                  <a:lstStyle/>
                  <a:p>
                    <a:r>
                      <a:rPr lang="en-US" b="1" sz="900">
                        <a:solidFill>
                          <a:srgbClr val="2D3142"/>
                        </a:solidFill>
                      </a:rPr>
                      <a:t>58 </a:t>
                    </a:r>
                    <a:r>
                      <a:rPr lang="en-US" b="1" sz="900">
                        <a:solidFill>
                          <a:srgbClr val="2D3142"/>
                        </a:solidFill>
                      </a:rPr>
                      <a:t>E</a:t>
                    </a:r>
                  </a:p>
                </c:rich>
              </c:tx>
              <c:showLegendKey val="0"/>
              <c:showVal val="0"/>
              <c:showCatName val="0"/>
              <c:showSerName val="0"/>
              <c:showPercent val="0"/>
              <c:showBubbleSize val="0"/>
            </c:dLbl>
            <c:dLbl>
              <c:idx val="7"/>
              <c:tx>
                <c:rich>
                  <a:bodyPr/>
                  <a:lstStyle/>
                  <a:p>
                    <a:r>
                      <a:rPr lang="en-US" b="1" sz="900">
                        <a:solidFill>
                          <a:srgbClr val="2D3142"/>
                        </a:solidFill>
                      </a:rPr>
                      <a:t>61 </a:t>
                    </a:r>
                    <a:r>
                      <a:rPr lang="en-US" b="1" sz="900">
                        <a:solidFill>
                          <a:srgbClr val="2D3142"/>
                        </a:solidFill>
                      </a:rPr>
                      <a:t>BCE</a:t>
                    </a:r>
                  </a:p>
                </c:rich>
              </c:tx>
              <c:showLegendKey val="0"/>
              <c:showVal val="0"/>
              <c:showCatName val="0"/>
              <c:showSerName val="0"/>
              <c:showPercent val="0"/>
              <c:showBubbleSize val="0"/>
            </c:dLbl>
            <c:dLbl>
              <c:idx val="8"/>
              <c:tx>
                <c:rich>
                  <a:bodyPr/>
                  <a:lstStyle/>
                  <a:p>
                    <a:r>
                      <a:rPr lang="en-US" b="1" sz="900">
                        <a:solidFill>
                          <a:srgbClr val="2D3142"/>
                        </a:solidFill>
                      </a:rPr>
                      <a:t>59 </a:t>
                    </a:r>
                    <a:r>
                      <a:rPr lang="en-US" b="1" sz="900">
                        <a:solidFill>
                          <a:srgbClr val="2D3142"/>
                        </a:solidFill>
                      </a:rPr>
                      <a:t>BCE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Sheet1!$A$2:$A$10</c:f>
              <c:strCache>
                <c:ptCount val="9"/>
                <c:pt idx="0">
                  <c:v>Rebirth</c:v>
                </c:pt>
                <c:pt idx="1">
                  <c:v>Fate</c:v>
                </c:pt>
                <c:pt idx="2">
                  <c:v>Karma</c:v>
                </c:pt>
                <c:pt idx="3">
                  <c:v>Nirvana</c:v>
                </c:pt>
                <c:pt idx="4">
                  <c:v>Angels or helpful deities</c:v>
                </c:pt>
                <c:pt idx="5">
                  <c:v>Demons or evil deities</c:v>
                </c:pt>
                <c:pt idx="6">
                  <c:v>Miracles</c:v>
                </c:pt>
                <c:pt idx="7">
                  <c:v>Heaven</c:v>
                </c:pt>
                <c:pt idx="8">
                  <c:v>Hell</c:v>
                </c:pt>
              </c:strCache>
            </c:strRef>
          </c:cat>
          <c:val>
            <c:numRef>
              <c:f>Sheet1!$B$2:$B$10</c:f>
              <c:numCache>
                <c:formatCode>0</c:formatCode>
                <c:ptCount val="9"/>
                <c:pt idx="0">
                  <c:v>54.09253500196981</c:v>
                </c:pt>
                <c:pt idx="1">
                  <c:v>75.53859076306264</c:v>
                </c:pt>
                <c:pt idx="2">
                  <c:v>75.5574526442837</c:v>
                </c:pt>
                <c:pt idx="3">
                  <c:v>47.63961218030443</c:v>
                </c:pt>
                <c:pt idx="4">
                  <c:v>58.530656423812445</c:v>
                </c:pt>
                <c:pt idx="5">
                  <c:v>55.463869316215465</c:v>
                </c:pt>
                <c:pt idx="6">
                  <c:v>58.49990364879272</c:v>
                </c:pt>
                <c:pt idx="7">
                  <c:v>60.6701402290455</c:v>
                </c:pt>
                <c:pt idx="8">
                  <c:v>58.53702945664805</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44 </a:t>
                    </a:r>
                    <a:r>
                      <a:rPr lang="en-US" b="1" sz="900">
                        <a:solidFill>
                          <a:srgbClr val="2D3142"/>
                        </a:solidFill>
                      </a:rPr>
                      <a:t>C</a:t>
                    </a:r>
                  </a:p>
                </c:rich>
              </c:tx>
              <c:showLegendKey val="0"/>
              <c:showVal val="0"/>
              <c:showCatName val="0"/>
              <c:showSerName val="0"/>
              <c:showPercent val="0"/>
              <c:showBubbleSize val="0"/>
            </c:dLbl>
            <c:dLbl>
              <c:idx val="1"/>
              <c:tx>
                <c:rich>
                  <a:bodyPr/>
                  <a:lstStyle/>
                  <a:p>
                    <a:r>
                      <a:rPr lang="en-US" b="1" sz="900">
                        <a:solidFill>
                          <a:srgbClr val="2D3142"/>
                        </a:solidFill>
                      </a:rPr>
                      <a:t>68 </a:t>
                    </a:r>
                    <a:r>
                      <a:rPr lang="en-US" b="1" sz="900">
                        <a:solidFill>
                          <a:srgbClr val="2D3142"/>
                        </a:solidFill>
                      </a:rPr>
                      <a:t>C</a:t>
                    </a:r>
                  </a:p>
                </c:rich>
              </c:tx>
              <c:showLegendKey val="0"/>
              <c:showVal val="0"/>
              <c:showCatName val="0"/>
              <c:showSerName val="0"/>
              <c:showPercent val="0"/>
              <c:showBubbleSize val="0"/>
            </c:dLbl>
            <c:dLbl>
              <c:idx val="2"/>
              <c:tx>
                <c:rich>
                  <a:bodyPr/>
                  <a:lstStyle/>
                  <a:p>
                    <a:r>
                      <a:rPr lang="en-US" b="1" sz="900">
                        <a:solidFill>
                          <a:srgbClr val="2D3142"/>
                        </a:solidFill>
                      </a:rPr>
                      <a:t>16</a:t>
                    </a:r>
                  </a:p>
                </c:rich>
              </c:tx>
              <c:showLegendKey val="0"/>
              <c:showVal val="0"/>
              <c:showCatName val="0"/>
              <c:showSerName val="0"/>
              <c:showPercent val="0"/>
              <c:showBubbleSize val="0"/>
            </c:dLbl>
            <c:dLbl>
              <c:idx val="3"/>
              <c:tx>
                <c:rich>
                  <a:bodyPr/>
                  <a:lstStyle/>
                  <a:p>
                    <a:r>
                      <a:rPr lang="en-US" b="1" sz="900">
                        <a:solidFill>
                          <a:srgbClr val="2D3142"/>
                        </a:solidFill>
                      </a:rPr>
                      <a:t>16</a:t>
                    </a:r>
                  </a:p>
                </c:rich>
              </c:tx>
              <c:showLegendKey val="0"/>
              <c:showVal val="0"/>
              <c:showCatName val="0"/>
              <c:showSerName val="0"/>
              <c:showPercent val="0"/>
              <c:showBubbleSize val="0"/>
            </c:dLbl>
            <c:dLbl>
              <c:idx val="4"/>
              <c:tx>
                <c:rich>
                  <a:bodyPr/>
                  <a:lstStyle/>
                  <a:p>
                    <a:r>
                      <a:rPr lang="en-US" b="1" sz="900">
                        <a:solidFill>
                          <a:srgbClr val="2D3142"/>
                        </a:solidFill>
                      </a:rPr>
                      <a:t>38</a:t>
                    </a:r>
                  </a:p>
                </c:rich>
              </c:tx>
              <c:showLegendKey val="0"/>
              <c:showVal val="0"/>
              <c:showCatName val="0"/>
              <c:showSerName val="0"/>
              <c:showPercent val="0"/>
              <c:showBubbleSize val="0"/>
            </c:dLbl>
            <c:dLbl>
              <c:idx val="5"/>
              <c:tx>
                <c:rich>
                  <a:bodyPr/>
                  <a:lstStyle/>
                  <a:p>
                    <a:r>
                      <a:rPr lang="en-US" b="1" sz="900">
                        <a:solidFill>
                          <a:srgbClr val="2D3142"/>
                        </a:solidFill>
                      </a:rPr>
                      <a:t>36</a:t>
                    </a:r>
                  </a:p>
                </c:rich>
              </c:tx>
              <c:showLegendKey val="0"/>
              <c:showVal val="0"/>
              <c:showCatName val="0"/>
              <c:showSerName val="0"/>
              <c:showPercent val="0"/>
              <c:showBubbleSize val="0"/>
            </c:dLbl>
            <c:dLbl>
              <c:idx val="6"/>
              <c:tx>
                <c:rich>
                  <a:bodyPr/>
                  <a:lstStyle/>
                  <a:p>
                    <a:r>
                      <a:rPr lang="en-US" b="1" sz="900">
                        <a:solidFill>
                          <a:srgbClr val="2D3142"/>
                        </a:solidFill>
                      </a:rPr>
                      <a:t>64 </a:t>
                    </a:r>
                    <a:r>
                      <a:rPr lang="en-US" b="1" sz="900">
                        <a:solidFill>
                          <a:srgbClr val="2D3142"/>
                        </a:solidFill>
                      </a:rPr>
                      <a:t>AE</a:t>
                    </a:r>
                  </a:p>
                </c:rich>
              </c:tx>
              <c:showLegendKey val="0"/>
              <c:showVal val="0"/>
              <c:showCatName val="0"/>
              <c:showSerName val="0"/>
              <c:showPercent val="0"/>
              <c:showBubbleSize val="0"/>
            </c:dLbl>
            <c:dLbl>
              <c:idx val="7"/>
              <c:tx>
                <c:rich>
                  <a:bodyPr/>
                  <a:lstStyle/>
                  <a:p>
                    <a:r>
                      <a:rPr lang="en-US" b="1" sz="900">
                        <a:solidFill>
                          <a:srgbClr val="2D3142"/>
                        </a:solidFill>
                      </a:rPr>
                      <a:t>42</a:t>
                    </a:r>
                  </a:p>
                </c:rich>
              </c:tx>
              <c:showLegendKey val="0"/>
              <c:showVal val="0"/>
              <c:showCatName val="0"/>
              <c:showSerName val="0"/>
              <c:showPercent val="0"/>
              <c:showBubbleSize val="0"/>
            </c:dLbl>
            <c:dLbl>
              <c:idx val="8"/>
              <c:tx>
                <c:rich>
                  <a:bodyPr/>
                  <a:lstStyle/>
                  <a:p>
                    <a:r>
                      <a:rPr lang="en-US" b="1" sz="900">
                        <a:solidFill>
                          <a:srgbClr val="2D3142"/>
                        </a:solidFill>
                      </a:rPr>
                      <a:t>32</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Sheet1!$A$2:$A$10</c:f>
              <c:strCache>
                <c:ptCount val="9"/>
                <c:pt idx="0">
                  <c:v>Rebirth</c:v>
                </c:pt>
                <c:pt idx="1">
                  <c:v>Fate</c:v>
                </c:pt>
                <c:pt idx="2">
                  <c:v>Karma</c:v>
                </c:pt>
                <c:pt idx="3">
                  <c:v>Nirvana</c:v>
                </c:pt>
                <c:pt idx="4">
                  <c:v>Angels or helpful deities</c:v>
                </c:pt>
                <c:pt idx="5">
                  <c:v>Demons or evil deities</c:v>
                </c:pt>
                <c:pt idx="6">
                  <c:v>Miracles</c:v>
                </c:pt>
                <c:pt idx="7">
                  <c:v>Heaven</c:v>
                </c:pt>
                <c:pt idx="8">
                  <c:v>Hell</c:v>
                </c:pt>
              </c:strCache>
            </c:strRef>
          </c:cat>
          <c:val>
            <c:numRef>
              <c:f>Sheet1!$C$2:$C$10</c:f>
              <c:numCache>
                <c:formatCode>0</c:formatCode>
                <c:ptCount val="9"/>
                <c:pt idx="0">
                  <c:v>44.28050431037189</c:v>
                </c:pt>
                <c:pt idx="1">
                  <c:v>67.67049995155573</c:v>
                </c:pt>
                <c:pt idx="2">
                  <c:v>16.0859864136775</c:v>
                </c:pt>
                <c:pt idx="3">
                  <c:v>16.441138734020953</c:v>
                </c:pt>
                <c:pt idx="4">
                  <c:v>37.84286310036376</c:v>
                </c:pt>
                <c:pt idx="5">
                  <c:v>35.602025776225155</c:v>
                </c:pt>
                <c:pt idx="6">
                  <c:v>64.08270150681675</c:v>
                </c:pt>
                <c:pt idx="7">
                  <c:v>41.58553464660556</c:v>
                </c:pt>
                <c:pt idx="8">
                  <c:v>31.84984148374414</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28</a:t>
                    </a:r>
                  </a:p>
                </c:rich>
              </c:tx>
              <c:showLegendKey val="0"/>
              <c:showVal val="0"/>
              <c:showCatName val="0"/>
              <c:showSerName val="0"/>
              <c:showPercent val="0"/>
              <c:showBubbleSize val="0"/>
            </c:dLbl>
            <c:dLbl>
              <c:idx val="1"/>
              <c:tx>
                <c:rich>
                  <a:bodyPr/>
                  <a:lstStyle/>
                  <a:p>
                    <a:r>
                      <a:rPr lang="en-US" b="1" sz="900">
                        <a:solidFill>
                          <a:srgbClr val="2D3142"/>
                        </a:solidFill>
                      </a:rPr>
                      <a:t>60</a:t>
                    </a:r>
                  </a:p>
                </c:rich>
              </c:tx>
              <c:showLegendKey val="0"/>
              <c:showVal val="0"/>
              <c:showCatName val="0"/>
              <c:showSerName val="0"/>
              <c:showPercent val="0"/>
              <c:showBubbleSize val="0"/>
            </c:dLbl>
            <c:dLbl>
              <c:idx val="2"/>
              <c:tx>
                <c:rich>
                  <a:bodyPr/>
                  <a:lstStyle/>
                  <a:p>
                    <a:r>
                      <a:rPr lang="en-US" b="1" sz="900">
                        <a:solidFill>
                          <a:srgbClr val="2D3142"/>
                        </a:solidFill>
                      </a:rPr>
                      <a:t>48 </a:t>
                    </a:r>
                    <a:r>
                      <a:rPr lang="en-US" b="1" sz="900">
                        <a:solidFill>
                          <a:srgbClr val="2D3142"/>
                        </a:solidFill>
                      </a:rPr>
                      <a:t>B</a:t>
                    </a:r>
                  </a:p>
                </c:rich>
              </c:tx>
              <c:showLegendKey val="0"/>
              <c:showVal val="0"/>
              <c:showCatName val="0"/>
              <c:showSerName val="0"/>
              <c:showPercent val="0"/>
              <c:showBubbleSize val="0"/>
            </c:dLbl>
            <c:dLbl>
              <c:idx val="3"/>
              <c:tx>
                <c:rich>
                  <a:bodyPr/>
                  <a:lstStyle/>
                  <a:p>
                    <a:r>
                      <a:rPr lang="en-US" b="1" sz="900">
                        <a:solidFill>
                          <a:srgbClr val="2D3142"/>
                        </a:solidFill>
                      </a:rPr>
                      <a:t>24 </a:t>
                    </a:r>
                    <a:r>
                      <a:rPr lang="en-US" b="1" sz="900">
                        <a:solidFill>
                          <a:srgbClr val="2D3142"/>
                        </a:solidFill>
                      </a:rPr>
                      <a:t>B</a:t>
                    </a:r>
                  </a:p>
                </c:rich>
              </c:tx>
              <c:showLegendKey val="0"/>
              <c:showVal val="0"/>
              <c:showCatName val="0"/>
              <c:showSerName val="0"/>
              <c:showPercent val="0"/>
              <c:showBubbleSize val="0"/>
            </c:dLbl>
            <c:dLbl>
              <c:idx val="4"/>
              <c:tx>
                <c:rich>
                  <a:bodyPr/>
                  <a:lstStyle/>
                  <a:p>
                    <a:r>
                      <a:rPr lang="en-US" b="1" sz="900">
                        <a:solidFill>
                          <a:srgbClr val="2D3142"/>
                        </a:solidFill>
                      </a:rPr>
                      <a:t>44 </a:t>
                    </a:r>
                    <a:r>
                      <a:rPr lang="en-US" b="1" sz="900">
                        <a:solidFill>
                          <a:srgbClr val="2D3142"/>
                        </a:solidFill>
                      </a:rPr>
                      <a:t>B</a:t>
                    </a:r>
                  </a:p>
                </c:rich>
              </c:tx>
              <c:showLegendKey val="0"/>
              <c:showVal val="0"/>
              <c:showCatName val="0"/>
              <c:showSerName val="0"/>
              <c:showPercent val="0"/>
              <c:showBubbleSize val="0"/>
            </c:dLbl>
            <c:dLbl>
              <c:idx val="5"/>
              <c:tx>
                <c:rich>
                  <a:bodyPr/>
                  <a:lstStyle/>
                  <a:p>
                    <a:r>
                      <a:rPr lang="en-US" b="1" sz="900">
                        <a:solidFill>
                          <a:srgbClr val="2D3142"/>
                        </a:solidFill>
                      </a:rPr>
                      <a:t>39</a:t>
                    </a:r>
                  </a:p>
                </c:rich>
              </c:tx>
              <c:showLegendKey val="0"/>
              <c:showVal val="0"/>
              <c:showCatName val="0"/>
              <c:showSerName val="0"/>
              <c:showPercent val="0"/>
              <c:showBubbleSize val="0"/>
            </c:dLbl>
            <c:dLbl>
              <c:idx val="6"/>
              <c:tx>
                <c:rich>
                  <a:bodyPr/>
                  <a:lstStyle/>
                  <a:p>
                    <a:r>
                      <a:rPr lang="en-US" b="1" sz="900">
                        <a:solidFill>
                          <a:srgbClr val="2D3142"/>
                        </a:solidFill>
                      </a:rPr>
                      <a:t>65 </a:t>
                    </a:r>
                    <a:r>
                      <a:rPr lang="en-US" b="1" sz="900">
                        <a:solidFill>
                          <a:srgbClr val="2D3142"/>
                        </a:solidFill>
                      </a:rPr>
                      <a:t>AE</a:t>
                    </a:r>
                  </a:p>
                </c:rich>
              </c:tx>
              <c:showLegendKey val="0"/>
              <c:showVal val="0"/>
              <c:showCatName val="0"/>
              <c:showSerName val="0"/>
              <c:showPercent val="0"/>
              <c:showBubbleSize val="0"/>
            </c:dLbl>
            <c:dLbl>
              <c:idx val="7"/>
              <c:tx>
                <c:rich>
                  <a:bodyPr/>
                  <a:lstStyle/>
                  <a:p>
                    <a:r>
                      <a:rPr lang="en-US" b="1" sz="900">
                        <a:solidFill>
                          <a:srgbClr val="2D3142"/>
                        </a:solidFill>
                      </a:rPr>
                      <a:t>43</a:t>
                    </a:r>
                  </a:p>
                </c:rich>
              </c:tx>
              <c:showLegendKey val="0"/>
              <c:showVal val="0"/>
              <c:showCatName val="0"/>
              <c:showSerName val="0"/>
              <c:showPercent val="0"/>
              <c:showBubbleSize val="0"/>
            </c:dLbl>
            <c:dLbl>
              <c:idx val="8"/>
              <c:tx>
                <c:rich>
                  <a:bodyPr/>
                  <a:lstStyle/>
                  <a:p>
                    <a:r>
                      <a:rPr lang="en-US" b="1" sz="900">
                        <a:solidFill>
                          <a:srgbClr val="2D3142"/>
                        </a:solidFill>
                      </a:rPr>
                      <a:t>41 </a:t>
                    </a:r>
                    <a:r>
                      <a:rPr lang="en-US" b="1" sz="900">
                        <a:solidFill>
                          <a:srgbClr val="2D3142"/>
                        </a:solidFill>
                      </a:rPr>
                      <a:t>B</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Sheet1!$A$2:$A$10</c:f>
              <c:strCache>
                <c:ptCount val="9"/>
                <c:pt idx="0">
                  <c:v>Rebirth</c:v>
                </c:pt>
                <c:pt idx="1">
                  <c:v>Fate</c:v>
                </c:pt>
                <c:pt idx="2">
                  <c:v>Karma</c:v>
                </c:pt>
                <c:pt idx="3">
                  <c:v>Nirvana</c:v>
                </c:pt>
                <c:pt idx="4">
                  <c:v>Angels or helpful deities</c:v>
                </c:pt>
                <c:pt idx="5">
                  <c:v>Demons or evil deities</c:v>
                </c:pt>
                <c:pt idx="6">
                  <c:v>Miracles</c:v>
                </c:pt>
                <c:pt idx="7">
                  <c:v>Heaven</c:v>
                </c:pt>
                <c:pt idx="8">
                  <c:v>Hell</c:v>
                </c:pt>
              </c:strCache>
            </c:strRef>
          </c:cat>
          <c:val>
            <c:numRef>
              <c:f>Sheet1!$D$2:$D$10</c:f>
              <c:numCache>
                <c:formatCode>0</c:formatCode>
                <c:ptCount val="9"/>
                <c:pt idx="0">
                  <c:v>27.631852185111477</c:v>
                </c:pt>
                <c:pt idx="1">
                  <c:v>59.55239607906881</c:v>
                </c:pt>
                <c:pt idx="2">
                  <c:v>48.28142553789501</c:v>
                </c:pt>
                <c:pt idx="3">
                  <c:v>23.719835416320727</c:v>
                </c:pt>
                <c:pt idx="4">
                  <c:v>43.65054487809102</c:v>
                </c:pt>
                <c:pt idx="5">
                  <c:v>38.57024524810772</c:v>
                </c:pt>
                <c:pt idx="6">
                  <c:v>64.66691795929017</c:v>
                </c:pt>
                <c:pt idx="7">
                  <c:v>43.10886477216883</c:v>
                </c:pt>
                <c:pt idx="8">
                  <c:v>40.94390873014495</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71 </a:t>
                    </a:r>
                    <a:r>
                      <a:rPr lang="en-US" b="1" sz="900">
                        <a:solidFill>
                          <a:srgbClr val="2D3142"/>
                        </a:solidFill>
                      </a:rPr>
                      <a:t>ABCE</a:t>
                    </a:r>
                  </a:p>
                </c:rich>
              </c:tx>
              <c:showLegendKey val="0"/>
              <c:showVal val="0"/>
              <c:showCatName val="0"/>
              <c:showSerName val="0"/>
              <c:showPercent val="0"/>
              <c:showBubbleSize val="0"/>
            </c:dLbl>
            <c:dLbl>
              <c:idx val="1"/>
              <c:tx>
                <c:rich>
                  <a:bodyPr/>
                  <a:lstStyle/>
                  <a:p>
                    <a:r>
                      <a:rPr lang="en-US" b="1" sz="900">
                        <a:solidFill>
                          <a:srgbClr val="2D3142"/>
                        </a:solidFill>
                      </a:rPr>
                      <a:t>83 </a:t>
                    </a:r>
                    <a:r>
                      <a:rPr lang="en-US" b="1" sz="900">
                        <a:solidFill>
                          <a:srgbClr val="2D3142"/>
                        </a:solidFill>
                      </a:rPr>
                      <a:t>ABCE</a:t>
                    </a:r>
                  </a:p>
                </c:rich>
              </c:tx>
              <c:showLegendKey val="0"/>
              <c:showVal val="0"/>
              <c:showCatName val="0"/>
              <c:showSerName val="0"/>
              <c:showPercent val="0"/>
              <c:showBubbleSize val="0"/>
            </c:dLbl>
            <c:dLbl>
              <c:idx val="2"/>
              <c:tx>
                <c:rich>
                  <a:bodyPr/>
                  <a:lstStyle/>
                  <a:p>
                    <a:r>
                      <a:rPr lang="en-US" b="1" sz="900">
                        <a:solidFill>
                          <a:srgbClr val="2D3142"/>
                        </a:solidFill>
                      </a:rPr>
                      <a:t>87 </a:t>
                    </a:r>
                    <a:r>
                      <a:rPr lang="en-US" b="1" sz="900">
                        <a:solidFill>
                          <a:srgbClr val="2D3142"/>
                        </a:solidFill>
                      </a:rPr>
                      <a:t>ABCE</a:t>
                    </a:r>
                  </a:p>
                </c:rich>
              </c:tx>
              <c:showLegendKey val="0"/>
              <c:showVal val="0"/>
              <c:showCatName val="0"/>
              <c:showSerName val="0"/>
              <c:showPercent val="0"/>
              <c:showBubbleSize val="0"/>
            </c:dLbl>
            <c:dLbl>
              <c:idx val="3"/>
              <c:tx>
                <c:rich>
                  <a:bodyPr/>
                  <a:lstStyle/>
                  <a:p>
                    <a:r>
                      <a:rPr lang="en-US" b="1" sz="900">
                        <a:solidFill>
                          <a:srgbClr val="2D3142"/>
                        </a:solidFill>
                      </a:rPr>
                      <a:t>41 </a:t>
                    </a:r>
                    <a:r>
                      <a:rPr lang="en-US" b="1" sz="900">
                        <a:solidFill>
                          <a:srgbClr val="2D3142"/>
                        </a:solidFill>
                      </a:rPr>
                      <a:t>BCE</a:t>
                    </a:r>
                  </a:p>
                </c:rich>
              </c:tx>
              <c:showLegendKey val="0"/>
              <c:showVal val="0"/>
              <c:showCatName val="0"/>
              <c:showSerName val="0"/>
              <c:showPercent val="0"/>
              <c:showBubbleSize val="0"/>
            </c:dLbl>
            <c:dLbl>
              <c:idx val="4"/>
              <c:tx>
                <c:rich>
                  <a:bodyPr/>
                  <a:lstStyle/>
                  <a:p>
                    <a:r>
                      <a:rPr lang="en-US" b="1" sz="900">
                        <a:solidFill>
                          <a:srgbClr val="2D3142"/>
                        </a:solidFill>
                      </a:rPr>
                      <a:t>74 </a:t>
                    </a:r>
                    <a:r>
                      <a:rPr lang="en-US" b="1" sz="900">
                        <a:solidFill>
                          <a:srgbClr val="2D3142"/>
                        </a:solidFill>
                      </a:rPr>
                      <a:t>ABCE</a:t>
                    </a:r>
                  </a:p>
                </c:rich>
              </c:tx>
              <c:showLegendKey val="0"/>
              <c:showVal val="0"/>
              <c:showCatName val="0"/>
              <c:showSerName val="0"/>
              <c:showPercent val="0"/>
              <c:showBubbleSize val="0"/>
            </c:dLbl>
            <c:dLbl>
              <c:idx val="5"/>
              <c:tx>
                <c:rich>
                  <a:bodyPr/>
                  <a:lstStyle/>
                  <a:p>
                    <a:r>
                      <a:rPr lang="en-US" b="1" sz="900">
                        <a:solidFill>
                          <a:srgbClr val="2D3142"/>
                        </a:solidFill>
                      </a:rPr>
                      <a:t>66 </a:t>
                    </a:r>
                    <a:r>
                      <a:rPr lang="en-US" b="1" sz="900">
                        <a:solidFill>
                          <a:srgbClr val="2D3142"/>
                        </a:solidFill>
                      </a:rPr>
                      <a:t>ABCE</a:t>
                    </a:r>
                  </a:p>
                </c:rich>
              </c:tx>
              <c:showLegendKey val="0"/>
              <c:showVal val="0"/>
              <c:showCatName val="0"/>
              <c:showSerName val="0"/>
              <c:showPercent val="0"/>
              <c:showBubbleSize val="0"/>
            </c:dLbl>
            <c:dLbl>
              <c:idx val="6"/>
              <c:tx>
                <c:rich>
                  <a:bodyPr/>
                  <a:lstStyle/>
                  <a:p>
                    <a:r>
                      <a:rPr lang="en-US" b="1" sz="900">
                        <a:solidFill>
                          <a:srgbClr val="2D3142"/>
                        </a:solidFill>
                      </a:rPr>
                      <a:t>83 </a:t>
                    </a:r>
                    <a:r>
                      <a:rPr lang="en-US" b="1" sz="900">
                        <a:solidFill>
                          <a:srgbClr val="2D3142"/>
                        </a:solidFill>
                      </a:rPr>
                      <a:t>ABCE</a:t>
                    </a:r>
                  </a:p>
                </c:rich>
              </c:tx>
              <c:showLegendKey val="0"/>
              <c:showVal val="0"/>
              <c:showCatName val="0"/>
              <c:showSerName val="0"/>
              <c:showPercent val="0"/>
              <c:showBubbleSize val="0"/>
            </c:dLbl>
            <c:dLbl>
              <c:idx val="7"/>
              <c:tx>
                <c:rich>
                  <a:bodyPr/>
                  <a:lstStyle/>
                  <a:p>
                    <a:r>
                      <a:rPr lang="en-US" b="1" sz="900">
                        <a:solidFill>
                          <a:srgbClr val="2D3142"/>
                        </a:solidFill>
                      </a:rPr>
                      <a:t>71 </a:t>
                    </a:r>
                    <a:r>
                      <a:rPr lang="en-US" b="1" sz="900">
                        <a:solidFill>
                          <a:srgbClr val="2D3142"/>
                        </a:solidFill>
                      </a:rPr>
                      <a:t>ABCE</a:t>
                    </a:r>
                  </a:p>
                </c:rich>
              </c:tx>
              <c:showLegendKey val="0"/>
              <c:showVal val="0"/>
              <c:showCatName val="0"/>
              <c:showSerName val="0"/>
              <c:showPercent val="0"/>
              <c:showBubbleSize val="0"/>
            </c:dLbl>
            <c:dLbl>
              <c:idx val="8"/>
              <c:tx>
                <c:rich>
                  <a:bodyPr/>
                  <a:lstStyle/>
                  <a:p>
                    <a:r>
                      <a:rPr lang="en-US" b="1" sz="900">
                        <a:solidFill>
                          <a:srgbClr val="2D3142"/>
                        </a:solidFill>
                      </a:rPr>
                      <a:t>70 </a:t>
                    </a:r>
                    <a:r>
                      <a:rPr lang="en-US" b="1" sz="900">
                        <a:solidFill>
                          <a:srgbClr val="2D3142"/>
                        </a:solidFill>
                      </a:rPr>
                      <a:t>ABCE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Sheet1!$A$2:$A$10</c:f>
              <c:strCache>
                <c:ptCount val="9"/>
                <c:pt idx="0">
                  <c:v>Rebirth</c:v>
                </c:pt>
                <c:pt idx="1">
                  <c:v>Fate</c:v>
                </c:pt>
                <c:pt idx="2">
                  <c:v>Karma</c:v>
                </c:pt>
                <c:pt idx="3">
                  <c:v>Nirvana</c:v>
                </c:pt>
                <c:pt idx="4">
                  <c:v>Angels or helpful deities</c:v>
                </c:pt>
                <c:pt idx="5">
                  <c:v>Demons or evil deities</c:v>
                </c:pt>
                <c:pt idx="6">
                  <c:v>Miracles</c:v>
                </c:pt>
                <c:pt idx="7">
                  <c:v>Heaven</c:v>
                </c:pt>
                <c:pt idx="8">
                  <c:v>Hell</c:v>
                </c:pt>
              </c:strCache>
            </c:strRef>
          </c:cat>
          <c:val>
            <c:numRef>
              <c:f>Sheet1!$E$2:$E$10</c:f>
              <c:numCache>
                <c:formatCode>0</c:formatCode>
                <c:ptCount val="9"/>
                <c:pt idx="0">
                  <c:v>71.02450888047915</c:v>
                </c:pt>
                <c:pt idx="1">
                  <c:v>83.43143817244676</c:v>
                </c:pt>
                <c:pt idx="2">
                  <c:v>87.08020593676818</c:v>
                </c:pt>
                <c:pt idx="3">
                  <c:v>41.38363943582946</c:v>
                </c:pt>
                <c:pt idx="4">
                  <c:v>73.96471162720438</c:v>
                </c:pt>
                <c:pt idx="5">
                  <c:v>66.33876440886355</c:v>
                </c:pt>
                <c:pt idx="6">
                  <c:v>82.6397756806329</c:v>
                </c:pt>
                <c:pt idx="7">
                  <c:v>70.54166693372645</c:v>
                </c:pt>
                <c:pt idx="8">
                  <c:v>69.96999360812356</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56 </a:t>
                    </a:r>
                    <a:r>
                      <a:rPr lang="en-US" b="1" sz="900">
                        <a:solidFill>
                          <a:srgbClr val="2D3142"/>
                        </a:solidFill>
                      </a:rPr>
                      <a:t>BC</a:t>
                    </a:r>
                  </a:p>
                </c:rich>
              </c:tx>
              <c:showLegendKey val="0"/>
              <c:showVal val="0"/>
              <c:showCatName val="0"/>
              <c:showSerName val="0"/>
              <c:showPercent val="0"/>
              <c:showBubbleSize val="0"/>
            </c:dLbl>
            <c:dLbl>
              <c:idx val="1"/>
              <c:tx>
                <c:rich>
                  <a:bodyPr/>
                  <a:lstStyle/>
                  <a:p>
                    <a:r>
                      <a:rPr lang="en-US" b="1" sz="900">
                        <a:solidFill>
                          <a:srgbClr val="2D3142"/>
                        </a:solidFill>
                      </a:rPr>
                      <a:t>75 </a:t>
                    </a:r>
                    <a:r>
                      <a:rPr lang="en-US" b="1" sz="900">
                        <a:solidFill>
                          <a:srgbClr val="2D3142"/>
                        </a:solidFill>
                      </a:rPr>
                      <a:t>BC</a:t>
                    </a:r>
                  </a:p>
                </c:rich>
              </c:tx>
              <c:showLegendKey val="0"/>
              <c:showVal val="0"/>
              <c:showCatName val="0"/>
              <c:showSerName val="0"/>
              <c:showPercent val="0"/>
              <c:showBubbleSize val="0"/>
            </c:dLbl>
            <c:dLbl>
              <c:idx val="2"/>
              <c:tx>
                <c:rich>
                  <a:bodyPr/>
                  <a:lstStyle/>
                  <a:p>
                    <a:r>
                      <a:rPr lang="en-US" b="1" sz="900">
                        <a:solidFill>
                          <a:srgbClr val="2D3142"/>
                        </a:solidFill>
                      </a:rPr>
                      <a:t>75 </a:t>
                    </a:r>
                    <a:r>
                      <a:rPr lang="en-US" b="1" sz="900">
                        <a:solidFill>
                          <a:srgbClr val="2D3142"/>
                        </a:solidFill>
                      </a:rPr>
                      <a:t>BC</a:t>
                    </a:r>
                  </a:p>
                </c:rich>
              </c:tx>
              <c:showLegendKey val="0"/>
              <c:showVal val="0"/>
              <c:showCatName val="0"/>
              <c:showSerName val="0"/>
              <c:showPercent val="0"/>
              <c:showBubbleSize val="0"/>
            </c:dLbl>
            <c:dLbl>
              <c:idx val="3"/>
              <c:tx>
                <c:rich>
                  <a:bodyPr/>
                  <a:lstStyle/>
                  <a:p>
                    <a:r>
                      <a:rPr lang="en-US" b="1" sz="900">
                        <a:solidFill>
                          <a:srgbClr val="2D3142"/>
                        </a:solidFill>
                      </a:rPr>
                      <a:t>31 </a:t>
                    </a:r>
                    <a:r>
                      <a:rPr lang="en-US" b="1" sz="900">
                        <a:solidFill>
                          <a:srgbClr val="2D3142"/>
                        </a:solidFill>
                      </a:rPr>
                      <a:t>BC</a:t>
                    </a:r>
                  </a:p>
                </c:rich>
              </c:tx>
              <c:showLegendKey val="0"/>
              <c:showVal val="0"/>
              <c:showCatName val="0"/>
              <c:showSerName val="0"/>
              <c:showPercent val="0"/>
              <c:showBubbleSize val="0"/>
            </c:dLbl>
            <c:dLbl>
              <c:idx val="4"/>
              <c:tx>
                <c:rich>
                  <a:bodyPr/>
                  <a:lstStyle/>
                  <a:p>
                    <a:r>
                      <a:rPr lang="en-US" b="1" sz="900">
                        <a:solidFill>
                          <a:srgbClr val="2D3142"/>
                        </a:solidFill>
                      </a:rPr>
                      <a:t>49 </a:t>
                    </a:r>
                    <a:r>
                      <a:rPr lang="en-US" b="1" sz="900">
                        <a:solidFill>
                          <a:srgbClr val="2D3142"/>
                        </a:solidFill>
                      </a:rPr>
                      <a:t>BC</a:t>
                    </a:r>
                  </a:p>
                </c:rich>
              </c:tx>
              <c:showLegendKey val="0"/>
              <c:showVal val="0"/>
              <c:showCatName val="0"/>
              <c:showSerName val="0"/>
              <c:showPercent val="0"/>
              <c:showBubbleSize val="0"/>
            </c:dLbl>
            <c:dLbl>
              <c:idx val="5"/>
              <c:tx>
                <c:rich>
                  <a:bodyPr/>
                  <a:lstStyle/>
                  <a:p>
                    <a:r>
                      <a:rPr lang="en-US" b="1" sz="900">
                        <a:solidFill>
                          <a:srgbClr val="2D3142"/>
                        </a:solidFill>
                      </a:rPr>
                      <a:t>40 </a:t>
                    </a:r>
                    <a:r>
                      <a:rPr lang="en-US" b="1" sz="900">
                        <a:solidFill>
                          <a:srgbClr val="2D3142"/>
                        </a:solidFill>
                      </a:rPr>
                      <a:t>B</a:t>
                    </a:r>
                  </a:p>
                </c:rich>
              </c:tx>
              <c:showLegendKey val="0"/>
              <c:showVal val="0"/>
              <c:showCatName val="0"/>
              <c:showSerName val="0"/>
              <c:showPercent val="0"/>
              <c:showBubbleSize val="0"/>
            </c:dLbl>
            <c:dLbl>
              <c:idx val="6"/>
              <c:tx>
                <c:rich>
                  <a:bodyPr/>
                  <a:lstStyle/>
                  <a:p>
                    <a:r>
                      <a:rPr lang="en-US" b="1" sz="900">
                        <a:solidFill>
                          <a:srgbClr val="2D3142"/>
                        </a:solidFill>
                      </a:rPr>
                      <a:t>52</a:t>
                    </a:r>
                  </a:p>
                </c:rich>
              </c:tx>
              <c:showLegendKey val="0"/>
              <c:showVal val="0"/>
              <c:showCatName val="0"/>
              <c:showSerName val="0"/>
              <c:showPercent val="0"/>
              <c:showBubbleSize val="0"/>
            </c:dLbl>
            <c:dLbl>
              <c:idx val="7"/>
              <c:tx>
                <c:rich>
                  <a:bodyPr/>
                  <a:lstStyle/>
                  <a:p>
                    <a:r>
                      <a:rPr lang="en-US" b="1" sz="900">
                        <a:solidFill>
                          <a:srgbClr val="2D3142"/>
                        </a:solidFill>
                      </a:rPr>
                      <a:t>48 </a:t>
                    </a:r>
                    <a:r>
                      <a:rPr lang="en-US" b="1" sz="900">
                        <a:solidFill>
                          <a:srgbClr val="2D3142"/>
                        </a:solidFill>
                      </a:rPr>
                      <a:t>BC</a:t>
                    </a:r>
                  </a:p>
                </c:rich>
              </c:tx>
              <c:showLegendKey val="0"/>
              <c:showVal val="0"/>
              <c:showCatName val="0"/>
              <c:showSerName val="0"/>
              <c:showPercent val="0"/>
              <c:showBubbleSize val="0"/>
            </c:dLbl>
            <c:dLbl>
              <c:idx val="8"/>
              <c:tx>
                <c:rich>
                  <a:bodyPr/>
                  <a:lstStyle/>
                  <a:p>
                    <a:r>
                      <a:rPr lang="en-US" b="1" sz="900">
                        <a:solidFill>
                          <a:srgbClr val="2D3142"/>
                        </a:solidFill>
                      </a:rPr>
                      <a:t>55 </a:t>
                    </a:r>
                    <a:r>
                      <a:rPr lang="en-US" b="1" sz="900">
                        <a:solidFill>
                          <a:srgbClr val="2D3142"/>
                        </a:solidFill>
                      </a:rPr>
                      <a:t>BC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Sheet1!$A$2:$A$10</c:f>
              <c:strCache>
                <c:ptCount val="9"/>
                <c:pt idx="0">
                  <c:v>Rebirth</c:v>
                </c:pt>
                <c:pt idx="1">
                  <c:v>Fate</c:v>
                </c:pt>
                <c:pt idx="2">
                  <c:v>Karma</c:v>
                </c:pt>
                <c:pt idx="3">
                  <c:v>Nirvana</c:v>
                </c:pt>
                <c:pt idx="4">
                  <c:v>Angels or helpful deities</c:v>
                </c:pt>
                <c:pt idx="5">
                  <c:v>Demons or evil deities</c:v>
                </c:pt>
                <c:pt idx="6">
                  <c:v>Miracles</c:v>
                </c:pt>
                <c:pt idx="7">
                  <c:v>Heaven</c:v>
                </c:pt>
                <c:pt idx="8">
                  <c:v>Hell</c:v>
                </c:pt>
              </c:strCache>
            </c:strRef>
          </c:cat>
          <c:val>
            <c:numRef>
              <c:f>Sheet1!$F$2:$F$10</c:f>
              <c:numCache>
                <c:formatCode>0</c:formatCode>
                <c:ptCount val="9"/>
                <c:pt idx="0">
                  <c:v>55.57360223222051</c:v>
                </c:pt>
                <c:pt idx="1">
                  <c:v>75.19495333307145</c:v>
                </c:pt>
                <c:pt idx="2">
                  <c:v>75.19862584549331</c:v>
                </c:pt>
                <c:pt idx="3">
                  <c:v>31.38013430170793</c:v>
                </c:pt>
                <c:pt idx="4">
                  <c:v>49.281058174130195</c:v>
                </c:pt>
                <c:pt idx="5">
                  <c:v>40.485275290284605</c:v>
                </c:pt>
                <c:pt idx="6">
                  <c:v>52.0769949186998</c:v>
                </c:pt>
                <c:pt idx="7">
                  <c:v>47.58625594463182</c:v>
                </c:pt>
                <c:pt idx="8">
                  <c:v>54.57936810547361</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13</a:t>
                    </a:r>
                  </a:p>
                </c:rich>
              </c:tx>
              <c:showLegendKey val="0"/>
              <c:showVal val="0"/>
              <c:showCatName val="0"/>
              <c:showSerName val="0"/>
              <c:showPercent val="0"/>
              <c:showBubbleSize val="0"/>
            </c:dLbl>
            <c:dLbl>
              <c:idx val="1"/>
              <c:tx>
                <c:rich>
                  <a:bodyPr/>
                  <a:lstStyle/>
                  <a:p>
                    <a:r>
                      <a:rPr lang="en-US" b="1" sz="900">
                        <a:solidFill>
                          <a:srgbClr val="2D3142"/>
                        </a:solidFill>
                      </a:rPr>
                      <a:t>8</a:t>
                    </a:r>
                  </a:p>
                </c:rich>
              </c:tx>
              <c:showLegendKey val="0"/>
              <c:showVal val="0"/>
              <c:showCatName val="0"/>
              <c:showSerName val="0"/>
              <c:showPercent val="0"/>
              <c:showBubbleSize val="0"/>
            </c:dLbl>
            <c:dLbl>
              <c:idx val="2"/>
              <c:tx>
                <c:rich>
                  <a:bodyPr/>
                  <a:lstStyle/>
                  <a:p>
                    <a:r>
                      <a:rPr lang="en-US" b="1" sz="900">
                        <a:solidFill>
                          <a:srgbClr val="2D3142"/>
                        </a:solidFill>
                      </a:rPr>
                      <a:t>7</a:t>
                    </a:r>
                  </a:p>
                </c:rich>
              </c:tx>
              <c:showLegendKey val="0"/>
              <c:showVal val="0"/>
              <c:showCatName val="0"/>
              <c:showSerName val="0"/>
              <c:showPercent val="0"/>
              <c:showBubbleSize val="0"/>
            </c:dLbl>
            <c:dLbl>
              <c:idx val="3"/>
              <c:tx>
                <c:rich>
                  <a:bodyPr/>
                  <a:lstStyle/>
                  <a:p>
                    <a:r>
                      <a:rPr lang="en-US" b="1" sz="900">
                        <a:solidFill>
                          <a:srgbClr val="2D3142"/>
                        </a:solidFill>
                      </a:rPr>
                      <a:t>25 </a:t>
                    </a:r>
                    <a:r>
                      <a:rPr lang="en-US" b="1" sz="900">
                        <a:solidFill>
                          <a:srgbClr val="2D3142"/>
                        </a:solidFill>
                      </a:rPr>
                      <a:t>BCE</a:t>
                    </a:r>
                  </a:p>
                </c:rich>
              </c:tx>
              <c:showLegendKey val="0"/>
              <c:showVal val="0"/>
              <c:showCatName val="0"/>
              <c:showSerName val="0"/>
              <c:showPercent val="0"/>
              <c:showBubbleSize val="0"/>
            </c:dLbl>
            <c:dLbl>
              <c:idx val="4"/>
              <c:tx>
                <c:rich>
                  <a:bodyPr/>
                  <a:lstStyle/>
                  <a:p>
                    <a:r>
                      <a:rPr lang="en-US" b="1" sz="900">
                        <a:solidFill>
                          <a:srgbClr val="2D3142"/>
                        </a:solidFill>
                      </a:rPr>
                      <a:t>47 </a:t>
                    </a:r>
                    <a:r>
                      <a:rPr lang="en-US" b="1" sz="900">
                        <a:solidFill>
                          <a:srgbClr val="2D3142"/>
                        </a:solidFill>
                      </a:rPr>
                      <a:t>BCDE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Sheet1!$A$2:$A$6</c:f>
              <c:strCache>
                <c:ptCount val="5"/>
                <c:pt idx="0">
                  <c:v>Everyday</c:v>
                </c:pt>
                <c:pt idx="1">
                  <c:v>Everyweek</c:v>
                </c:pt>
                <c:pt idx="2">
                  <c:v>A few times a month</c:v>
                </c:pt>
                <c:pt idx="3">
                  <c:v>Less often than that</c:v>
                </c:pt>
                <c:pt idx="4">
                  <c:v>Never</c:v>
                </c:pt>
              </c:strCache>
            </c:strRef>
          </c:cat>
          <c:val>
            <c:numRef>
              <c:f>Sheet1!$B$2:$B$6</c:f>
              <c:numCache>
                <c:formatCode>0</c:formatCode>
                <c:ptCount val="5"/>
                <c:pt idx="0">
                  <c:v>13.1</c:v>
                </c:pt>
                <c:pt idx="1">
                  <c:v>7.5</c:v>
                </c:pt>
                <c:pt idx="2">
                  <c:v>6.937226491543992</c:v>
                </c:pt>
                <c:pt idx="3">
                  <c:v>24.66376291772529</c:v>
                </c:pt>
                <c:pt idx="4">
                  <c:v>47.417427303085645</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20 </a:t>
                    </a:r>
                    <a:r>
                      <a:rPr lang="en-US" b="1" sz="900">
                        <a:solidFill>
                          <a:srgbClr val="2D3142"/>
                        </a:solidFill>
                      </a:rPr>
                      <a:t>AD</a:t>
                    </a:r>
                  </a:p>
                </c:rich>
              </c:tx>
              <c:showLegendKey val="0"/>
              <c:showVal val="0"/>
              <c:showCatName val="0"/>
              <c:showSerName val="0"/>
              <c:showPercent val="0"/>
              <c:showBubbleSize val="0"/>
            </c:dLbl>
            <c:dLbl>
              <c:idx val="1"/>
              <c:tx>
                <c:rich>
                  <a:bodyPr/>
                  <a:lstStyle/>
                  <a:p>
                    <a:r>
                      <a:rPr lang="en-US" b="1" sz="900">
                        <a:solidFill>
                          <a:srgbClr val="2D3142"/>
                        </a:solidFill>
                      </a:rPr>
                      <a:t>6</a:t>
                    </a:r>
                  </a:p>
                </c:rich>
              </c:tx>
              <c:showLegendKey val="0"/>
              <c:showVal val="0"/>
              <c:showCatName val="0"/>
              <c:showSerName val="0"/>
              <c:showPercent val="0"/>
              <c:showBubbleSize val="0"/>
            </c:dLbl>
            <c:dLbl>
              <c:idx val="2"/>
              <c:tx>
                <c:rich>
                  <a:bodyPr/>
                  <a:lstStyle/>
                  <a:p>
                    <a:r>
                      <a:rPr lang="en-US" b="1" sz="900">
                        <a:solidFill>
                          <a:srgbClr val="2D3142"/>
                        </a:solidFill>
                      </a:rPr>
                      <a:t>12 </a:t>
                    </a:r>
                    <a:r>
                      <a:rPr lang="en-US" b="1" sz="900">
                        <a:solidFill>
                          <a:srgbClr val="2D3142"/>
                        </a:solidFill>
                      </a:rPr>
                      <a:t>AC</a:t>
                    </a:r>
                  </a:p>
                </c:rich>
              </c:tx>
              <c:showLegendKey val="0"/>
              <c:showVal val="0"/>
              <c:showCatName val="0"/>
              <c:showSerName val="0"/>
              <c:showPercent val="0"/>
              <c:showBubbleSize val="0"/>
            </c:dLbl>
            <c:dLbl>
              <c:idx val="3"/>
              <c:tx>
                <c:rich>
                  <a:bodyPr/>
                  <a:lstStyle/>
                  <a:p>
                    <a:r>
                      <a:rPr lang="en-US" b="1" sz="900">
                        <a:solidFill>
                          <a:srgbClr val="2D3142"/>
                        </a:solidFill>
                      </a:rPr>
                      <a:t>18 </a:t>
                    </a:r>
                    <a:r>
                      <a:rPr lang="en-US" b="1" sz="900">
                        <a:solidFill>
                          <a:srgbClr val="2D3142"/>
                        </a:solidFill>
                      </a:rPr>
                      <a:t>c</a:t>
                    </a:r>
                  </a:p>
                </c:rich>
              </c:tx>
              <c:showLegendKey val="0"/>
              <c:showVal val="0"/>
              <c:showCatName val="0"/>
              <c:showSerName val="0"/>
              <c:showPercent val="0"/>
              <c:showBubbleSize val="0"/>
            </c:dLbl>
            <c:dLbl>
              <c:idx val="4"/>
              <c:tx>
                <c:rich>
                  <a:bodyPr/>
                  <a:lstStyle/>
                  <a:p>
                    <a:r>
                      <a:rPr lang="en-US" b="1" sz="900">
                        <a:solidFill>
                          <a:srgbClr val="2D3142"/>
                        </a:solidFill>
                      </a:rPr>
                      <a:t>42 </a:t>
                    </a:r>
                    <a:r>
                      <a:rPr lang="en-US" b="1" sz="900">
                        <a:solidFill>
                          <a:srgbClr val="2D3142"/>
                        </a:solidFill>
                      </a:rPr>
                      <a:t>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Sheet1!$A$2:$A$6</c:f>
              <c:strCache>
                <c:ptCount val="5"/>
                <c:pt idx="0">
                  <c:v>Everyday</c:v>
                </c:pt>
                <c:pt idx="1">
                  <c:v>Everyweek</c:v>
                </c:pt>
                <c:pt idx="2">
                  <c:v>A few times a month</c:v>
                </c:pt>
                <c:pt idx="3">
                  <c:v>Less often than that</c:v>
                </c:pt>
                <c:pt idx="4">
                  <c:v>Never</c:v>
                </c:pt>
              </c:strCache>
            </c:strRef>
          </c:cat>
          <c:val>
            <c:numRef>
              <c:f>Sheet1!$C$2:$C$6</c:f>
              <c:numCache>
                <c:formatCode>0</c:formatCode>
                <c:ptCount val="5"/>
                <c:pt idx="0">
                  <c:v>19.5</c:v>
                </c:pt>
                <c:pt idx="1">
                  <c:v>6.5</c:v>
                </c:pt>
                <c:pt idx="2">
                  <c:v>12.425047354908253</c:v>
                </c:pt>
                <c:pt idx="3">
                  <c:v>18.360868478349275</c:v>
                </c:pt>
                <c:pt idx="4">
                  <c:v>42.41600706607237</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21 </a:t>
                    </a:r>
                    <a:r>
                      <a:rPr lang="en-US" b="1" sz="900">
                        <a:solidFill>
                          <a:srgbClr val="2D3142"/>
                        </a:solidFill>
                      </a:rPr>
                      <a:t>AD</a:t>
                    </a:r>
                  </a:p>
                </c:rich>
              </c:tx>
              <c:showLegendKey val="0"/>
              <c:showVal val="0"/>
              <c:showCatName val="0"/>
              <c:showSerName val="0"/>
              <c:showPercent val="0"/>
              <c:showBubbleSize val="0"/>
            </c:dLbl>
            <c:dLbl>
              <c:idx val="1"/>
              <c:tx>
                <c:rich>
                  <a:bodyPr/>
                  <a:lstStyle/>
                  <a:p>
                    <a:r>
                      <a:rPr lang="en-US" b="1" sz="900">
                        <a:solidFill>
                          <a:srgbClr val="2D3142"/>
                        </a:solidFill>
                      </a:rPr>
                      <a:t>12 </a:t>
                    </a:r>
                    <a:r>
                      <a:rPr lang="en-US" b="1" sz="900">
                        <a:solidFill>
                          <a:srgbClr val="2D3142"/>
                        </a:solidFill>
                      </a:rPr>
                      <a:t>ABD</a:t>
                    </a:r>
                  </a:p>
                </c:rich>
              </c:tx>
              <c:showLegendKey val="0"/>
              <c:showVal val="0"/>
              <c:showCatName val="0"/>
              <c:showSerName val="0"/>
              <c:showPercent val="0"/>
              <c:showBubbleSize val="0"/>
            </c:dLbl>
            <c:dLbl>
              <c:idx val="2"/>
              <c:tx>
                <c:rich>
                  <a:bodyPr/>
                  <a:lstStyle/>
                  <a:p>
                    <a:r>
                      <a:rPr lang="en-US" b="1" sz="900">
                        <a:solidFill>
                          <a:srgbClr val="2D3142"/>
                        </a:solidFill>
                      </a:rPr>
                      <a:t>8</a:t>
                    </a:r>
                  </a:p>
                </c:rich>
              </c:tx>
              <c:showLegendKey val="0"/>
              <c:showVal val="0"/>
              <c:showCatName val="0"/>
              <c:showSerName val="0"/>
              <c:showPercent val="0"/>
              <c:showBubbleSize val="0"/>
            </c:dLbl>
            <c:dLbl>
              <c:idx val="3"/>
              <c:tx>
                <c:rich>
                  <a:bodyPr/>
                  <a:lstStyle/>
                  <a:p>
                    <a:r>
                      <a:rPr lang="en-US" b="1" sz="900">
                        <a:solidFill>
                          <a:srgbClr val="2D3142"/>
                        </a:solidFill>
                      </a:rPr>
                      <a:t>16</a:t>
                    </a:r>
                  </a:p>
                </c:rich>
              </c:tx>
              <c:showLegendKey val="0"/>
              <c:showVal val="0"/>
              <c:showCatName val="0"/>
              <c:showSerName val="0"/>
              <c:showPercent val="0"/>
              <c:showBubbleSize val="0"/>
            </c:dLbl>
            <c:dLbl>
              <c:idx val="4"/>
              <c:tx>
                <c:rich>
                  <a:bodyPr/>
                  <a:lstStyle/>
                  <a:p>
                    <a:r>
                      <a:rPr lang="en-US" b="1" sz="900">
                        <a:solidFill>
                          <a:srgbClr val="2D3142"/>
                        </a:solidFill>
                      </a:rPr>
                      <a:t>43 </a:t>
                    </a:r>
                    <a:r>
                      <a:rPr lang="en-US" b="1" sz="900">
                        <a:solidFill>
                          <a:srgbClr val="2D3142"/>
                        </a:solidFill>
                      </a:rPr>
                      <a:t>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Sheet1!$A$2:$A$6</c:f>
              <c:strCache>
                <c:ptCount val="5"/>
                <c:pt idx="0">
                  <c:v>Everyday</c:v>
                </c:pt>
                <c:pt idx="1">
                  <c:v>Everyweek</c:v>
                </c:pt>
                <c:pt idx="2">
                  <c:v>A few times a month</c:v>
                </c:pt>
                <c:pt idx="3">
                  <c:v>Less often than that</c:v>
                </c:pt>
                <c:pt idx="4">
                  <c:v>Never</c:v>
                </c:pt>
              </c:strCache>
            </c:strRef>
          </c:cat>
          <c:val>
            <c:numRef>
              <c:f>Sheet1!$D$2:$D$6</c:f>
              <c:numCache>
                <c:formatCode>0</c:formatCode>
                <c:ptCount val="5"/>
                <c:pt idx="0">
                  <c:v>20.9</c:v>
                </c:pt>
                <c:pt idx="1">
                  <c:v>12.3</c:v>
                </c:pt>
                <c:pt idx="2">
                  <c:v>8.061659821774404</c:v>
                </c:pt>
                <c:pt idx="3">
                  <c:v>15.636751765941293</c:v>
                </c:pt>
                <c:pt idx="4">
                  <c:v>43.107652004775666</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16 </a:t>
                    </a:r>
                    <a:r>
                      <a:rPr lang="en-US" b="1" sz="900">
                        <a:solidFill>
                          <a:srgbClr val="2D3142"/>
                        </a:solidFill>
                      </a:rPr>
                      <a:t>A</a:t>
                    </a:r>
                  </a:p>
                </c:rich>
              </c:tx>
              <c:showLegendKey val="0"/>
              <c:showVal val="0"/>
              <c:showCatName val="0"/>
              <c:showSerName val="0"/>
              <c:showPercent val="0"/>
              <c:showBubbleSize val="0"/>
            </c:dLbl>
            <c:dLbl>
              <c:idx val="1"/>
              <c:tx>
                <c:rich>
                  <a:bodyPr/>
                  <a:lstStyle/>
                  <a:p>
                    <a:r>
                      <a:rPr lang="en-US" b="1" sz="900">
                        <a:solidFill>
                          <a:srgbClr val="2D3142"/>
                        </a:solidFill>
                      </a:rPr>
                      <a:t>8 </a:t>
                    </a:r>
                    <a:r>
                      <a:rPr lang="en-US" b="1" sz="900">
                        <a:solidFill>
                          <a:srgbClr val="2D3142"/>
                        </a:solidFill>
                      </a:rPr>
                      <a:t>b</a:t>
                    </a:r>
                  </a:p>
                </c:rich>
              </c:tx>
              <c:showLegendKey val="0"/>
              <c:showVal val="0"/>
              <c:showCatName val="0"/>
              <c:showSerName val="0"/>
              <c:showPercent val="0"/>
              <c:showBubbleSize val="0"/>
            </c:dLbl>
            <c:dLbl>
              <c:idx val="2"/>
              <c:tx>
                <c:rich>
                  <a:bodyPr/>
                  <a:lstStyle/>
                  <a:p>
                    <a:r>
                      <a:rPr lang="en-US" b="1" sz="900">
                        <a:solidFill>
                          <a:srgbClr val="2D3142"/>
                        </a:solidFill>
                      </a:rPr>
                      <a:t>20 </a:t>
                    </a:r>
                    <a:r>
                      <a:rPr lang="en-US" b="1" sz="900">
                        <a:solidFill>
                          <a:srgbClr val="2D3142"/>
                        </a:solidFill>
                      </a:rPr>
                      <a:t>ABC</a:t>
                    </a:r>
                  </a:p>
                </c:rich>
              </c:tx>
              <c:showLegendKey val="0"/>
              <c:showVal val="0"/>
              <c:showCatName val="0"/>
              <c:showSerName val="0"/>
              <c:showPercent val="0"/>
              <c:showBubbleSize val="0"/>
            </c:dLbl>
            <c:dLbl>
              <c:idx val="3"/>
              <c:tx>
                <c:rich>
                  <a:bodyPr/>
                  <a:lstStyle/>
                  <a:p>
                    <a:r>
                      <a:rPr lang="en-US" b="1" sz="900">
                        <a:solidFill>
                          <a:srgbClr val="2D3142"/>
                        </a:solidFill>
                      </a:rPr>
                      <a:t>40 </a:t>
                    </a:r>
                    <a:r>
                      <a:rPr lang="en-US" b="1" sz="900">
                        <a:solidFill>
                          <a:srgbClr val="2D3142"/>
                        </a:solidFill>
                      </a:rPr>
                      <a:t>ABCE</a:t>
                    </a:r>
                  </a:p>
                </c:rich>
              </c:tx>
              <c:showLegendKey val="0"/>
              <c:showVal val="0"/>
              <c:showCatName val="0"/>
              <c:showSerName val="0"/>
              <c:showPercent val="0"/>
              <c:showBubbleSize val="0"/>
            </c:dLbl>
            <c:dLbl>
              <c:idx val="4"/>
              <c:tx>
                <c:rich>
                  <a:bodyPr/>
                  <a:lstStyle/>
                  <a:p>
                    <a:r>
                      <a:rPr lang="en-US" b="1" sz="900">
                        <a:solidFill>
                          <a:srgbClr val="2D3142"/>
                        </a:solidFill>
                      </a:rPr>
                      <a:t>12</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Sheet1!$A$2:$A$6</c:f>
              <c:strCache>
                <c:ptCount val="5"/>
                <c:pt idx="0">
                  <c:v>Everyday</c:v>
                </c:pt>
                <c:pt idx="1">
                  <c:v>Everyweek</c:v>
                </c:pt>
                <c:pt idx="2">
                  <c:v>A few times a month</c:v>
                </c:pt>
                <c:pt idx="3">
                  <c:v>Less often than that</c:v>
                </c:pt>
                <c:pt idx="4">
                  <c:v>Never</c:v>
                </c:pt>
              </c:strCache>
            </c:strRef>
          </c:cat>
          <c:val>
            <c:numRef>
              <c:f>Sheet1!$E$2:$E$6</c:f>
              <c:numCache>
                <c:formatCode>0</c:formatCode>
                <c:ptCount val="5"/>
                <c:pt idx="0">
                  <c:v>15.9</c:v>
                </c:pt>
                <c:pt idx="1">
                  <c:v>8.4</c:v>
                </c:pt>
                <c:pt idx="2">
                  <c:v>20.29116579408916</c:v>
                </c:pt>
                <c:pt idx="3">
                  <c:v>40.09198573604275</c:v>
                </c:pt>
                <c:pt idx="4">
                  <c:v>11.57790904953931</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20 </a:t>
                    </a:r>
                    <a:r>
                      <a:rPr lang="en-US" b="1" sz="900">
                        <a:solidFill>
                          <a:srgbClr val="2D3142"/>
                        </a:solidFill>
                      </a:rPr>
                      <a:t>AD</a:t>
                    </a:r>
                  </a:p>
                </c:rich>
              </c:tx>
              <c:showLegendKey val="0"/>
              <c:showVal val="0"/>
              <c:showCatName val="0"/>
              <c:showSerName val="0"/>
              <c:showPercent val="0"/>
              <c:showBubbleSize val="0"/>
            </c:dLbl>
            <c:dLbl>
              <c:idx val="1"/>
              <c:tx>
                <c:rich>
                  <a:bodyPr/>
                  <a:lstStyle/>
                  <a:p>
                    <a:r>
                      <a:rPr lang="en-US" b="1" sz="900">
                        <a:solidFill>
                          <a:srgbClr val="2D3142"/>
                        </a:solidFill>
                      </a:rPr>
                      <a:t>11 </a:t>
                    </a:r>
                    <a:r>
                      <a:rPr lang="en-US" b="1" sz="900">
                        <a:solidFill>
                          <a:srgbClr val="2D3142"/>
                        </a:solidFill>
                      </a:rPr>
                      <a:t>ABD</a:t>
                    </a:r>
                  </a:p>
                </c:rich>
              </c:tx>
              <c:showLegendKey val="0"/>
              <c:showVal val="0"/>
              <c:showCatName val="0"/>
              <c:showSerName val="0"/>
              <c:showPercent val="0"/>
              <c:showBubbleSize val="0"/>
            </c:dLbl>
            <c:dLbl>
              <c:idx val="2"/>
              <c:tx>
                <c:rich>
                  <a:bodyPr/>
                  <a:lstStyle/>
                  <a:p>
                    <a:r>
                      <a:rPr lang="en-US" b="1" sz="900">
                        <a:solidFill>
                          <a:srgbClr val="2D3142"/>
                        </a:solidFill>
                      </a:rPr>
                      <a:t>24 </a:t>
                    </a:r>
                    <a:r>
                      <a:rPr lang="en-US" b="1" sz="900">
                        <a:solidFill>
                          <a:srgbClr val="2D3142"/>
                        </a:solidFill>
                      </a:rPr>
                      <a:t>ABCD</a:t>
                    </a:r>
                  </a:p>
                </c:rich>
              </c:tx>
              <c:showLegendKey val="0"/>
              <c:showVal val="0"/>
              <c:showCatName val="0"/>
              <c:showSerName val="0"/>
              <c:showPercent val="0"/>
              <c:showBubbleSize val="0"/>
            </c:dLbl>
            <c:dLbl>
              <c:idx val="3"/>
              <c:tx>
                <c:rich>
                  <a:bodyPr/>
                  <a:lstStyle/>
                  <a:p>
                    <a:r>
                      <a:rPr lang="en-US" b="1" sz="900">
                        <a:solidFill>
                          <a:srgbClr val="2D3142"/>
                        </a:solidFill>
                      </a:rPr>
                      <a:t>16</a:t>
                    </a:r>
                  </a:p>
                </c:rich>
              </c:tx>
              <c:showLegendKey val="0"/>
              <c:showVal val="0"/>
              <c:showCatName val="0"/>
              <c:showSerName val="0"/>
              <c:showPercent val="0"/>
              <c:showBubbleSize val="0"/>
            </c:dLbl>
            <c:dLbl>
              <c:idx val="4"/>
              <c:tx>
                <c:rich>
                  <a:bodyPr/>
                  <a:lstStyle/>
                  <a:p>
                    <a:r>
                      <a:rPr lang="en-US" b="1" sz="900">
                        <a:solidFill>
                          <a:srgbClr val="2D3142"/>
                        </a:solidFill>
                      </a:rPr>
                      <a:t>28 </a:t>
                    </a:r>
                    <a:r>
                      <a:rPr lang="en-US" b="1" sz="900">
                        <a:solidFill>
                          <a:srgbClr val="2D3142"/>
                        </a:solidFill>
                      </a:rPr>
                      <a:t>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Sheet1!$A$2:$A$6</c:f>
              <c:strCache>
                <c:ptCount val="5"/>
                <c:pt idx="0">
                  <c:v>Everyday</c:v>
                </c:pt>
                <c:pt idx="1">
                  <c:v>Everyweek</c:v>
                </c:pt>
                <c:pt idx="2">
                  <c:v>A few times a month</c:v>
                </c:pt>
                <c:pt idx="3">
                  <c:v>Less often than that</c:v>
                </c:pt>
                <c:pt idx="4">
                  <c:v>Never</c:v>
                </c:pt>
              </c:strCache>
            </c:strRef>
          </c:cat>
          <c:val>
            <c:numRef>
              <c:f>Sheet1!$F$2:$F$6</c:f>
              <c:numCache>
                <c:formatCode>0</c:formatCode>
                <c:ptCount val="5"/>
                <c:pt idx="0">
                  <c:v>19.8</c:v>
                </c:pt>
                <c:pt idx="1">
                  <c:v>11.1</c:v>
                </c:pt>
                <c:pt idx="2">
                  <c:v>24.11211179789719</c:v>
                </c:pt>
                <c:pt idx="3">
                  <c:v>16.34364946198596</c:v>
                </c:pt>
                <c:pt idx="4">
                  <c:v>28.489941063709672</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25 </a:t>
                    </a:r>
                    <a:r>
                      <a:rPr lang="en-US" b="1" sz="900">
                        <a:solidFill>
                          <a:srgbClr val="2D3142"/>
                        </a:solidFill>
                      </a:rPr>
                      <a:t>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Sheet1!$B$2:$B$2</c:f>
              <c:numCache>
                <c:formatCode>0</c:formatCode>
                <c:ptCount val="1"/>
                <c:pt idx="0">
                  <c:v>24.93663089920168</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51 </a:t>
                    </a:r>
                    <a:r>
                      <a:rPr lang="en-US" b="1" sz="900">
                        <a:solidFill>
                          <a:srgbClr val="2D3142"/>
                        </a:solidFill>
                      </a:rPr>
                      <a:t>AC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Sheet1!$C$2:$C$2</c:f>
              <c:numCache>
                <c:formatCode>0</c:formatCode>
                <c:ptCount val="1"/>
                <c:pt idx="0">
                  <c:v>51.48756033581204</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6</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Sheet1!$D$2:$D$2</c:f>
              <c:numCache>
                <c:formatCode>0</c:formatCode>
                <c:ptCount val="1"/>
                <c:pt idx="0">
                  <c:v>5.850769774489012</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49 </a:t>
                    </a:r>
                    <a:r>
                      <a:rPr lang="en-US" b="1" sz="900">
                        <a:solidFill>
                          <a:srgbClr val="2D3142"/>
                        </a:solidFill>
                      </a:rPr>
                      <a:t>AC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Sheet1!$E$2:$E$2</c:f>
              <c:numCache>
                <c:formatCode>0</c:formatCode>
                <c:ptCount val="1"/>
                <c:pt idx="0">
                  <c:v>49.127531514421776</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95 </a:t>
                    </a:r>
                    <a:r>
                      <a:rPr lang="en-US" b="1" sz="900">
                        <a:solidFill>
                          <a:srgbClr val="2D3142"/>
                        </a:solidFill>
                      </a:rPr>
                      <a:t>ABCD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Sheet1!$F$2:$F$2</c:f>
              <c:numCache>
                <c:formatCode>0</c:formatCode>
                <c:ptCount val="1"/>
                <c:pt idx="0">
                  <c:v>94.61919373697131</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22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Sheet1!$B$2:$B$2</c:f>
              <c:numCache>
                <c:formatCode>0</c:formatCode>
                <c:ptCount val="1"/>
                <c:pt idx="0">
                  <c:v>21.64507825586951</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30 </a:t>
                    </a:r>
                    <a:r>
                      <a:rPr lang="en-US" b="1" sz="900">
                        <a:solidFill>
                          <a:srgbClr val="2D3142"/>
                        </a:solidFill>
                      </a:rPr>
                      <a:t>AE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Sheet1!$C$2:$C$2</c:f>
              <c:numCache>
                <c:formatCode>0</c:formatCode>
                <c:ptCount val="1"/>
                <c:pt idx="0">
                  <c:v>30.305310205206</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59 </a:t>
                    </a:r>
                    <a:r>
                      <a:rPr lang="en-US" b="1" sz="900">
                        <a:solidFill>
                          <a:srgbClr val="2D3142"/>
                        </a:solidFill>
                      </a:rPr>
                      <a:t>ABDE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Sheet1!$D$2:$D$2</c:f>
              <c:numCache>
                <c:formatCode>0</c:formatCode>
                <c:ptCount val="1"/>
                <c:pt idx="0">
                  <c:v>59.44847662499616</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34 </a:t>
                    </a:r>
                    <a:r>
                      <a:rPr lang="en-US" b="1" sz="900">
                        <a:solidFill>
                          <a:srgbClr val="2D3142"/>
                        </a:solidFill>
                      </a:rPr>
                      <a:t>ABE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Sheet1!$E$2:$E$2</c:f>
              <c:numCache>
                <c:formatCode>0</c:formatCode>
                <c:ptCount val="1"/>
                <c:pt idx="0">
                  <c:v>34.18478030782748</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16</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Sheet1!$F$2:$F$2</c:f>
              <c:numCache>
                <c:formatCode>0</c:formatCode>
                <c:ptCount val="1"/>
                <c:pt idx="0">
                  <c:v>15.707241944772498</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7</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Sheet1!$B$2:$B$2</c:f>
              <c:numCache>
                <c:formatCode>0</c:formatCode>
                <c:ptCount val="1"/>
                <c:pt idx="0">
                  <c:v>6.727561779073879</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17 </a:t>
                    </a:r>
                    <a:r>
                      <a:rPr lang="en-US" b="1" sz="900">
                        <a:solidFill>
                          <a:srgbClr val="2D3142"/>
                        </a:solidFill>
                      </a:rPr>
                      <a:t>ADe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Sheet1!$C$2:$C$2</c:f>
              <c:numCache>
                <c:formatCode>0</c:formatCode>
                <c:ptCount val="1"/>
                <c:pt idx="0">
                  <c:v>16.840099218074503</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38 </a:t>
                    </a:r>
                    <a:r>
                      <a:rPr lang="en-US" b="1" sz="900">
                        <a:solidFill>
                          <a:srgbClr val="2D3142"/>
                        </a:solidFill>
                      </a:rPr>
                      <a:t>ABDE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Sheet1!$D$2:$D$2</c:f>
              <c:numCache>
                <c:formatCode>0</c:formatCode>
                <c:ptCount val="1"/>
                <c:pt idx="0">
                  <c:v>37.52265276642958</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10 </a:t>
                    </a:r>
                    <a:r>
                      <a:rPr lang="en-US" b="1" sz="900">
                        <a:solidFill>
                          <a:srgbClr val="2D3142"/>
                        </a:solidFill>
                      </a:rPr>
                      <a:t>A</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Sheet1!$E$2:$E$2</c:f>
              <c:numCache>
                <c:formatCode>0</c:formatCode>
                <c:ptCount val="1"/>
                <c:pt idx="0">
                  <c:v>9.846419019376983</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14 </a:t>
                    </a:r>
                    <a:r>
                      <a:rPr lang="en-US" b="1" sz="900">
                        <a:solidFill>
                          <a:srgbClr val="2D3142"/>
                        </a:solidFill>
                      </a:rPr>
                      <a:t>AD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Sheet1!$F$2:$F$2</c:f>
              <c:numCache>
                <c:formatCode>0</c:formatCode>
                <c:ptCount val="1"/>
                <c:pt idx="0">
                  <c:v>14.300456718494786</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8</a:t>
                    </a:r>
                  </a:p>
                </c:rich>
              </c:tx>
              <c:showLegendKey val="0"/>
              <c:showVal val="0"/>
              <c:showCatName val="0"/>
              <c:showSerName val="0"/>
              <c:showPercent val="0"/>
              <c:showBubbleSize val="0"/>
            </c:dLbl>
            <c:dLbl>
              <c:idx val="1"/>
              <c:tx>
                <c:rich>
                  <a:bodyPr/>
                  <a:lstStyle/>
                  <a:p>
                    <a:r>
                      <a:rPr lang="en-US" b="1" sz="900">
                        <a:solidFill>
                          <a:srgbClr val="2D3142"/>
                        </a:solidFill>
                      </a:rPr>
                      <a:t>12</a:t>
                    </a:r>
                  </a:p>
                </c:rich>
              </c:tx>
              <c:showLegendKey val="0"/>
              <c:showVal val="0"/>
              <c:showCatName val="0"/>
              <c:showSerName val="0"/>
              <c:showPercent val="0"/>
              <c:showBubbleSize val="0"/>
            </c:dLbl>
            <c:dLbl>
              <c:idx val="2"/>
              <c:tx>
                <c:rich>
                  <a:bodyPr/>
                  <a:lstStyle/>
                  <a:p>
                    <a:r>
                      <a:rPr lang="en-US" b="1" sz="900">
                        <a:solidFill>
                          <a:srgbClr val="2D3142"/>
                        </a:solidFill>
                      </a:rPr>
                      <a:t>15 </a:t>
                    </a:r>
                    <a:r>
                      <a:rPr lang="en-US" b="1" sz="900">
                        <a:solidFill>
                          <a:srgbClr val="2D3142"/>
                        </a:solidFill>
                      </a:rPr>
                      <a:t>B</a:t>
                    </a:r>
                  </a:p>
                </c:rich>
              </c:tx>
              <c:showLegendKey val="0"/>
              <c:showVal val="0"/>
              <c:showCatName val="0"/>
              <c:showSerName val="0"/>
              <c:showPercent val="0"/>
              <c:showBubbleSize val="0"/>
            </c:dLbl>
            <c:dLbl>
              <c:idx val="3"/>
              <c:tx>
                <c:rich>
                  <a:bodyPr/>
                  <a:lstStyle/>
                  <a:p>
                    <a:r>
                      <a:rPr lang="en-US" b="1" sz="900">
                        <a:solidFill>
                          <a:srgbClr val="2D3142"/>
                        </a:solidFill>
                      </a:rPr>
                      <a:t>5</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Shrines</c:v>
                </c:pt>
                <c:pt idx="1">
                  <c:v>Temples or pagodas</c:v>
                </c:pt>
                <c:pt idx="2">
                  <c:v>Churches</c:v>
                </c:pt>
                <c:pt idx="3">
                  <c:v>Monasteries or places for meditation</c:v>
                </c:pt>
              </c:strCache>
            </c:strRef>
          </c:cat>
          <c:val>
            <c:numRef>
              <c:f>Sheet1!$B$2:$B$5</c:f>
              <c:numCache>
                <c:formatCode>0</c:formatCode>
                <c:ptCount val="4"/>
                <c:pt idx="0">
                  <c:v>7.862323418218018</c:v>
                </c:pt>
                <c:pt idx="1">
                  <c:v>12.111505447366786</c:v>
                </c:pt>
                <c:pt idx="2">
                  <c:v>15.401319635784224</c:v>
                </c:pt>
                <c:pt idx="3">
                  <c:v>5.257040044020864</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46 </a:t>
                    </a:r>
                    <a:r>
                      <a:rPr lang="en-US" b="1" sz="900">
                        <a:solidFill>
                          <a:srgbClr val="2D3142"/>
                        </a:solidFill>
                      </a:rPr>
                      <a:t>AC</a:t>
                    </a:r>
                  </a:p>
                </c:rich>
              </c:tx>
              <c:showLegendKey val="0"/>
              <c:showVal val="0"/>
              <c:showCatName val="0"/>
              <c:showSerName val="0"/>
              <c:showPercent val="0"/>
              <c:showBubbleSize val="0"/>
            </c:dLbl>
            <c:dLbl>
              <c:idx val="1"/>
              <c:tx>
                <c:rich>
                  <a:bodyPr/>
                  <a:lstStyle/>
                  <a:p>
                    <a:r>
                      <a:rPr lang="en-US" b="1" sz="900">
                        <a:solidFill>
                          <a:srgbClr val="2D3142"/>
                        </a:solidFill>
                      </a:rPr>
                      <a:t>42 </a:t>
                    </a:r>
                    <a:r>
                      <a:rPr lang="en-US" b="1" sz="900">
                        <a:solidFill>
                          <a:srgbClr val="2D3142"/>
                        </a:solidFill>
                      </a:rPr>
                      <a:t>AC</a:t>
                    </a:r>
                  </a:p>
                </c:rich>
              </c:tx>
              <c:showLegendKey val="0"/>
              <c:showVal val="0"/>
              <c:showCatName val="0"/>
              <c:showSerName val="0"/>
              <c:showPercent val="0"/>
              <c:showBubbleSize val="0"/>
            </c:dLbl>
            <c:dLbl>
              <c:idx val="2"/>
              <c:tx>
                <c:rich>
                  <a:bodyPr/>
                  <a:lstStyle/>
                  <a:p>
                    <a:r>
                      <a:rPr lang="en-US" b="1" sz="900">
                        <a:solidFill>
                          <a:srgbClr val="2D3142"/>
                        </a:solidFill>
                      </a:rPr>
                      <a:t>4</a:t>
                    </a:r>
                  </a:p>
                </c:rich>
              </c:tx>
              <c:showLegendKey val="0"/>
              <c:showVal val="0"/>
              <c:showCatName val="0"/>
              <c:showSerName val="0"/>
              <c:showPercent val="0"/>
              <c:showBubbleSize val="0"/>
            </c:dLbl>
            <c:dLbl>
              <c:idx val="3"/>
              <c:tx>
                <c:rich>
                  <a:bodyPr/>
                  <a:lstStyle/>
                  <a:p>
                    <a:r>
                      <a:rPr lang="en-US" b="1" sz="900">
                        <a:solidFill>
                          <a:srgbClr val="2D3142"/>
                        </a:solidFill>
                      </a:rPr>
                      <a:t>5</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Shrines</c:v>
                </c:pt>
                <c:pt idx="1">
                  <c:v>Temples or pagodas</c:v>
                </c:pt>
                <c:pt idx="2">
                  <c:v>Churches</c:v>
                </c:pt>
                <c:pt idx="3">
                  <c:v>Monasteries or places for meditation</c:v>
                </c:pt>
              </c:strCache>
            </c:strRef>
          </c:cat>
          <c:val>
            <c:numRef>
              <c:f>Sheet1!$C$2:$C$5</c:f>
              <c:numCache>
                <c:formatCode>0</c:formatCode>
                <c:ptCount val="4"/>
                <c:pt idx="0">
                  <c:v>45.8135107993843</c:v>
                </c:pt>
                <c:pt idx="1">
                  <c:v>42.28921838572444</c:v>
                </c:pt>
                <c:pt idx="2">
                  <c:v>3.774663139069538</c:v>
                </c:pt>
                <c:pt idx="3">
                  <c:v>5.426990260285641</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18 </a:t>
                    </a:r>
                    <a:r>
                      <a:rPr lang="en-US" b="1" sz="900">
                        <a:solidFill>
                          <a:srgbClr val="2D3142"/>
                        </a:solidFill>
                      </a:rPr>
                      <a:t>A</a:t>
                    </a:r>
                  </a:p>
                </c:rich>
              </c:tx>
              <c:showLegendKey val="0"/>
              <c:showVal val="0"/>
              <c:showCatName val="0"/>
              <c:showSerName val="0"/>
              <c:showPercent val="0"/>
              <c:showBubbleSize val="0"/>
            </c:dLbl>
            <c:dLbl>
              <c:idx val="1"/>
              <c:tx>
                <c:rich>
                  <a:bodyPr/>
                  <a:lstStyle/>
                  <a:p>
                    <a:r>
                      <a:rPr lang="en-US" b="1" sz="900">
                        <a:solidFill>
                          <a:srgbClr val="2D3142"/>
                        </a:solidFill>
                      </a:rPr>
                      <a:t>35 </a:t>
                    </a:r>
                    <a:r>
                      <a:rPr lang="en-US" b="1" sz="900">
                        <a:solidFill>
                          <a:srgbClr val="2D3142"/>
                        </a:solidFill>
                      </a:rPr>
                      <a:t>A</a:t>
                    </a:r>
                  </a:p>
                </c:rich>
              </c:tx>
              <c:showLegendKey val="0"/>
              <c:showVal val="0"/>
              <c:showCatName val="0"/>
              <c:showSerName val="0"/>
              <c:showPercent val="0"/>
              <c:showBubbleSize val="0"/>
            </c:dLbl>
            <c:dLbl>
              <c:idx val="2"/>
              <c:tx>
                <c:rich>
                  <a:bodyPr/>
                  <a:lstStyle/>
                  <a:p>
                    <a:r>
                      <a:rPr lang="en-US" b="1" sz="900">
                        <a:solidFill>
                          <a:srgbClr val="2D3142"/>
                        </a:solidFill>
                      </a:rPr>
                      <a:t>30 </a:t>
                    </a:r>
                    <a:r>
                      <a:rPr lang="en-US" b="1" sz="900">
                        <a:solidFill>
                          <a:srgbClr val="2D3142"/>
                        </a:solidFill>
                      </a:rPr>
                      <a:t>ABDE</a:t>
                    </a:r>
                  </a:p>
                </c:rich>
              </c:tx>
              <c:showLegendKey val="0"/>
              <c:showVal val="0"/>
              <c:showCatName val="0"/>
              <c:showSerName val="0"/>
              <c:showPercent val="0"/>
              <c:showBubbleSize val="0"/>
            </c:dLbl>
            <c:dLbl>
              <c:idx val="3"/>
              <c:tx>
                <c:rich>
                  <a:bodyPr/>
                  <a:lstStyle/>
                  <a:p>
                    <a:r>
                      <a:rPr lang="en-US" b="1" sz="900">
                        <a:solidFill>
                          <a:srgbClr val="2D3142"/>
                        </a:solidFill>
                      </a:rPr>
                      <a:t>10 </a:t>
                    </a:r>
                    <a:r>
                      <a:rPr lang="en-US" b="1" sz="900">
                        <a:solidFill>
                          <a:srgbClr val="2D3142"/>
                        </a:solidFill>
                      </a:rPr>
                      <a:t>AB</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Shrines</c:v>
                </c:pt>
                <c:pt idx="1">
                  <c:v>Temples or pagodas</c:v>
                </c:pt>
                <c:pt idx="2">
                  <c:v>Churches</c:v>
                </c:pt>
                <c:pt idx="3">
                  <c:v>Monasteries or places for meditation</c:v>
                </c:pt>
              </c:strCache>
            </c:strRef>
          </c:cat>
          <c:val>
            <c:numRef>
              <c:f>Sheet1!$D$2:$D$5</c:f>
              <c:numCache>
                <c:formatCode>0</c:formatCode>
                <c:ptCount val="4"/>
                <c:pt idx="0">
                  <c:v>18.498161513276617</c:v>
                </c:pt>
                <c:pt idx="1">
                  <c:v>34.580369961112346</c:v>
                </c:pt>
                <c:pt idx="2">
                  <c:v>29.902684194803857</c:v>
                </c:pt>
                <c:pt idx="3">
                  <c:v>9.863028629238212</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61 </a:t>
                    </a:r>
                    <a:r>
                      <a:rPr lang="en-US" b="1" sz="900">
                        <a:solidFill>
                          <a:srgbClr val="2D3142"/>
                        </a:solidFill>
                      </a:rPr>
                      <a:t>ABCE</a:t>
                    </a:r>
                  </a:p>
                </c:rich>
              </c:tx>
              <c:showLegendKey val="0"/>
              <c:showVal val="0"/>
              <c:showCatName val="0"/>
              <c:showSerName val="0"/>
              <c:showPercent val="0"/>
              <c:showBubbleSize val="0"/>
            </c:dLbl>
            <c:dLbl>
              <c:idx val="1"/>
              <c:tx>
                <c:rich>
                  <a:bodyPr/>
                  <a:lstStyle/>
                  <a:p>
                    <a:r>
                      <a:rPr lang="en-US" b="1" sz="900">
                        <a:solidFill>
                          <a:srgbClr val="2D3142"/>
                        </a:solidFill>
                      </a:rPr>
                      <a:t>73 </a:t>
                    </a:r>
                    <a:r>
                      <a:rPr lang="en-US" b="1" sz="900">
                        <a:solidFill>
                          <a:srgbClr val="2D3142"/>
                        </a:solidFill>
                      </a:rPr>
                      <a:t>ABC</a:t>
                    </a:r>
                  </a:p>
                </c:rich>
              </c:tx>
              <c:showLegendKey val="0"/>
              <c:showVal val="0"/>
              <c:showCatName val="0"/>
              <c:showSerName val="0"/>
              <c:showPercent val="0"/>
              <c:showBubbleSize val="0"/>
            </c:dLbl>
            <c:dLbl>
              <c:idx val="2"/>
              <c:tx>
                <c:rich>
                  <a:bodyPr/>
                  <a:lstStyle/>
                  <a:p>
                    <a:r>
                      <a:rPr lang="en-US" b="1" sz="900">
                        <a:solidFill>
                          <a:srgbClr val="2D3142"/>
                        </a:solidFill>
                      </a:rPr>
                      <a:t>17 </a:t>
                    </a:r>
                    <a:r>
                      <a:rPr lang="en-US" b="1" sz="900">
                        <a:solidFill>
                          <a:srgbClr val="2D3142"/>
                        </a:solidFill>
                      </a:rPr>
                      <a:t>B</a:t>
                    </a:r>
                  </a:p>
                </c:rich>
              </c:tx>
              <c:showLegendKey val="0"/>
              <c:showVal val="0"/>
              <c:showCatName val="0"/>
              <c:showSerName val="0"/>
              <c:showPercent val="0"/>
              <c:showBubbleSize val="0"/>
            </c:dLbl>
            <c:dLbl>
              <c:idx val="3"/>
              <c:tx>
                <c:rich>
                  <a:bodyPr/>
                  <a:lstStyle/>
                  <a:p>
                    <a:r>
                      <a:rPr lang="en-US" b="1" sz="900">
                        <a:solidFill>
                          <a:srgbClr val="2D3142"/>
                        </a:solidFill>
                      </a:rPr>
                      <a:t>14 </a:t>
                    </a:r>
                    <a:r>
                      <a:rPr lang="en-US" b="1" sz="900">
                        <a:solidFill>
                          <a:srgbClr val="2D3142"/>
                        </a:solidFill>
                      </a:rPr>
                      <a:t>ABC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Shrines</c:v>
                </c:pt>
                <c:pt idx="1">
                  <c:v>Temples or pagodas</c:v>
                </c:pt>
                <c:pt idx="2">
                  <c:v>Churches</c:v>
                </c:pt>
                <c:pt idx="3">
                  <c:v>Monasteries or places for meditation</c:v>
                </c:pt>
              </c:strCache>
            </c:strRef>
          </c:cat>
          <c:val>
            <c:numRef>
              <c:f>Sheet1!$E$2:$E$5</c:f>
              <c:numCache>
                <c:formatCode>0</c:formatCode>
                <c:ptCount val="4"/>
                <c:pt idx="0">
                  <c:v>61.23052544010559</c:v>
                </c:pt>
                <c:pt idx="1">
                  <c:v>72.74280171811418</c:v>
                </c:pt>
                <c:pt idx="2">
                  <c:v>16.565714410558925</c:v>
                </c:pt>
                <c:pt idx="3">
                  <c:v>13.599076322056275</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57 </a:t>
                    </a:r>
                    <a:r>
                      <a:rPr lang="en-US" b="1" sz="900">
                        <a:solidFill>
                          <a:srgbClr val="2D3142"/>
                        </a:solidFill>
                      </a:rPr>
                      <a:t>ABC</a:t>
                    </a:r>
                  </a:p>
                </c:rich>
              </c:tx>
              <c:showLegendKey val="0"/>
              <c:showVal val="0"/>
              <c:showCatName val="0"/>
              <c:showSerName val="0"/>
              <c:showPercent val="0"/>
              <c:showBubbleSize val="0"/>
            </c:dLbl>
            <c:dLbl>
              <c:idx val="1"/>
              <c:tx>
                <c:rich>
                  <a:bodyPr/>
                  <a:lstStyle/>
                  <a:p>
                    <a:r>
                      <a:rPr lang="en-US" b="1" sz="900">
                        <a:solidFill>
                          <a:srgbClr val="2D3142"/>
                        </a:solidFill>
                      </a:rPr>
                      <a:t>71 </a:t>
                    </a:r>
                    <a:r>
                      <a:rPr lang="en-US" b="1" sz="900">
                        <a:solidFill>
                          <a:srgbClr val="2D3142"/>
                        </a:solidFill>
                      </a:rPr>
                      <a:t>ABC</a:t>
                    </a:r>
                  </a:p>
                </c:rich>
              </c:tx>
              <c:showLegendKey val="0"/>
              <c:showVal val="0"/>
              <c:showCatName val="0"/>
              <c:showSerName val="0"/>
              <c:showPercent val="0"/>
              <c:showBubbleSize val="0"/>
            </c:dLbl>
            <c:dLbl>
              <c:idx val="2"/>
              <c:tx>
                <c:rich>
                  <a:bodyPr/>
                  <a:lstStyle/>
                  <a:p>
                    <a:r>
                      <a:rPr lang="en-US" b="1" sz="900">
                        <a:solidFill>
                          <a:srgbClr val="2D3142"/>
                        </a:solidFill>
                      </a:rPr>
                      <a:t>25 </a:t>
                    </a:r>
                    <a:r>
                      <a:rPr lang="en-US" b="1" sz="900">
                        <a:solidFill>
                          <a:srgbClr val="2D3142"/>
                        </a:solidFill>
                      </a:rPr>
                      <a:t>ABD</a:t>
                    </a:r>
                  </a:p>
                </c:rich>
              </c:tx>
              <c:showLegendKey val="0"/>
              <c:showVal val="0"/>
              <c:showCatName val="0"/>
              <c:showSerName val="0"/>
              <c:showPercent val="0"/>
              <c:showBubbleSize val="0"/>
            </c:dLbl>
            <c:dLbl>
              <c:idx val="3"/>
              <c:tx>
                <c:rich>
                  <a:bodyPr/>
                  <a:lstStyle/>
                  <a:p>
                    <a:r>
                      <a:rPr lang="en-US" b="1" sz="900">
                        <a:solidFill>
                          <a:srgbClr val="2D3142"/>
                        </a:solidFill>
                      </a:rPr>
                      <a:t>18 </a:t>
                    </a:r>
                    <a:r>
                      <a:rPr lang="en-US" b="1" sz="900">
                        <a:solidFill>
                          <a:srgbClr val="2D3142"/>
                        </a:solidFill>
                      </a:rPr>
                      <a:t>ABCD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Shrines</c:v>
                </c:pt>
                <c:pt idx="1">
                  <c:v>Temples or pagodas</c:v>
                </c:pt>
                <c:pt idx="2">
                  <c:v>Churches</c:v>
                </c:pt>
                <c:pt idx="3">
                  <c:v>Monasteries or places for meditation</c:v>
                </c:pt>
              </c:strCache>
            </c:strRef>
          </c:cat>
          <c:val>
            <c:numRef>
              <c:f>Sheet1!$F$2:$F$5</c:f>
              <c:numCache>
                <c:formatCode>0</c:formatCode>
                <c:ptCount val="4"/>
                <c:pt idx="0">
                  <c:v>56.93933124485735</c:v>
                </c:pt>
                <c:pt idx="1">
                  <c:v>70.71229885923972</c:v>
                </c:pt>
                <c:pt idx="2">
                  <c:v>25.464126465948244</c:v>
                </c:pt>
                <c:pt idx="3">
                  <c:v>18.142593980210886</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85 </a:t>
                    </a:r>
                    <a:r>
                      <a:rPr lang="en-US" b="1" sz="900">
                        <a:solidFill>
                          <a:srgbClr val="2D3142"/>
                        </a:solidFill>
                      </a:rPr>
                      <a:t>CE</a:t>
                    </a:r>
                  </a:p>
                </c:rich>
              </c:tx>
              <c:showLegendKey val="0"/>
              <c:showVal val="0"/>
              <c:showCatName val="0"/>
              <c:showSerName val="0"/>
              <c:showPercent val="0"/>
              <c:showBubbleSize val="0"/>
            </c:dLbl>
            <c:dLbl>
              <c:idx val="1"/>
              <c:tx>
                <c:rich>
                  <a:bodyPr/>
                  <a:lstStyle/>
                  <a:p>
                    <a:r>
                      <a:rPr lang="en-US" b="1" sz="900">
                        <a:solidFill>
                          <a:srgbClr val="2D3142"/>
                        </a:solidFill>
                      </a:rPr>
                      <a:t>31 </a:t>
                    </a:r>
                    <a:r>
                      <a:rPr lang="en-US" b="1" sz="900">
                        <a:solidFill>
                          <a:srgbClr val="2D3142"/>
                        </a:solidFill>
                      </a:rPr>
                      <a:t>D</a:t>
                    </a:r>
                  </a:p>
                </c:rich>
              </c:tx>
              <c:showLegendKey val="0"/>
              <c:showVal val="0"/>
              <c:showCatName val="0"/>
              <c:showSerName val="0"/>
              <c:showPercent val="0"/>
              <c:showBubbleSize val="0"/>
            </c:dLbl>
            <c:dLbl>
              <c:idx val="2"/>
              <c:tx>
                <c:rich>
                  <a:bodyPr/>
                  <a:lstStyle/>
                  <a:p>
                    <a:r>
                      <a:rPr lang="en-US" b="1" sz="900">
                        <a:solidFill>
                          <a:srgbClr val="2D3142"/>
                        </a:solidFill>
                      </a:rPr>
                      <a:t>6 </a:t>
                    </a:r>
                    <a:r>
                      <a:rPr lang="en-US" b="1" sz="900">
                        <a:solidFill>
                          <a:srgbClr val="2D3142"/>
                        </a:solidFill>
                      </a:rPr>
                      <a:t>BCDE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Cremate your deceased family members</c:v>
                </c:pt>
                <c:pt idx="1">
                  <c:v>Bury your deceased family members</c:v>
                </c:pt>
                <c:pt idx="2">
                  <c:v>Follow some other method</c:v>
                </c:pt>
              </c:strCache>
            </c:strRef>
          </c:cat>
          <c:val>
            <c:numRef>
              <c:f>Sheet1!$B$2:$B$4</c:f>
              <c:numCache>
                <c:formatCode>0</c:formatCode>
                <c:ptCount val="3"/>
                <c:pt idx="0">
                  <c:v>85.45654380989464</c:v>
                </c:pt>
                <c:pt idx="1">
                  <c:v>30.836869228729007</c:v>
                </c:pt>
                <c:pt idx="2">
                  <c:v>6.012346617555724</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99 </a:t>
                    </a:r>
                    <a:r>
                      <a:rPr lang="en-US" b="1" sz="900">
                        <a:solidFill>
                          <a:srgbClr val="2D3142"/>
                        </a:solidFill>
                      </a:rPr>
                      <a:t>ACDE</a:t>
                    </a:r>
                  </a:p>
                </c:rich>
              </c:tx>
              <c:showLegendKey val="0"/>
              <c:showVal val="0"/>
              <c:showCatName val="0"/>
              <c:showSerName val="0"/>
              <c:showPercent val="0"/>
              <c:showBubbleSize val="0"/>
            </c:dLbl>
            <c:dLbl>
              <c:idx val="1"/>
              <c:tx>
                <c:rich>
                  <a:bodyPr/>
                  <a:lstStyle/>
                  <a:p>
                    <a:r>
                      <a:rPr lang="en-US" b="1" sz="900">
                        <a:solidFill>
                          <a:srgbClr val="2D3142"/>
                        </a:solidFill>
                      </a:rPr>
                      <a:t>92 </a:t>
                    </a:r>
                    <a:r>
                      <a:rPr lang="en-US" b="1" sz="900">
                        <a:solidFill>
                          <a:srgbClr val="2D3142"/>
                        </a:solidFill>
                      </a:rPr>
                      <a:t>ACD</a:t>
                    </a:r>
                  </a:p>
                </c:rich>
              </c:tx>
              <c:showLegendKey val="0"/>
              <c:showVal val="0"/>
              <c:showCatName val="0"/>
              <c:showSerName val="0"/>
              <c:showPercent val="0"/>
              <c:showBubbleSize val="0"/>
            </c:dLbl>
            <c:dLbl>
              <c:idx val="2"/>
              <c:tx>
                <c:rich>
                  <a:bodyPr/>
                  <a:lstStyle/>
                  <a:p>
                    <a:r>
                      <a:rPr lang="en-US" b="1" sz="900">
                        <a:solidFill>
                          <a:srgbClr val="2D3142"/>
                        </a:solidFill>
                      </a:rPr>
                      <a:t>2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Cremate your deceased family members</c:v>
                </c:pt>
                <c:pt idx="1">
                  <c:v>Bury your deceased family members</c:v>
                </c:pt>
                <c:pt idx="2">
                  <c:v>Follow some other method</c:v>
                </c:pt>
              </c:strCache>
            </c:strRef>
          </c:cat>
          <c:val>
            <c:numRef>
              <c:f>Sheet1!$C$2:$C$4</c:f>
              <c:numCache>
                <c:formatCode>0</c:formatCode>
                <c:ptCount val="3"/>
                <c:pt idx="0">
                  <c:v>98.76470878635845</c:v>
                </c:pt>
                <c:pt idx="1">
                  <c:v>92.47245656104586</c:v>
                </c:pt>
                <c:pt idx="2">
                  <c:v>1.639507124150509</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70 </a:t>
                    </a:r>
                    <a:r>
                      <a:rPr lang="en-US" b="1" sz="900">
                        <a:solidFill>
                          <a:srgbClr val="2D3142"/>
                        </a:solidFill>
                      </a:rPr>
                      <a:t>E</a:t>
                    </a:r>
                  </a:p>
                </c:rich>
              </c:tx>
              <c:showLegendKey val="0"/>
              <c:showVal val="0"/>
              <c:showCatName val="0"/>
              <c:showSerName val="0"/>
              <c:showPercent val="0"/>
              <c:showBubbleSize val="0"/>
            </c:dLbl>
            <c:dLbl>
              <c:idx val="1"/>
              <c:tx>
                <c:rich>
                  <a:bodyPr/>
                  <a:lstStyle/>
                  <a:p>
                    <a:r>
                      <a:rPr lang="en-US" b="1" sz="900">
                        <a:solidFill>
                          <a:srgbClr val="2D3142"/>
                        </a:solidFill>
                      </a:rPr>
                      <a:t>47 </a:t>
                    </a:r>
                    <a:r>
                      <a:rPr lang="en-US" b="1" sz="900">
                        <a:solidFill>
                          <a:srgbClr val="2D3142"/>
                        </a:solidFill>
                      </a:rPr>
                      <a:t>AD</a:t>
                    </a:r>
                  </a:p>
                </c:rich>
              </c:tx>
              <c:showLegendKey val="0"/>
              <c:showVal val="0"/>
              <c:showCatName val="0"/>
              <c:showSerName val="0"/>
              <c:showPercent val="0"/>
              <c:showBubbleSize val="0"/>
            </c:dLbl>
            <c:dLbl>
              <c:idx val="2"/>
              <c:tx>
                <c:rich>
                  <a:bodyPr/>
                  <a:lstStyle/>
                  <a:p>
                    <a:r>
                      <a:rPr lang="en-US" b="1" sz="900">
                        <a:solidFill>
                          <a:srgbClr val="2D3142"/>
                        </a:solidFill>
                      </a:rPr>
                      <a:t>4 </a:t>
                    </a:r>
                    <a:r>
                      <a:rPr lang="en-US" b="1" sz="900">
                        <a:solidFill>
                          <a:srgbClr val="2D3142"/>
                        </a:solidFill>
                      </a:rPr>
                      <a:t>BE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Cremate your deceased family members</c:v>
                </c:pt>
                <c:pt idx="1">
                  <c:v>Bury your deceased family members</c:v>
                </c:pt>
                <c:pt idx="2">
                  <c:v>Follow some other method</c:v>
                </c:pt>
              </c:strCache>
            </c:strRef>
          </c:cat>
          <c:val>
            <c:numRef>
              <c:f>Sheet1!$D$2:$D$4</c:f>
              <c:numCache>
                <c:formatCode>0</c:formatCode>
                <c:ptCount val="3"/>
                <c:pt idx="0">
                  <c:v>69.75092265189446</c:v>
                </c:pt>
                <c:pt idx="1">
                  <c:v>47.344861230447066</c:v>
                </c:pt>
                <c:pt idx="2">
                  <c:v>3.962483022660683</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91 </a:t>
                    </a:r>
                    <a:r>
                      <a:rPr lang="en-US" b="1" sz="900">
                        <a:solidFill>
                          <a:srgbClr val="2D3142"/>
                        </a:solidFill>
                      </a:rPr>
                      <a:t>ACE</a:t>
                    </a:r>
                  </a:p>
                </c:rich>
              </c:tx>
              <c:showLegendKey val="0"/>
              <c:showVal val="0"/>
              <c:showCatName val="0"/>
              <c:showSerName val="0"/>
              <c:showPercent val="0"/>
              <c:showBubbleSize val="0"/>
            </c:dLbl>
            <c:dLbl>
              <c:idx val="1"/>
              <c:tx>
                <c:rich>
                  <a:bodyPr/>
                  <a:lstStyle/>
                  <a:p>
                    <a:r>
                      <a:rPr lang="en-US" b="1" sz="900">
                        <a:solidFill>
                          <a:srgbClr val="2D3142"/>
                        </a:solidFill>
                      </a:rPr>
                      <a:t>21</a:t>
                    </a:r>
                  </a:p>
                </c:rich>
              </c:tx>
              <c:showLegendKey val="0"/>
              <c:showVal val="0"/>
              <c:showCatName val="0"/>
              <c:showSerName val="0"/>
              <c:showPercent val="0"/>
              <c:showBubbleSize val="0"/>
            </c:dLbl>
            <c:dLbl>
              <c:idx val="2"/>
              <c:tx>
                <c:rich>
                  <a:bodyPr/>
                  <a:lstStyle/>
                  <a:p>
                    <a:r>
                      <a:rPr lang="en-US" b="1" sz="900">
                        <a:solidFill>
                          <a:srgbClr val="2D3142"/>
                        </a:solidFill>
                      </a:rPr>
                      <a:t>4 </a:t>
                    </a:r>
                    <a:r>
                      <a:rPr lang="en-US" b="1" sz="900">
                        <a:solidFill>
                          <a:srgbClr val="2D3142"/>
                        </a:solidFill>
                      </a:rPr>
                      <a:t>BE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Cremate your deceased family members</c:v>
                </c:pt>
                <c:pt idx="1">
                  <c:v>Bury your deceased family members</c:v>
                </c:pt>
                <c:pt idx="2">
                  <c:v>Follow some other method</c:v>
                </c:pt>
              </c:strCache>
            </c:strRef>
          </c:cat>
          <c:val>
            <c:numRef>
              <c:f>Sheet1!$E$2:$E$4</c:f>
              <c:numCache>
                <c:formatCode>0</c:formatCode>
                <c:ptCount val="3"/>
                <c:pt idx="0">
                  <c:v>90.96530458912203</c:v>
                </c:pt>
                <c:pt idx="1">
                  <c:v>21.027588115908223</c:v>
                </c:pt>
                <c:pt idx="2">
                  <c:v>4.1611475285141655</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28</a:t>
                    </a:r>
                  </a:p>
                </c:rich>
              </c:tx>
              <c:showLegendKey val="0"/>
              <c:showVal val="0"/>
              <c:showCatName val="0"/>
              <c:showSerName val="0"/>
              <c:showPercent val="0"/>
              <c:showBubbleSize val="0"/>
            </c:dLbl>
            <c:dLbl>
              <c:idx val="1"/>
              <c:tx>
                <c:rich>
                  <a:bodyPr/>
                  <a:lstStyle/>
                  <a:p>
                    <a:r>
                      <a:rPr lang="en-US" b="1" sz="900">
                        <a:solidFill>
                          <a:srgbClr val="2D3142"/>
                        </a:solidFill>
                      </a:rPr>
                      <a:t>91 </a:t>
                    </a:r>
                    <a:r>
                      <a:rPr lang="en-US" b="1" sz="900">
                        <a:solidFill>
                          <a:srgbClr val="2D3142"/>
                        </a:solidFill>
                      </a:rPr>
                      <a:t>ACD</a:t>
                    </a:r>
                  </a:p>
                </c:rich>
              </c:tx>
              <c:showLegendKey val="0"/>
              <c:showVal val="0"/>
              <c:showCatName val="0"/>
              <c:showSerName val="0"/>
              <c:showPercent val="0"/>
              <c:showBubbleSize val="0"/>
            </c:dLbl>
            <c:dLbl>
              <c:idx val="2"/>
              <c:tx>
                <c:rich>
                  <a:bodyPr/>
                  <a:lstStyle/>
                  <a:p>
                    <a:r>
                      <a:rPr lang="en-US" b="1" sz="900">
                        <a:solidFill>
                          <a:srgbClr val="2D3142"/>
                        </a:solidFill>
                      </a:rPr>
                      <a:t>1</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Cremate your deceased family members</c:v>
                </c:pt>
                <c:pt idx="1">
                  <c:v>Bury your deceased family members</c:v>
                </c:pt>
                <c:pt idx="2">
                  <c:v>Follow some other method</c:v>
                </c:pt>
              </c:strCache>
            </c:strRef>
          </c:cat>
          <c:val>
            <c:numRef>
              <c:f>Sheet1!$F$2:$F$4</c:f>
              <c:numCache>
                <c:formatCode>0</c:formatCode>
                <c:ptCount val="3"/>
                <c:pt idx="0">
                  <c:v>28.172224924506935</c:v>
                </c:pt>
                <c:pt idx="1">
                  <c:v>90.79790363641973</c:v>
                </c:pt>
                <c:pt idx="2">
                  <c:v>0.6092934300146219</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31</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Sheet1!$B$2:$B$2</c:f>
              <c:numCache>
                <c:formatCode>0</c:formatCode>
                <c:ptCount val="1"/>
                <c:pt idx="0">
                  <c:v>30.77773065178332</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85 </a:t>
                    </a:r>
                    <a:r>
                      <a:rPr lang="en-US" b="1" sz="900">
                        <a:solidFill>
                          <a:srgbClr val="2D3142"/>
                        </a:solidFill>
                      </a:rPr>
                      <a:t>ACD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Sheet1!$C$2:$C$2</c:f>
              <c:numCache>
                <c:formatCode>0</c:formatCode>
                <c:ptCount val="1"/>
                <c:pt idx="0">
                  <c:v>84.99489574462883</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55 </a:t>
                    </a:r>
                    <a:r>
                      <a:rPr lang="en-US" b="1" sz="900">
                        <a:solidFill>
                          <a:srgbClr val="2D3142"/>
                        </a:solidFill>
                      </a:rPr>
                      <a:t>AD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Sheet1!$D$2:$D$2</c:f>
              <c:numCache>
                <c:formatCode>0</c:formatCode>
                <c:ptCount val="1"/>
                <c:pt idx="0">
                  <c:v>54.78154199795679</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28</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Sheet1!$E$2:$E$2</c:f>
              <c:numCache>
                <c:formatCode>0</c:formatCode>
                <c:ptCount val="1"/>
                <c:pt idx="0">
                  <c:v>28.215704725426967</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84 </a:t>
                    </a:r>
                    <a:r>
                      <a:rPr lang="en-US" b="1" sz="900">
                        <a:solidFill>
                          <a:srgbClr val="2D3142"/>
                        </a:solidFill>
                      </a:rPr>
                      <a:t>ACD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Sheet1!$A$2:$A$2</c:f>
              <c:strCache>
                <c:ptCount val="1"/>
                <c:pt idx="0">
                  <c:v>Yes</c:v>
                </c:pt>
              </c:strCache>
            </c:strRef>
          </c:cat>
          <c:val>
            <c:numRef>
              <c:f>Sheet1!$F$2:$F$2</c:f>
              <c:numCache>
                <c:formatCode>0</c:formatCode>
                <c:ptCount val="1"/>
                <c:pt idx="0">
                  <c:v>84.00583631693956</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Not at all important</c:v>
                </c:pt>
              </c:strCache>
            </c:strRef>
          </c:tx>
          <c:spPr>
            <a:solidFill>
              <a:srgbClr val="F7D8C0"/>
            </a:solidFill>
          </c:spPr>
          <c:dLbls>
            <c:dLbl>
              <c:idx val="0"/>
              <c:tx>
                <c:rich>
                  <a:bodyPr/>
                  <a:lstStyle/>
                  <a:p>
                    <a:r>
                      <a:rPr lang="en-US" b="1" sz="800">
                        <a:solidFill>
                          <a:srgbClr val="2D3142"/>
                        </a:solidFill>
                      </a:rPr>
                      <a:t>8 </a:t>
                    </a:r>
                    <a:r>
                      <a:rPr lang="en-US" b="1" sz="900">
                        <a:solidFill>
                          <a:srgbClr val="2D3142"/>
                        </a:solidFill>
                      </a:rPr>
                      <a:t>BDE</a:t>
                    </a:r>
                  </a:p>
                </c:rich>
              </c:tx>
              <c:showLegendKey val="0"/>
              <c:showVal val="0"/>
              <c:showCatName val="0"/>
              <c:showSerName val="0"/>
              <c:showPercent val="0"/>
              <c:showBubbleSize val="0"/>
            </c:dLbl>
            <c:dLbl>
              <c:idx val="1"/>
              <c:tx>
                <c:rich>
                  <a:bodyPr/>
                  <a:lstStyle/>
                  <a:p>
                    <a:r>
                      <a:rPr lang="en-US" b="1" sz="800">
                        <a:solidFill>
                          <a:srgbClr val="2D3142"/>
                        </a:solidFill>
                      </a:rPr>
                      <a:t>6 </a:t>
                    </a:r>
                    <a:r>
                      <a:rPr lang="en-US" b="1" sz="900">
                        <a:solidFill>
                          <a:srgbClr val="2D3142"/>
                        </a:solidFill>
                      </a:rPr>
                      <a:t>E</a:t>
                    </a:r>
                  </a:p>
                </c:rich>
              </c:tx>
              <c:showLegendKey val="0"/>
              <c:showVal val="0"/>
              <c:showCatName val="0"/>
              <c:showSerName val="0"/>
              <c:showPercent val="0"/>
              <c:showBubbleSize val="0"/>
            </c:dLbl>
            <c:dLbl>
              <c:idx val="2"/>
              <c:tx>
                <c:rich>
                  <a:bodyPr/>
                  <a:lstStyle/>
                  <a:p>
                    <a:r>
                      <a:rPr lang="en-US" b="1" sz="800">
                        <a:solidFill>
                          <a:srgbClr val="2D3142"/>
                        </a:solidFill>
                      </a:rPr>
                      <a:t>19 </a:t>
                    </a:r>
                    <a:r>
                      <a:rPr lang="en-US" b="1" sz="900">
                        <a:solidFill>
                          <a:srgbClr val="2D3142"/>
                        </a:solidFill>
                      </a:rPr>
                      <a:t>ABDE</a:t>
                    </a:r>
                  </a:p>
                </c:rich>
              </c:tx>
              <c:showLegendKey val="0"/>
              <c:showVal val="0"/>
              <c:showCatName val="0"/>
              <c:showSerName val="0"/>
              <c:showPercent val="0"/>
              <c:showBubbleSize val="0"/>
            </c:dLbl>
            <c:dLbl>
              <c:idx val="3"/>
              <c:tx>
                <c:rich>
                  <a:bodyPr/>
                  <a:lstStyle/>
                  <a:p>
                    <a:r>
                      <a:rPr lang="en-US" b="1" sz="800">
                        <a:solidFill>
                          <a:srgbClr val="2D3142"/>
                        </a:solidFill>
                      </a:rPr>
                      <a:t>5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8.43390954895718</c:v>
                </c:pt>
                <c:pt idx="1">
                  <c:v>5.6046864131644725</c:v>
                </c:pt>
                <c:pt idx="2">
                  <c:v>18.994953001472865</c:v>
                </c:pt>
                <c:pt idx="3">
                  <c:v>5.413848717010406</c:v>
                </c:pt>
                <c:pt idx="4">
                  <c:v>0.9459185146130132</c:v>
                </c:pt>
              </c:numCache>
            </c:numRef>
          </c:val>
        </c:ser>
        <c:ser>
          <c:idx val="1"/>
          <c:order val="1"/>
          <c:tx>
            <c:strRef>
              <c:f>Sheet1!$C$1</c:f>
              <c:strCache>
                <c:ptCount val="1"/>
                <c:pt idx="0">
                  <c:v>Not very important</c:v>
                </c:pt>
              </c:strCache>
            </c:strRef>
          </c:tx>
          <c:spPr>
            <a:solidFill>
              <a:srgbClr val="F4BF9A"/>
            </a:solidFill>
          </c:spPr>
          <c:dLbls>
            <c:dLbl>
              <c:idx val="0"/>
              <c:tx>
                <c:rich>
                  <a:bodyPr/>
                  <a:lstStyle/>
                  <a:p>
                    <a:r>
                      <a:rPr lang="en-US" b="1" sz="800">
                        <a:solidFill>
                          <a:srgbClr val="2D3142"/>
                        </a:solidFill>
                      </a:rPr>
                      <a:t>22 </a:t>
                    </a:r>
                    <a:r>
                      <a:rPr lang="en-US" b="1" sz="900">
                        <a:solidFill>
                          <a:srgbClr val="2D3142"/>
                        </a:solidFill>
                      </a:rPr>
                      <a:t>E</a:t>
                    </a:r>
                  </a:p>
                </c:rich>
              </c:tx>
              <c:showLegendKey val="0"/>
              <c:showVal val="0"/>
              <c:showCatName val="0"/>
              <c:showSerName val="0"/>
              <c:showPercent val="0"/>
              <c:showBubbleSize val="0"/>
            </c:dLbl>
            <c:dLbl>
              <c:idx val="1"/>
              <c:tx>
                <c:rich>
                  <a:bodyPr/>
                  <a:lstStyle/>
                  <a:p>
                    <a:r>
                      <a:rPr lang="en-US" b="1" sz="800">
                        <a:solidFill>
                          <a:srgbClr val="2D3142"/>
                        </a:solidFill>
                      </a:rPr>
                      <a:t>23 </a:t>
                    </a:r>
                    <a:r>
                      <a:rPr lang="en-US" b="1" sz="900">
                        <a:solidFill>
                          <a:srgbClr val="2D3142"/>
                        </a:solidFill>
                      </a:rPr>
                      <a:t>E</a:t>
                    </a:r>
                  </a:p>
                </c:rich>
              </c:tx>
              <c:showLegendKey val="0"/>
              <c:showVal val="0"/>
              <c:showCatName val="0"/>
              <c:showSerName val="0"/>
              <c:showPercent val="0"/>
              <c:showBubbleSize val="0"/>
            </c:dLbl>
            <c:dLbl>
              <c:idx val="2"/>
              <c:tx>
                <c:rich>
                  <a:bodyPr/>
                  <a:lstStyle/>
                  <a:p>
                    <a:r>
                      <a:rPr lang="en-US" b="1" sz="800">
                        <a:solidFill>
                          <a:srgbClr val="2D3142"/>
                        </a:solidFill>
                      </a:rPr>
                      <a:t>25 </a:t>
                    </a:r>
                    <a:r>
                      <a:rPr lang="en-US" b="1" sz="900">
                        <a:solidFill>
                          <a:srgbClr val="2D3142"/>
                        </a:solidFill>
                      </a:rPr>
                      <a:t>Ea</a:t>
                    </a:r>
                  </a:p>
                </c:rich>
              </c:tx>
              <c:showLegendKey val="0"/>
              <c:showVal val="0"/>
              <c:showCatName val="0"/>
              <c:showSerName val="0"/>
              <c:showPercent val="0"/>
              <c:showBubbleSize val="0"/>
            </c:dLbl>
            <c:dLbl>
              <c:idx val="3"/>
              <c:tx>
                <c:rich>
                  <a:bodyPr/>
                  <a:lstStyle/>
                  <a:p>
                    <a:r>
                      <a:rPr lang="en-US" b="1" sz="800">
                        <a:solidFill>
                          <a:srgbClr val="2D3142"/>
                        </a:solidFill>
                      </a:rPr>
                      <a:t>23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21.979514880406334</c:v>
                </c:pt>
                <c:pt idx="1">
                  <c:v>22.503844526024153</c:v>
                </c:pt>
                <c:pt idx="2">
                  <c:v>25.16361104875106</c:v>
                </c:pt>
                <c:pt idx="3">
                  <c:v>22.95220740433863</c:v>
                </c:pt>
                <c:pt idx="4">
                  <c:v>6.818683944432117</c:v>
                </c:pt>
              </c:numCache>
            </c:numRef>
          </c:val>
        </c:ser>
        <c:ser>
          <c:idx val="2"/>
          <c:order val="2"/>
          <c:tx>
            <c:strRef>
              <c:f>Sheet1!$D$1</c:f>
              <c:strCache>
                <c:ptCount val="1"/>
                <c:pt idx="0">
                  <c:v>Somewhat important</c:v>
                </c:pt>
              </c:strCache>
            </c:strRef>
          </c:tx>
          <c:spPr>
            <a:solidFill>
              <a:srgbClr val="F0A060"/>
            </a:solidFill>
          </c:spPr>
          <c:dLbls>
            <c:dLbl>
              <c:idx val="0"/>
              <c:tx>
                <c:rich>
                  <a:bodyPr/>
                  <a:lstStyle/>
                  <a:p>
                    <a:r>
                      <a:rPr lang="en-US" b="1" sz="800">
                        <a:solidFill>
                          <a:srgbClr val="FFFFFF"/>
                        </a:solidFill>
                      </a:rPr>
                      <a:t>42 </a:t>
                    </a:r>
                    <a:r>
                      <a:rPr lang="en-US" b="1" sz="900">
                        <a:solidFill>
                          <a:srgbClr val="FFFFFF"/>
                        </a:solidFill>
                      </a:rPr>
                      <a:t>E</a:t>
                    </a:r>
                  </a:p>
                </c:rich>
              </c:tx>
              <c:showLegendKey val="0"/>
              <c:showVal val="0"/>
              <c:showCatName val="0"/>
              <c:showSerName val="0"/>
              <c:showPercent val="0"/>
              <c:showBubbleSize val="0"/>
            </c:dLbl>
            <c:dLbl>
              <c:idx val="1"/>
              <c:tx>
                <c:rich>
                  <a:bodyPr/>
                  <a:lstStyle/>
                  <a:p>
                    <a:r>
                      <a:rPr lang="en-US" b="1" sz="800">
                        <a:solidFill>
                          <a:srgbClr val="FFFFFF"/>
                        </a:solidFill>
                      </a:rPr>
                      <a:t>54 </a:t>
                    </a:r>
                    <a:r>
                      <a:rPr lang="en-US" b="1" sz="900">
                        <a:solidFill>
                          <a:srgbClr val="FFFFFF"/>
                        </a:solidFill>
                      </a:rPr>
                      <a:t>ACDE</a:t>
                    </a:r>
                  </a:p>
                </c:rich>
              </c:tx>
              <c:showLegendKey val="0"/>
              <c:showVal val="0"/>
              <c:showCatName val="0"/>
              <c:showSerName val="0"/>
              <c:showPercent val="0"/>
              <c:showBubbleSize val="0"/>
            </c:dLbl>
            <c:dLbl>
              <c:idx val="2"/>
              <c:tx>
                <c:rich>
                  <a:bodyPr/>
                  <a:lstStyle/>
                  <a:p>
                    <a:r>
                      <a:rPr lang="en-US" b="1" sz="800">
                        <a:solidFill>
                          <a:srgbClr val="FFFFFF"/>
                        </a:solidFill>
                      </a:rPr>
                      <a:t>40 </a:t>
                    </a:r>
                    <a:r>
                      <a:rPr lang="en-US" b="1" sz="900">
                        <a:solidFill>
                          <a:srgbClr val="FFFFFF"/>
                        </a:solidFill>
                      </a:rPr>
                      <a:t>E</a:t>
                    </a:r>
                  </a:p>
                </c:rich>
              </c:tx>
              <c:showLegendKey val="0"/>
              <c:showVal val="0"/>
              <c:showCatName val="0"/>
              <c:showSerName val="0"/>
              <c:showPercent val="0"/>
              <c:showBubbleSize val="0"/>
            </c:dLbl>
            <c:dLbl>
              <c:idx val="3"/>
              <c:tx>
                <c:rich>
                  <a:bodyPr/>
                  <a:lstStyle/>
                  <a:p>
                    <a:r>
                      <a:rPr lang="en-US" b="1" sz="800">
                        <a:solidFill>
                          <a:srgbClr val="FFFFFF"/>
                        </a:solidFill>
                      </a:rPr>
                      <a:t>44 </a:t>
                    </a:r>
                    <a:r>
                      <a:rPr lang="en-US" b="1" sz="900">
                        <a:solidFill>
                          <a:srgbClr val="FFFFFF"/>
                        </a:solidFill>
                      </a:rPr>
                      <a:t>CE</a:t>
                    </a:r>
                  </a:p>
                </c:rich>
              </c:tx>
              <c:showLegendKey val="0"/>
              <c:showVal val="0"/>
              <c:showCatName val="0"/>
              <c:showSerName val="0"/>
              <c:showPercent val="0"/>
              <c:showBubbleSize val="0"/>
            </c:dLbl>
            <c:dLbl>
              <c:idx val="4"/>
              <c:tx>
                <c:rich>
                  <a:bodyPr/>
                  <a:lstStyle/>
                  <a:p>
                    <a:r>
                      <a:rPr lang="en-US" b="1" sz="800">
                        <a:solidFill>
                          <a:srgbClr val="FFFFFF"/>
                        </a:solidFill>
                      </a:rPr>
                      <a:t>23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41.61805450545529</c:v>
                </c:pt>
                <c:pt idx="1">
                  <c:v>53.77494378533515</c:v>
                </c:pt>
                <c:pt idx="2">
                  <c:v>40.26567616594096</c:v>
                </c:pt>
                <c:pt idx="3">
                  <c:v>44.059565799031766</c:v>
                </c:pt>
                <c:pt idx="4">
                  <c:v>23.271038868252635</c:v>
                </c:pt>
              </c:numCache>
            </c:numRef>
          </c:val>
        </c:ser>
        <c:ser>
          <c:idx val="3"/>
          <c:order val="3"/>
          <c:tx>
            <c:strRef>
              <c:f>Sheet1!$E$1</c:f>
              <c:strCache>
                <c:ptCount val="1"/>
                <c:pt idx="0">
                  <c:v>Very important</c:v>
                </c:pt>
              </c:strCache>
            </c:strRef>
          </c:tx>
          <c:spPr>
            <a:solidFill>
              <a:srgbClr val="F07B20"/>
            </a:solidFill>
          </c:spPr>
          <c:dLbls>
            <c:dLbl>
              <c:idx val="0"/>
              <c:tx>
                <c:rich>
                  <a:bodyPr/>
                  <a:lstStyle/>
                  <a:p>
                    <a:r>
                      <a:rPr lang="en-US" b="1" sz="800">
                        <a:solidFill>
                          <a:srgbClr val="FFFFFF"/>
                        </a:solidFill>
                      </a:rPr>
                      <a:t>27 </a:t>
                    </a:r>
                    <a:r>
                      <a:rPr lang="en-US" b="1" sz="900">
                        <a:solidFill>
                          <a:srgbClr val="FFFFFF"/>
                        </a:solidFill>
                      </a:rPr>
                      <a:t>BC</a:t>
                    </a:r>
                  </a:p>
                </c:rich>
              </c:tx>
              <c:showLegendKey val="0"/>
              <c:showVal val="0"/>
              <c:showCatName val="0"/>
              <c:showSerName val="0"/>
              <c:showPercent val="0"/>
              <c:showBubbleSize val="0"/>
            </c:dLbl>
            <c:dLbl>
              <c:idx val="1"/>
              <c:tx>
                <c:rich>
                  <a:bodyPr/>
                  <a:lstStyle/>
                  <a:p>
                    <a:r>
                      <a:rPr lang="en-US" b="1" sz="800">
                        <a:solidFill>
                          <a:srgbClr val="FFFFFF"/>
                        </a:solidFill>
                      </a:rPr>
                      <a:t>17 </a:t>
                    </a:r>
                    <a:r>
                      <a:rPr lang="en-US" b="1" sz="900">
                        <a:solidFill>
                          <a:srgbClr val="FFFFFF"/>
                        </a:solidFill>
                      </a:rPr>
                      <a:t>C</a:t>
                    </a:r>
                  </a:p>
                </c:rich>
              </c:tx>
              <c:showLegendKey val="0"/>
              <c:showVal val="0"/>
              <c:showCatName val="0"/>
              <c:showSerName val="0"/>
              <c:showPercent val="0"/>
              <c:showBubbleSize val="0"/>
            </c:dLbl>
            <c:dLbl>
              <c:idx val="2"/>
              <c:tx>
                <c:rich>
                  <a:bodyPr/>
                  <a:lstStyle/>
                  <a:p>
                    <a:r>
                      <a:rPr lang="en-US" b="1" sz="800">
                        <a:solidFill>
                          <a:srgbClr val="FFFFFF"/>
                        </a:solidFill>
                      </a:rPr>
                      <a:t>15</a:t>
                    </a:r>
                  </a:p>
                </c:rich>
              </c:tx>
              <c:showLegendKey val="0"/>
              <c:showVal val="0"/>
              <c:showCatName val="0"/>
              <c:showSerName val="0"/>
              <c:showPercent val="0"/>
              <c:showBubbleSize val="0"/>
            </c:dLbl>
            <c:dLbl>
              <c:idx val="3"/>
              <c:tx>
                <c:rich>
                  <a:bodyPr/>
                  <a:lstStyle/>
                  <a:p>
                    <a:r>
                      <a:rPr lang="en-US" b="1" sz="800">
                        <a:solidFill>
                          <a:srgbClr val="FFFFFF"/>
                        </a:solidFill>
                      </a:rPr>
                      <a:t>26 </a:t>
                    </a:r>
                    <a:r>
                      <a:rPr lang="en-US" b="1" sz="900">
                        <a:solidFill>
                          <a:srgbClr val="FFFFFF"/>
                        </a:solidFill>
                      </a:rPr>
                      <a:t>BC</a:t>
                    </a:r>
                  </a:p>
                </c:rich>
              </c:tx>
              <c:showLegendKey val="0"/>
              <c:showVal val="0"/>
              <c:showCatName val="0"/>
              <c:showSerName val="0"/>
              <c:showPercent val="0"/>
              <c:showBubbleSize val="0"/>
            </c:dLbl>
            <c:dLbl>
              <c:idx val="4"/>
              <c:tx>
                <c:rich>
                  <a:bodyPr/>
                  <a:lstStyle/>
                  <a:p>
                    <a:r>
                      <a:rPr lang="en-US" b="1" sz="800">
                        <a:solidFill>
                          <a:srgbClr val="FFFFFF"/>
                        </a:solidFill>
                      </a:rPr>
                      <a:t>68 </a:t>
                    </a:r>
                    <a:r>
                      <a:rPr lang="en-US" b="1" sz="900">
                        <a:solidFill>
                          <a:srgbClr val="FFFFFF"/>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27.49333564288767</c:v>
                </c:pt>
                <c:pt idx="1">
                  <c:v>17.396339723001653</c:v>
                </c:pt>
                <c:pt idx="2">
                  <c:v>14.525237775662664</c:v>
                </c:pt>
                <c:pt idx="3">
                  <c:v>25.675263787264573</c:v>
                </c:pt>
                <c:pt idx="4">
                  <c:v>68.08028745497342</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Never</c:v>
                </c:pt>
              </c:strCache>
            </c:strRef>
          </c:tx>
          <c:spPr>
            <a:solidFill>
              <a:srgbClr val="F7D8C0"/>
            </a:solidFill>
          </c:spPr>
          <c:dLbls>
            <c:dLbl>
              <c:idx val="0"/>
              <c:tx>
                <c:rich>
                  <a:bodyPr/>
                  <a:lstStyle/>
                  <a:p>
                    <a:r>
                      <a:rPr lang="en-US" b="1" sz="800">
                        <a:solidFill>
                          <a:srgbClr val="2D3142"/>
                        </a:solidFill>
                      </a:rPr>
                      <a:t>6 </a:t>
                    </a:r>
                    <a:r>
                      <a:rPr lang="en-US" b="1" sz="900">
                        <a:solidFill>
                          <a:srgbClr val="2D3142"/>
                        </a:solidFill>
                      </a:rPr>
                      <a:t>E</a:t>
                    </a:r>
                  </a:p>
                </c:rich>
              </c:tx>
              <c:showLegendKey val="0"/>
              <c:showVal val="0"/>
              <c:showCatName val="0"/>
              <c:showSerName val="0"/>
              <c:showPercent val="0"/>
              <c:showBubbleSize val="0"/>
            </c:dLbl>
            <c:dLbl>
              <c:idx val="1"/>
              <c:tx>
                <c:rich>
                  <a:bodyPr/>
                  <a:lstStyle/>
                  <a:p>
                    <a:r>
                      <a:rPr lang="en-US" b="1" sz="800">
                        <a:solidFill>
                          <a:srgbClr val="2D3142"/>
                        </a:solidFill>
                      </a:rPr>
                      <a:t>6 </a:t>
                    </a:r>
                    <a:r>
                      <a:rPr lang="en-US" b="1" sz="900">
                        <a:solidFill>
                          <a:srgbClr val="2D3142"/>
                        </a:solidFill>
                      </a:rPr>
                      <a:t>E</a:t>
                    </a:r>
                  </a:p>
                </c:rich>
              </c:tx>
              <c:showLegendKey val="0"/>
              <c:showVal val="0"/>
              <c:showCatName val="0"/>
              <c:showSerName val="0"/>
              <c:showPercent val="0"/>
              <c:showBubbleSize val="0"/>
            </c:dLbl>
            <c:dLbl>
              <c:idx val="2"/>
              <c:tx>
                <c:rich>
                  <a:bodyPr/>
                  <a:lstStyle/>
                  <a:p>
                    <a:r>
                      <a:rPr lang="en-US" b="1" sz="800">
                        <a:solidFill>
                          <a:srgbClr val="2D3142"/>
                        </a:solidFill>
                      </a:rPr>
                      <a:t>6 </a:t>
                    </a:r>
                    <a:r>
                      <a:rPr lang="en-US" b="1" sz="900">
                        <a:solidFill>
                          <a:srgbClr val="2D3142"/>
                        </a:solidFill>
                      </a:rPr>
                      <a:t>E</a:t>
                    </a:r>
                  </a:p>
                </c:rich>
              </c:tx>
              <c:showLegendKey val="0"/>
              <c:showVal val="0"/>
              <c:showCatName val="0"/>
              <c:showSerName val="0"/>
              <c:showPercent val="0"/>
              <c:showBubbleSize val="0"/>
            </c:dLbl>
            <c:dLbl>
              <c:idx val="3"/>
              <c:tx>
                <c:rich>
                  <a:bodyPr/>
                  <a:lstStyle/>
                  <a:p>
                    <a:r>
                      <a:rPr lang="en-US" b="1" sz="800">
                        <a:solidFill>
                          <a:srgbClr val="2D3142"/>
                        </a:solidFill>
                      </a:rPr>
                      <a:t>5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6.368055011644236</c:v>
                </c:pt>
                <c:pt idx="1">
                  <c:v>6.051321676014398</c:v>
                </c:pt>
                <c:pt idx="2">
                  <c:v>6.07536844416761</c:v>
                </c:pt>
                <c:pt idx="3">
                  <c:v>4.6523237137350515</c:v>
                </c:pt>
                <c:pt idx="4">
                  <c:v>0.8888100013942981</c:v>
                </c:pt>
              </c:numCache>
            </c:numRef>
          </c:val>
        </c:ser>
        <c:ser>
          <c:idx val="1"/>
          <c:order val="1"/>
          <c:tx>
            <c:strRef>
              <c:f>Sheet1!$C$1</c:f>
              <c:strCache>
                <c:ptCount val="1"/>
                <c:pt idx="0">
                  <c:v>Less often than that</c:v>
                </c:pt>
              </c:strCache>
            </c:strRef>
          </c:tx>
          <c:spPr>
            <a:solidFill>
              <a:srgbClr val="F4BF9A"/>
            </a:solidFill>
          </c:spPr>
          <c:dLbls>
            <c:dLbl>
              <c:idx val="0"/>
              <c:tx>
                <c:rich>
                  <a:bodyPr/>
                  <a:lstStyle/>
                  <a:p>
                    <a:r>
                      <a:rPr lang="en-US" b="1" sz="800">
                        <a:solidFill>
                          <a:srgbClr val="2D3142"/>
                        </a:solidFill>
                      </a:rPr>
                      <a:t>14 </a:t>
                    </a:r>
                    <a:r>
                      <a:rPr lang="en-US" b="1" sz="900">
                        <a:solidFill>
                          <a:srgbClr val="2D3142"/>
                        </a:solidFill>
                      </a:rPr>
                      <a:t>DEb</a:t>
                    </a:r>
                  </a:p>
                </c:rich>
              </c:tx>
              <c:showLegendKey val="0"/>
              <c:showVal val="0"/>
              <c:showCatName val="0"/>
              <c:showSerName val="0"/>
              <c:showPercent val="0"/>
              <c:showBubbleSize val="0"/>
            </c:dLbl>
            <c:dLbl>
              <c:idx val="1"/>
              <c:tx>
                <c:rich>
                  <a:bodyPr/>
                  <a:lstStyle/>
                  <a:p>
                    <a:r>
                      <a:rPr lang="en-US" b="1" sz="800">
                        <a:solidFill>
                          <a:srgbClr val="2D3142"/>
                        </a:solidFill>
                      </a:rPr>
                      <a:t>11 </a:t>
                    </a:r>
                    <a:r>
                      <a:rPr lang="en-US" b="1" sz="900">
                        <a:solidFill>
                          <a:srgbClr val="2D3142"/>
                        </a:solidFill>
                      </a:rPr>
                      <a:t>E</a:t>
                    </a:r>
                  </a:p>
                </c:rich>
              </c:tx>
              <c:showLegendKey val="0"/>
              <c:showVal val="0"/>
              <c:showCatName val="0"/>
              <c:showSerName val="0"/>
              <c:showPercent val="0"/>
              <c:showBubbleSize val="0"/>
            </c:dLbl>
            <c:dLbl>
              <c:idx val="2"/>
              <c:tx>
                <c:rich>
                  <a:bodyPr/>
                  <a:lstStyle/>
                  <a:p>
                    <a:r>
                      <a:rPr lang="en-US" b="1" sz="800">
                        <a:solidFill>
                          <a:srgbClr val="2D3142"/>
                        </a:solidFill>
                      </a:rPr>
                      <a:t>11 </a:t>
                    </a:r>
                    <a:r>
                      <a:rPr lang="en-US" b="1" sz="900">
                        <a:solidFill>
                          <a:srgbClr val="2D3142"/>
                        </a:solidFill>
                      </a:rPr>
                      <a:t>E</a:t>
                    </a:r>
                  </a:p>
                </c:rich>
              </c:tx>
              <c:showLegendKey val="0"/>
              <c:showVal val="0"/>
              <c:showCatName val="0"/>
              <c:showSerName val="0"/>
              <c:showPercent val="0"/>
              <c:showBubbleSize val="0"/>
            </c:dLbl>
            <c:dLbl>
              <c:idx val="3"/>
              <c:tx>
                <c:rich>
                  <a:bodyPr/>
                  <a:lstStyle/>
                  <a:p>
                    <a:r>
                      <a:rPr lang="en-US" b="1" sz="800">
                        <a:solidFill>
                          <a:srgbClr val="2D3142"/>
                        </a:solidFill>
                      </a:rPr>
                      <a:t>9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5</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14.354107178554548</c:v>
                </c:pt>
                <c:pt idx="1">
                  <c:v>10.532908214946309</c:v>
                </c:pt>
                <c:pt idx="2">
                  <c:v>10.906951936204399</c:v>
                </c:pt>
                <c:pt idx="3">
                  <c:v>8.708959310278583</c:v>
                </c:pt>
                <c:pt idx="4">
                  <c:v>5.078447746526275</c:v>
                </c:pt>
              </c:numCache>
            </c:numRef>
          </c:val>
        </c:ser>
        <c:ser>
          <c:idx val="2"/>
          <c:order val="2"/>
          <c:tx>
            <c:strRef>
              <c:f>Sheet1!$D$1</c:f>
              <c:strCache>
                <c:ptCount val="1"/>
                <c:pt idx="0">
                  <c:v>Once a year</c:v>
                </c:pt>
              </c:strCache>
            </c:strRef>
          </c:tx>
          <c:spPr>
            <a:solidFill>
              <a:srgbClr val="F0A060"/>
            </a:solidFill>
          </c:spPr>
          <c:dLbls>
            <c:dLbl>
              <c:idx val="0"/>
              <c:tx>
                <c:rich>
                  <a:bodyPr/>
                  <a:lstStyle/>
                  <a:p>
                    <a:r>
                      <a:rPr lang="en-US" b="1" sz="800">
                        <a:solidFill>
                          <a:srgbClr val="FFFFFF"/>
                        </a:solidFill>
                      </a:rPr>
                      <a:t>54 </a:t>
                    </a:r>
                    <a:r>
                      <a:rPr lang="en-US" b="1" sz="900">
                        <a:solidFill>
                          <a:srgbClr val="FFFFFF"/>
                        </a:solidFill>
                      </a:rPr>
                      <a:t>BCE</a:t>
                    </a:r>
                  </a:p>
                </c:rich>
              </c:tx>
              <c:showLegendKey val="0"/>
              <c:showVal val="0"/>
              <c:showCatName val="0"/>
              <c:showSerName val="0"/>
              <c:showPercent val="0"/>
              <c:showBubbleSize val="0"/>
            </c:dLbl>
            <c:dLbl>
              <c:idx val="1"/>
              <c:tx>
                <c:rich>
                  <a:bodyPr/>
                  <a:lstStyle/>
                  <a:p>
                    <a:r>
                      <a:rPr lang="en-US" b="1" sz="800">
                        <a:solidFill>
                          <a:srgbClr val="FFFFFF"/>
                        </a:solidFill>
                      </a:rPr>
                      <a:t>25</a:t>
                    </a:r>
                  </a:p>
                </c:rich>
              </c:tx>
              <c:showLegendKey val="0"/>
              <c:showVal val="0"/>
              <c:showCatName val="0"/>
              <c:showSerName val="0"/>
              <c:showPercent val="0"/>
              <c:showBubbleSize val="0"/>
            </c:dLbl>
            <c:dLbl>
              <c:idx val="2"/>
              <c:tx>
                <c:rich>
                  <a:bodyPr/>
                  <a:lstStyle/>
                  <a:p>
                    <a:r>
                      <a:rPr lang="en-US" b="1" sz="800">
                        <a:solidFill>
                          <a:srgbClr val="FFFFFF"/>
                        </a:solidFill>
                      </a:rPr>
                      <a:t>23</a:t>
                    </a:r>
                  </a:p>
                </c:rich>
              </c:tx>
              <c:showLegendKey val="0"/>
              <c:showVal val="0"/>
              <c:showCatName val="0"/>
              <c:showSerName val="0"/>
              <c:showPercent val="0"/>
              <c:showBubbleSize val="0"/>
            </c:dLbl>
            <c:dLbl>
              <c:idx val="3"/>
              <c:tx>
                <c:rich>
                  <a:bodyPr/>
                  <a:lstStyle/>
                  <a:p>
                    <a:r>
                      <a:rPr lang="en-US" b="1" sz="800">
                        <a:solidFill>
                          <a:srgbClr val="FFFFFF"/>
                        </a:solidFill>
                      </a:rPr>
                      <a:t>69 </a:t>
                    </a:r>
                    <a:r>
                      <a:rPr lang="en-US" b="1" sz="900">
                        <a:solidFill>
                          <a:srgbClr val="FFFFFF"/>
                        </a:solidFill>
                      </a:rPr>
                      <a:t>ABCE</a:t>
                    </a:r>
                  </a:p>
                </c:rich>
              </c:tx>
              <c:showLegendKey val="0"/>
              <c:showVal val="0"/>
              <c:showCatName val="0"/>
              <c:showSerName val="0"/>
              <c:showPercent val="0"/>
              <c:showBubbleSize val="0"/>
            </c:dLbl>
            <c:dLbl>
              <c:idx val="4"/>
              <c:tx>
                <c:rich>
                  <a:bodyPr/>
                  <a:lstStyle/>
                  <a:p>
                    <a:r>
                      <a:rPr lang="en-US" b="1" sz="800">
                        <a:solidFill>
                          <a:srgbClr val="FFFFFF"/>
                        </a:solidFill>
                      </a:rPr>
                      <a:t>30 </a:t>
                    </a:r>
                    <a:r>
                      <a:rPr lang="en-US" b="1" sz="900">
                        <a:solidFill>
                          <a:srgbClr val="FFFFFF"/>
                        </a:solidFill>
                      </a:rPr>
                      <a:t>BC</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53.70614832117625</c:v>
                </c:pt>
                <c:pt idx="1">
                  <c:v>25.45534702299628</c:v>
                </c:pt>
                <c:pt idx="2">
                  <c:v>22.888250027262117</c:v>
                </c:pt>
                <c:pt idx="3">
                  <c:v>68.77782860582512</c:v>
                </c:pt>
                <c:pt idx="4">
                  <c:v>30.33849153361529</c:v>
                </c:pt>
              </c:numCache>
            </c:numRef>
          </c:val>
        </c:ser>
        <c:ser>
          <c:idx val="3"/>
          <c:order val="3"/>
          <c:tx>
            <c:strRef>
              <c:f>Sheet1!$E$1</c:f>
              <c:strCache>
                <c:ptCount val="1"/>
                <c:pt idx="0">
                  <c:v>A few times a year</c:v>
                </c:pt>
              </c:strCache>
            </c:strRef>
          </c:tx>
          <c:spPr>
            <a:solidFill>
              <a:srgbClr val="F07B20"/>
            </a:solidFill>
          </c:spPr>
          <c:dLbls>
            <c:dLbl>
              <c:idx val="0"/>
              <c:tx>
                <c:rich>
                  <a:bodyPr/>
                  <a:lstStyle/>
                  <a:p>
                    <a:r>
                      <a:rPr lang="en-US" b="1" sz="800">
                        <a:solidFill>
                          <a:srgbClr val="FFFFFF"/>
                        </a:solidFill>
                      </a:rPr>
                      <a:t>25 </a:t>
                    </a:r>
                    <a:r>
                      <a:rPr lang="en-US" b="1" sz="900">
                        <a:solidFill>
                          <a:srgbClr val="FFFFFF"/>
                        </a:solidFill>
                      </a:rPr>
                      <a:t>D</a:t>
                    </a:r>
                  </a:p>
                </c:rich>
              </c:tx>
              <c:showLegendKey val="0"/>
              <c:showVal val="0"/>
              <c:showCatName val="0"/>
              <c:showSerName val="0"/>
              <c:showPercent val="0"/>
              <c:showBubbleSize val="0"/>
            </c:dLbl>
            <c:dLbl>
              <c:idx val="1"/>
              <c:tx>
                <c:rich>
                  <a:bodyPr/>
                  <a:lstStyle/>
                  <a:p>
                    <a:r>
                      <a:rPr lang="en-US" b="1" sz="800">
                        <a:solidFill>
                          <a:srgbClr val="FFFFFF"/>
                        </a:solidFill>
                      </a:rPr>
                      <a:t>58 </a:t>
                    </a:r>
                    <a:r>
                      <a:rPr lang="en-US" b="1" sz="900">
                        <a:solidFill>
                          <a:srgbClr val="FFFFFF"/>
                        </a:solidFill>
                      </a:rPr>
                      <a:t>AD</a:t>
                    </a:r>
                  </a:p>
                </c:rich>
              </c:tx>
              <c:showLegendKey val="0"/>
              <c:showVal val="0"/>
              <c:showCatName val="0"/>
              <c:showSerName val="0"/>
              <c:showPercent val="0"/>
              <c:showBubbleSize val="0"/>
            </c:dLbl>
            <c:dLbl>
              <c:idx val="2"/>
              <c:tx>
                <c:rich>
                  <a:bodyPr/>
                  <a:lstStyle/>
                  <a:p>
                    <a:r>
                      <a:rPr lang="en-US" b="1" sz="800">
                        <a:solidFill>
                          <a:srgbClr val="FFFFFF"/>
                        </a:solidFill>
                      </a:rPr>
                      <a:t>60 </a:t>
                    </a:r>
                    <a:r>
                      <a:rPr lang="en-US" b="1" sz="900">
                        <a:solidFill>
                          <a:srgbClr val="FFFFFF"/>
                        </a:solidFill>
                      </a:rPr>
                      <a:t>AD</a:t>
                    </a:r>
                  </a:p>
                </c:rich>
              </c:tx>
              <c:showLegendKey val="0"/>
              <c:showVal val="0"/>
              <c:showCatName val="0"/>
              <c:showSerName val="0"/>
              <c:showPercent val="0"/>
              <c:showBubbleSize val="0"/>
            </c:dLbl>
            <c:dLbl>
              <c:idx val="3"/>
              <c:tx>
                <c:rich>
                  <a:bodyPr/>
                  <a:lstStyle/>
                  <a:p>
                    <a:r>
                      <a:rPr lang="en-US" b="1" sz="800">
                        <a:solidFill>
                          <a:srgbClr val="FFFFFF"/>
                        </a:solidFill>
                      </a:rPr>
                      <a:t>17</a:t>
                    </a:r>
                  </a:p>
                </c:rich>
              </c:tx>
              <c:showLegendKey val="0"/>
              <c:showVal val="0"/>
              <c:showCatName val="0"/>
              <c:showSerName val="0"/>
              <c:showPercent val="0"/>
              <c:showBubbleSize val="0"/>
            </c:dLbl>
            <c:dLbl>
              <c:idx val="4"/>
              <c:tx>
                <c:rich>
                  <a:bodyPr/>
                  <a:lstStyle/>
                  <a:p>
                    <a:r>
                      <a:rPr lang="en-US" b="1" sz="800">
                        <a:solidFill>
                          <a:srgbClr val="FFFFFF"/>
                        </a:solidFill>
                      </a:rPr>
                      <a:t>64 </a:t>
                    </a:r>
                    <a:r>
                      <a:rPr lang="en-US" b="1" sz="900">
                        <a:solidFill>
                          <a:srgbClr val="FFFFFF"/>
                        </a:solidFill>
                      </a:rPr>
                      <a:t>ABDc</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24.9</c:v>
                </c:pt>
                <c:pt idx="1">
                  <c:v>57.8</c:v>
                </c:pt>
                <c:pt idx="2">
                  <c:v>59.6</c:v>
                </c:pt>
                <c:pt idx="3">
                  <c:v>17.2</c:v>
                </c:pt>
                <c:pt idx="4">
                  <c:v>63.7</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48</a:t>
                    </a:r>
                  </a:p>
                </c:rich>
              </c:tx>
              <c:showLegendKey val="0"/>
              <c:showVal val="0"/>
              <c:showCatName val="0"/>
              <c:showSerName val="0"/>
              <c:showPercent val="0"/>
              <c:showBubbleSize val="0"/>
            </c:dLbl>
            <c:dLbl>
              <c:idx val="1"/>
              <c:tx>
                <c:rich>
                  <a:bodyPr/>
                  <a:lstStyle/>
                  <a:p>
                    <a:r>
                      <a:rPr lang="en-US" b="1" sz="900">
                        <a:solidFill>
                          <a:srgbClr val="2D3142"/>
                        </a:solidFill>
                      </a:rPr>
                      <a:t>58 </a:t>
                    </a:r>
                    <a:r>
                      <a:rPr lang="en-US" b="1" sz="900">
                        <a:solidFill>
                          <a:srgbClr val="2D3142"/>
                        </a:solidFill>
                      </a:rPr>
                      <a:t>CD</a:t>
                    </a:r>
                  </a:p>
                </c:rich>
              </c:tx>
              <c:showLegendKey val="0"/>
              <c:showVal val="0"/>
              <c:showCatName val="0"/>
              <c:showSerName val="0"/>
              <c:showPercent val="0"/>
              <c:showBubbleSize val="0"/>
            </c:dLbl>
            <c:dLbl>
              <c:idx val="2"/>
              <c:tx>
                <c:rich>
                  <a:bodyPr/>
                  <a:lstStyle/>
                  <a:p>
                    <a:r>
                      <a:rPr lang="en-US" b="1" sz="900">
                        <a:solidFill>
                          <a:srgbClr val="2D3142"/>
                        </a:solidFill>
                      </a:rPr>
                      <a:t>57 </a:t>
                    </a:r>
                    <a:r>
                      <a:rPr lang="en-US" b="1" sz="900">
                        <a:solidFill>
                          <a:srgbClr val="2D3142"/>
                        </a:solidFill>
                      </a:rPr>
                      <a:t>C</a:t>
                    </a:r>
                  </a:p>
                </c:rich>
              </c:tx>
              <c:showLegendKey val="0"/>
              <c:showVal val="0"/>
              <c:showCatName val="0"/>
              <c:showSerName val="0"/>
              <c:showPercent val="0"/>
              <c:showBubbleSize val="0"/>
            </c:dLbl>
            <c:dLbl>
              <c:idx val="3"/>
              <c:tx>
                <c:rich>
                  <a:bodyPr/>
                  <a:lstStyle/>
                  <a:p>
                    <a:r>
                      <a:rPr lang="en-US" b="1" sz="900">
                        <a:solidFill>
                          <a:srgbClr val="2D3142"/>
                        </a:solidFill>
                      </a:rPr>
                      <a:t>44 </a:t>
                    </a:r>
                    <a:r>
                      <a:rPr lang="en-US" b="1" sz="900">
                        <a:solidFill>
                          <a:srgbClr val="2D3142"/>
                        </a:solidFill>
                      </a:rPr>
                      <a:t>BC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Offered food, water or drinks</c:v>
                </c:pt>
                <c:pt idx="1">
                  <c:v>Offered flowers or lit candles</c:v>
                </c:pt>
                <c:pt idx="2">
                  <c:v>Burned incense</c:v>
                </c:pt>
                <c:pt idx="3">
                  <c:v>Offered money or other things they may need in the afterlife</c:v>
                </c:pt>
              </c:strCache>
            </c:strRef>
          </c:cat>
          <c:val>
            <c:numRef>
              <c:f>Sheet1!$B$2:$B$5</c:f>
              <c:numCache>
                <c:formatCode>0</c:formatCode>
                <c:ptCount val="4"/>
                <c:pt idx="0">
                  <c:v>47.80555264730506</c:v>
                </c:pt>
                <c:pt idx="1">
                  <c:v>57.88288338335168</c:v>
                </c:pt>
                <c:pt idx="2">
                  <c:v>56.95868125684556</c:v>
                </c:pt>
                <c:pt idx="3">
                  <c:v>44.27006206337718</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70 </a:t>
                    </a:r>
                    <a:r>
                      <a:rPr lang="en-US" b="1" sz="900">
                        <a:solidFill>
                          <a:srgbClr val="2D3142"/>
                        </a:solidFill>
                      </a:rPr>
                      <a:t>AC</a:t>
                    </a:r>
                  </a:p>
                </c:rich>
              </c:tx>
              <c:showLegendKey val="0"/>
              <c:showVal val="0"/>
              <c:showCatName val="0"/>
              <c:showSerName val="0"/>
              <c:showPercent val="0"/>
              <c:showBubbleSize val="0"/>
            </c:dLbl>
            <c:dLbl>
              <c:idx val="1"/>
              <c:tx>
                <c:rich>
                  <a:bodyPr/>
                  <a:lstStyle/>
                  <a:p>
                    <a:r>
                      <a:rPr lang="en-US" b="1" sz="900">
                        <a:solidFill>
                          <a:srgbClr val="2D3142"/>
                        </a:solidFill>
                      </a:rPr>
                      <a:t>78 </a:t>
                    </a:r>
                    <a:r>
                      <a:rPr lang="en-US" b="1" sz="900">
                        <a:solidFill>
                          <a:srgbClr val="2D3142"/>
                        </a:solidFill>
                      </a:rPr>
                      <a:t>ACD</a:t>
                    </a:r>
                  </a:p>
                </c:rich>
              </c:tx>
              <c:showLegendKey val="0"/>
              <c:showVal val="0"/>
              <c:showCatName val="0"/>
              <c:showSerName val="0"/>
              <c:showPercent val="0"/>
              <c:showBubbleSize val="0"/>
            </c:dLbl>
            <c:dLbl>
              <c:idx val="2"/>
              <c:tx>
                <c:rich>
                  <a:bodyPr/>
                  <a:lstStyle/>
                  <a:p>
                    <a:r>
                      <a:rPr lang="en-US" b="1" sz="900">
                        <a:solidFill>
                          <a:srgbClr val="2D3142"/>
                        </a:solidFill>
                      </a:rPr>
                      <a:t>79 </a:t>
                    </a:r>
                    <a:r>
                      <a:rPr lang="en-US" b="1" sz="900">
                        <a:solidFill>
                          <a:srgbClr val="2D3142"/>
                        </a:solidFill>
                      </a:rPr>
                      <a:t>AC</a:t>
                    </a:r>
                  </a:p>
                </c:rich>
              </c:tx>
              <c:showLegendKey val="0"/>
              <c:showVal val="0"/>
              <c:showCatName val="0"/>
              <c:showSerName val="0"/>
              <c:showPercent val="0"/>
              <c:showBubbleSize val="0"/>
            </c:dLbl>
            <c:dLbl>
              <c:idx val="3"/>
              <c:tx>
                <c:rich>
                  <a:bodyPr/>
                  <a:lstStyle/>
                  <a:p>
                    <a:r>
                      <a:rPr lang="en-US" b="1" sz="900">
                        <a:solidFill>
                          <a:srgbClr val="2D3142"/>
                        </a:solidFill>
                      </a:rPr>
                      <a:t>19 </a:t>
                    </a:r>
                    <a:r>
                      <a:rPr lang="en-US" b="1" sz="900">
                        <a:solidFill>
                          <a:srgbClr val="2D3142"/>
                        </a:solidFill>
                      </a:rPr>
                      <a:t>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Offered food, water or drinks</c:v>
                </c:pt>
                <c:pt idx="1">
                  <c:v>Offered flowers or lit candles</c:v>
                </c:pt>
                <c:pt idx="2">
                  <c:v>Burned incense</c:v>
                </c:pt>
                <c:pt idx="3">
                  <c:v>Offered money or other things they may need in the afterlife</c:v>
                </c:pt>
              </c:strCache>
            </c:strRef>
          </c:cat>
          <c:val>
            <c:numRef>
              <c:f>Sheet1!$C$2:$C$5</c:f>
              <c:numCache>
                <c:formatCode>0</c:formatCode>
                <c:ptCount val="4"/>
                <c:pt idx="0">
                  <c:v>70.43321812337399</c:v>
                </c:pt>
                <c:pt idx="1">
                  <c:v>77.93557954552712</c:v>
                </c:pt>
                <c:pt idx="2">
                  <c:v>79.43462460910966</c:v>
                </c:pt>
                <c:pt idx="3">
                  <c:v>18.961165494030716</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52 </a:t>
                    </a:r>
                    <a:r>
                      <a:rPr lang="en-US" b="1" sz="900">
                        <a:solidFill>
                          <a:srgbClr val="2D3142"/>
                        </a:solidFill>
                      </a:rPr>
                      <a:t>A</a:t>
                    </a:r>
                  </a:p>
                </c:rich>
              </c:tx>
              <c:showLegendKey val="0"/>
              <c:showVal val="0"/>
              <c:showCatName val="0"/>
              <c:showSerName val="0"/>
              <c:showPercent val="0"/>
              <c:showBubbleSize val="0"/>
            </c:dLbl>
            <c:dLbl>
              <c:idx val="1"/>
              <c:tx>
                <c:rich>
                  <a:bodyPr/>
                  <a:lstStyle/>
                  <a:p>
                    <a:r>
                      <a:rPr lang="en-US" b="1" sz="900">
                        <a:solidFill>
                          <a:srgbClr val="2D3142"/>
                        </a:solidFill>
                      </a:rPr>
                      <a:t>45</a:t>
                    </a:r>
                  </a:p>
                </c:rich>
              </c:tx>
              <c:showLegendKey val="0"/>
              <c:showVal val="0"/>
              <c:showCatName val="0"/>
              <c:showSerName val="0"/>
              <c:showPercent val="0"/>
              <c:showBubbleSize val="0"/>
            </c:dLbl>
            <c:dLbl>
              <c:idx val="2"/>
              <c:tx>
                <c:rich>
                  <a:bodyPr/>
                  <a:lstStyle/>
                  <a:p>
                    <a:r>
                      <a:rPr lang="en-US" b="1" sz="900">
                        <a:solidFill>
                          <a:srgbClr val="2D3142"/>
                        </a:solidFill>
                      </a:rPr>
                      <a:t>45</a:t>
                    </a:r>
                  </a:p>
                </c:rich>
              </c:tx>
              <c:showLegendKey val="0"/>
              <c:showVal val="0"/>
              <c:showCatName val="0"/>
              <c:showSerName val="0"/>
              <c:showPercent val="0"/>
              <c:showBubbleSize val="0"/>
            </c:dLbl>
            <c:dLbl>
              <c:idx val="3"/>
              <c:tx>
                <c:rich>
                  <a:bodyPr/>
                  <a:lstStyle/>
                  <a:p>
                    <a:r>
                      <a:rPr lang="en-US" b="1" sz="900">
                        <a:solidFill>
                          <a:srgbClr val="2D3142"/>
                        </a:solidFill>
                      </a:rPr>
                      <a:t>14</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Offered food, water or drinks</c:v>
                </c:pt>
                <c:pt idx="1">
                  <c:v>Offered flowers or lit candles</c:v>
                </c:pt>
                <c:pt idx="2">
                  <c:v>Burned incense</c:v>
                </c:pt>
                <c:pt idx="3">
                  <c:v>Offered money or other things they may need in the afterlife</c:v>
                </c:pt>
              </c:strCache>
            </c:strRef>
          </c:cat>
          <c:val>
            <c:numRef>
              <c:f>Sheet1!$D$2:$D$5</c:f>
              <c:numCache>
                <c:formatCode>0</c:formatCode>
                <c:ptCount val="4"/>
                <c:pt idx="0">
                  <c:v>52.41534229094723</c:v>
                </c:pt>
                <c:pt idx="1">
                  <c:v>45.06129895838992</c:v>
                </c:pt>
                <c:pt idx="2">
                  <c:v>45.33591773724705</c:v>
                </c:pt>
                <c:pt idx="3">
                  <c:v>13.746032093860231</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77 </a:t>
                    </a:r>
                    <a:r>
                      <a:rPr lang="en-US" b="1" sz="900">
                        <a:solidFill>
                          <a:srgbClr val="2D3142"/>
                        </a:solidFill>
                      </a:rPr>
                      <a:t>ABC</a:t>
                    </a:r>
                  </a:p>
                </c:rich>
              </c:tx>
              <c:showLegendKey val="0"/>
              <c:showVal val="0"/>
              <c:showCatName val="0"/>
              <c:showSerName val="0"/>
              <c:showPercent val="0"/>
              <c:showBubbleSize val="0"/>
            </c:dLbl>
            <c:dLbl>
              <c:idx val="1"/>
              <c:tx>
                <c:rich>
                  <a:bodyPr/>
                  <a:lstStyle/>
                  <a:p>
                    <a:r>
                      <a:rPr lang="en-US" b="1" sz="900">
                        <a:solidFill>
                          <a:srgbClr val="2D3142"/>
                        </a:solidFill>
                      </a:rPr>
                      <a:t>47</a:t>
                    </a:r>
                  </a:p>
                </c:rich>
              </c:tx>
              <c:showLegendKey val="0"/>
              <c:showVal val="0"/>
              <c:showCatName val="0"/>
              <c:showSerName val="0"/>
              <c:showPercent val="0"/>
              <c:showBubbleSize val="0"/>
            </c:dLbl>
            <c:dLbl>
              <c:idx val="2"/>
              <c:tx>
                <c:rich>
                  <a:bodyPr/>
                  <a:lstStyle/>
                  <a:p>
                    <a:r>
                      <a:rPr lang="en-US" b="1" sz="900">
                        <a:solidFill>
                          <a:srgbClr val="2D3142"/>
                        </a:solidFill>
                      </a:rPr>
                      <a:t>81 </a:t>
                    </a:r>
                    <a:r>
                      <a:rPr lang="en-US" b="1" sz="900">
                        <a:solidFill>
                          <a:srgbClr val="2D3142"/>
                        </a:solidFill>
                      </a:rPr>
                      <a:t>AC</a:t>
                    </a:r>
                  </a:p>
                </c:rich>
              </c:tx>
              <c:showLegendKey val="0"/>
              <c:showVal val="0"/>
              <c:showCatName val="0"/>
              <c:showSerName val="0"/>
              <c:showPercent val="0"/>
              <c:showBubbleSize val="0"/>
            </c:dLbl>
            <c:dLbl>
              <c:idx val="3"/>
              <c:tx>
                <c:rich>
                  <a:bodyPr/>
                  <a:lstStyle/>
                  <a:p>
                    <a:r>
                      <a:rPr lang="en-US" b="1" sz="900">
                        <a:solidFill>
                          <a:srgbClr val="2D3142"/>
                        </a:solidFill>
                      </a:rPr>
                      <a:t>70 </a:t>
                    </a:r>
                    <a:r>
                      <a:rPr lang="en-US" b="1" sz="900">
                        <a:solidFill>
                          <a:srgbClr val="2D3142"/>
                        </a:solidFill>
                      </a:rPr>
                      <a:t>ABC</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Offered food, water or drinks</c:v>
                </c:pt>
                <c:pt idx="1">
                  <c:v>Offered flowers or lit candles</c:v>
                </c:pt>
                <c:pt idx="2">
                  <c:v>Burned incense</c:v>
                </c:pt>
                <c:pt idx="3">
                  <c:v>Offered money or other things they may need in the afterlife</c:v>
                </c:pt>
              </c:strCache>
            </c:strRef>
          </c:cat>
          <c:val>
            <c:numRef>
              <c:f>Sheet1!$E$2:$E$5</c:f>
              <c:numCache>
                <c:formatCode>0</c:formatCode>
                <c:ptCount val="4"/>
                <c:pt idx="0">
                  <c:v>76.87607198263944</c:v>
                </c:pt>
                <c:pt idx="1">
                  <c:v>46.797662195469876</c:v>
                </c:pt>
                <c:pt idx="2">
                  <c:v>81.01204560838102</c:v>
                </c:pt>
                <c:pt idx="3">
                  <c:v>70.08625738541929</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86 </a:t>
                    </a:r>
                    <a:r>
                      <a:rPr lang="en-US" b="1" sz="900">
                        <a:solidFill>
                          <a:srgbClr val="2D3142"/>
                        </a:solidFill>
                      </a:rPr>
                      <a:t>ABCD</a:t>
                    </a:r>
                  </a:p>
                </c:rich>
              </c:tx>
              <c:showLegendKey val="0"/>
              <c:showVal val="0"/>
              <c:showCatName val="0"/>
              <c:showSerName val="0"/>
              <c:showPercent val="0"/>
              <c:showBubbleSize val="0"/>
            </c:dLbl>
            <c:dLbl>
              <c:idx val="1"/>
              <c:tx>
                <c:rich>
                  <a:bodyPr/>
                  <a:lstStyle/>
                  <a:p>
                    <a:r>
                      <a:rPr lang="en-US" b="1" sz="900">
                        <a:solidFill>
                          <a:srgbClr val="2D3142"/>
                        </a:solidFill>
                      </a:rPr>
                      <a:t>90 </a:t>
                    </a:r>
                    <a:r>
                      <a:rPr lang="en-US" b="1" sz="900">
                        <a:solidFill>
                          <a:srgbClr val="2D3142"/>
                        </a:solidFill>
                      </a:rPr>
                      <a:t>ABCD</a:t>
                    </a:r>
                  </a:p>
                </c:rich>
              </c:tx>
              <c:showLegendKey val="0"/>
              <c:showVal val="0"/>
              <c:showCatName val="0"/>
              <c:showSerName val="0"/>
              <c:showPercent val="0"/>
              <c:showBubbleSize val="0"/>
            </c:dLbl>
            <c:dLbl>
              <c:idx val="2"/>
              <c:tx>
                <c:rich>
                  <a:bodyPr/>
                  <a:lstStyle/>
                  <a:p>
                    <a:r>
                      <a:rPr lang="en-US" b="1" sz="900">
                        <a:solidFill>
                          <a:srgbClr val="2D3142"/>
                        </a:solidFill>
                      </a:rPr>
                      <a:t>96 </a:t>
                    </a:r>
                    <a:r>
                      <a:rPr lang="en-US" b="1" sz="900">
                        <a:solidFill>
                          <a:srgbClr val="2D3142"/>
                        </a:solidFill>
                      </a:rPr>
                      <a:t>ABCD</a:t>
                    </a:r>
                  </a:p>
                </c:rich>
              </c:tx>
              <c:showLegendKey val="0"/>
              <c:showVal val="0"/>
              <c:showCatName val="0"/>
              <c:showSerName val="0"/>
              <c:showPercent val="0"/>
              <c:showBubbleSize val="0"/>
            </c:dLbl>
            <c:dLbl>
              <c:idx val="3"/>
              <c:tx>
                <c:rich>
                  <a:bodyPr/>
                  <a:lstStyle/>
                  <a:p>
                    <a:r>
                      <a:rPr lang="en-US" b="1" sz="900">
                        <a:solidFill>
                          <a:srgbClr val="2D3142"/>
                        </a:solidFill>
                      </a:rPr>
                      <a:t>73 </a:t>
                    </a:r>
                    <a:r>
                      <a:rPr lang="en-US" b="1" sz="900">
                        <a:solidFill>
                          <a:srgbClr val="2D3142"/>
                        </a:solidFill>
                      </a:rPr>
                      <a:t>ABCD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Sheet1!$A$2:$A$5</c:f>
              <c:strCache>
                <c:ptCount val="4"/>
                <c:pt idx="0">
                  <c:v>Offered food, water or drinks</c:v>
                </c:pt>
                <c:pt idx="1">
                  <c:v>Offered flowers or lit candles</c:v>
                </c:pt>
                <c:pt idx="2">
                  <c:v>Burned incense</c:v>
                </c:pt>
                <c:pt idx="3">
                  <c:v>Offered money or other things they may need in the afterlife</c:v>
                </c:pt>
              </c:strCache>
            </c:strRef>
          </c:cat>
          <c:val>
            <c:numRef>
              <c:f>Sheet1!$F$2:$F$5</c:f>
              <c:numCache>
                <c:formatCode>0</c:formatCode>
                <c:ptCount val="4"/>
                <c:pt idx="0">
                  <c:v>85.58912956506299</c:v>
                </c:pt>
                <c:pt idx="1">
                  <c:v>90.30495179793326</c:v>
                </c:pt>
                <c:pt idx="2">
                  <c:v>96.33355576777166</c:v>
                </c:pt>
                <c:pt idx="3">
                  <c:v>73.49322088560264</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Yes</c:v>
                </c:pt>
              </c:strCache>
            </c:strRef>
          </c:tx>
          <c:spPr>
            <a:solidFill>
              <a:srgbClr val="F07B20"/>
            </a:solidFill>
          </c:spPr>
          <c:dLbls>
            <c:dLbl>
              <c:idx val="0"/>
              <c:tx>
                <c:rich>
                  <a:bodyPr/>
                  <a:lstStyle/>
                  <a:p>
                    <a:r>
                      <a:rPr lang="en-US" b="1" sz="900">
                        <a:solidFill>
                          <a:srgbClr val="2D3142"/>
                        </a:solidFill>
                      </a:rPr>
                      <a:t>26 </a:t>
                    </a:r>
                    <a:r>
                      <a:rPr lang="en-US" b="1" sz="900">
                        <a:solidFill>
                          <a:srgbClr val="2D3142"/>
                        </a:solidFill>
                      </a:rPr>
                      <a:t>C</a:t>
                    </a:r>
                  </a:p>
                </c:rich>
              </c:tx>
              <c:showLegendKey val="0"/>
              <c:showVal val="0"/>
              <c:showCatName val="0"/>
              <c:showSerName val="0"/>
              <c:showPercent val="0"/>
              <c:showBubbleSize val="0"/>
            </c:dLbl>
            <c:dLbl>
              <c:idx val="1"/>
              <c:tx>
                <c:rich>
                  <a:bodyPr/>
                  <a:lstStyle/>
                  <a:p>
                    <a:r>
                      <a:rPr lang="en-US" b="1" sz="900">
                        <a:solidFill>
                          <a:srgbClr val="2D3142"/>
                        </a:solidFill>
                      </a:rPr>
                      <a:t>37 </a:t>
                    </a:r>
                    <a:r>
                      <a:rPr lang="en-US" b="1" sz="900">
                        <a:solidFill>
                          <a:srgbClr val="2D3142"/>
                        </a:solidFill>
                      </a:rPr>
                      <a:t>AC</a:t>
                    </a:r>
                  </a:p>
                </c:rich>
              </c:tx>
              <c:showLegendKey val="0"/>
              <c:showVal val="0"/>
              <c:showCatName val="0"/>
              <c:showSerName val="0"/>
              <c:showPercent val="0"/>
              <c:showBubbleSize val="0"/>
            </c:dLbl>
            <c:dLbl>
              <c:idx val="2"/>
              <c:tx>
                <c:rich>
                  <a:bodyPr/>
                  <a:lstStyle/>
                  <a:p>
                    <a:r>
                      <a:rPr lang="en-US" b="1" sz="900">
                        <a:solidFill>
                          <a:srgbClr val="2D3142"/>
                        </a:solidFill>
                      </a:rPr>
                      <a:t>19</a:t>
                    </a:r>
                  </a:p>
                </c:rich>
              </c:tx>
              <c:showLegendKey val="0"/>
              <c:showVal val="0"/>
              <c:showCatName val="0"/>
              <c:showSerName val="0"/>
              <c:showPercent val="0"/>
              <c:showBubbleSize val="0"/>
            </c:dLbl>
            <c:dLbl>
              <c:idx val="3"/>
              <c:tx>
                <c:rich>
                  <a:bodyPr/>
                  <a:lstStyle/>
                  <a:p>
                    <a:r>
                      <a:rPr lang="en-US" b="1" sz="900">
                        <a:solidFill>
                          <a:srgbClr val="2D3142"/>
                        </a:solidFill>
                      </a:rPr>
                      <a:t>38 </a:t>
                    </a:r>
                    <a:r>
                      <a:rPr lang="en-US" b="1" sz="900">
                        <a:solidFill>
                          <a:srgbClr val="2D3142"/>
                        </a:solidFill>
                      </a:rPr>
                      <a:t>AC</a:t>
                    </a:r>
                  </a:p>
                </c:rich>
              </c:tx>
              <c:showLegendKey val="0"/>
              <c:showVal val="0"/>
              <c:showCatName val="0"/>
              <c:showSerName val="0"/>
              <c:showPercent val="0"/>
              <c:showBubbleSize val="0"/>
            </c:dLbl>
            <c:dLbl>
              <c:idx val="4"/>
              <c:tx>
                <c:rich>
                  <a:bodyPr/>
                  <a:lstStyle/>
                  <a:p>
                    <a:r>
                      <a:rPr lang="en-US" b="1" sz="900">
                        <a:solidFill>
                          <a:srgbClr val="2D3142"/>
                        </a:solidFill>
                      </a:rPr>
                      <a:t>45 </a:t>
                    </a:r>
                    <a:r>
                      <a:rPr lang="en-US" b="1" sz="900">
                        <a:solidFill>
                          <a:srgbClr val="2D3142"/>
                        </a:solidFill>
                      </a:rPr>
                      <a:t>ABCD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26.17253593393386</c:v>
                </c:pt>
                <c:pt idx="1">
                  <c:v>37.45130647535975</c:v>
                </c:pt>
                <c:pt idx="2">
                  <c:v>18.947689503622616</c:v>
                </c:pt>
                <c:pt idx="3">
                  <c:v>37.651545474382345</c:v>
                </c:pt>
                <c:pt idx="4">
                  <c:v>44.68235007778555</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Pt>
            <c:idx val="2"/>
            <c:spPr>
              <a:solidFill>
                <a:srgbClr val="F4BF9A"/>
              </a:solidFill>
            </c:spPr>
          </c:dPt>
          <c:dLbls>
            <c:dLbl>
              <c:idx val="0"/>
              <c:tx>
                <c:rich>
                  <a:bodyPr/>
                  <a:lstStyle/>
                  <a:p>
                    <a:r>
                      <a:rPr lang="en-US" b="1" sz="900">
                        <a:solidFill>
                          <a:srgbClr val="2D3142"/>
                        </a:solidFill>
                      </a:rPr>
                      <a:t>32 </a:t>
                    </a:r>
                    <a:r>
                      <a:rPr lang="en-US" b="1" sz="900">
                        <a:solidFill>
                          <a:srgbClr val="2D3142"/>
                        </a:solidFill>
                      </a:rPr>
                      <a:t>BCD</a:t>
                    </a:r>
                  </a:p>
                </c:rich>
              </c:tx>
              <c:showLegendKey val="0"/>
              <c:showVal val="0"/>
              <c:showCatName val="0"/>
              <c:showSerName val="0"/>
              <c:showPercent val="0"/>
              <c:showBubbleSize val="0"/>
            </c:dLbl>
            <c:dLbl>
              <c:idx val="1"/>
              <c:tx>
                <c:rich>
                  <a:bodyPr/>
                  <a:lstStyle/>
                  <a:p>
                    <a:r>
                      <a:rPr lang="en-US" b="1" sz="900">
                        <a:solidFill>
                          <a:srgbClr val="2D3142"/>
                        </a:solidFill>
                      </a:rPr>
                      <a:t>45 </a:t>
                    </a:r>
                    <a:r>
                      <a:rPr lang="en-US" b="1" sz="900">
                        <a:solidFill>
                          <a:srgbClr val="2D3142"/>
                        </a:solidFill>
                      </a:rPr>
                      <a:t>CDE</a:t>
                    </a:r>
                  </a:p>
                </c:rich>
              </c:tx>
              <c:showLegendKey val="0"/>
              <c:showVal val="0"/>
              <c:showCatName val="0"/>
              <c:showSerName val="0"/>
              <c:showPercent val="0"/>
              <c:showBubbleSize val="0"/>
            </c:dLbl>
            <c:dLbl>
              <c:idx val="2"/>
              <c:tx>
                <c:rich>
                  <a:bodyPr/>
                  <a:lstStyle/>
                  <a:p>
                    <a:r>
                      <a:rPr lang="en-US" b="1" sz="900">
                        <a:solidFill>
                          <a:srgbClr val="2D3142"/>
                        </a:solidFill>
                      </a:rPr>
                      <a:t>24 </a:t>
                    </a:r>
                    <a:r>
                      <a:rPr lang="en-US" b="1" sz="900">
                        <a:solidFill>
                          <a:srgbClr val="2D3142"/>
                        </a:solidFill>
                      </a:rPr>
                      <a:t>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Satisfied</c:v>
                </c:pt>
                <c:pt idx="1">
                  <c:v>Neither satisfied nor dissatisfied</c:v>
                </c:pt>
                <c:pt idx="2">
                  <c:v>Dissatisfied</c:v>
                </c:pt>
              </c:strCache>
            </c:strRef>
          </c:cat>
          <c:val>
            <c:numRef>
              <c:f>Sheet1!$B$2:$B$4</c:f>
              <c:numCache>
                <c:formatCode>0</c:formatCode>
                <c:ptCount val="3"/>
                <c:pt idx="0">
                  <c:v>31.721624598319288</c:v>
                </c:pt>
                <c:pt idx="1">
                  <c:v>44.613068732535325</c:v>
                </c:pt>
                <c:pt idx="2">
                  <c:v>23.54992396878213</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Pt>
            <c:idx val="2"/>
            <c:spPr>
              <a:solidFill>
                <a:srgbClr val="F4BF9A"/>
              </a:solidFill>
            </c:spPr>
          </c:dPt>
          <c:dLbls>
            <c:dLbl>
              <c:idx val="0"/>
              <c:tx>
                <c:rich>
                  <a:bodyPr/>
                  <a:lstStyle/>
                  <a:p>
                    <a:r>
                      <a:rPr lang="en-US" b="1" sz="900">
                        <a:solidFill>
                          <a:srgbClr val="2D3142"/>
                        </a:solidFill>
                      </a:rPr>
                      <a:t>14</a:t>
                    </a:r>
                  </a:p>
                </c:rich>
              </c:tx>
              <c:showLegendKey val="0"/>
              <c:showVal val="0"/>
              <c:showCatName val="0"/>
              <c:showSerName val="0"/>
              <c:showPercent val="0"/>
              <c:showBubbleSize val="0"/>
            </c:dLbl>
            <c:dLbl>
              <c:idx val="1"/>
              <c:tx>
                <c:rich>
                  <a:bodyPr/>
                  <a:lstStyle/>
                  <a:p>
                    <a:r>
                      <a:rPr lang="en-US" b="1" sz="900">
                        <a:solidFill>
                          <a:srgbClr val="2D3142"/>
                        </a:solidFill>
                      </a:rPr>
                      <a:t>47 </a:t>
                    </a:r>
                    <a:r>
                      <a:rPr lang="en-US" b="1" sz="900">
                        <a:solidFill>
                          <a:srgbClr val="2D3142"/>
                        </a:solidFill>
                      </a:rPr>
                      <a:t>CDE</a:t>
                    </a:r>
                  </a:p>
                </c:rich>
              </c:tx>
              <c:showLegendKey val="0"/>
              <c:showVal val="0"/>
              <c:showCatName val="0"/>
              <c:showSerName val="0"/>
              <c:showPercent val="0"/>
              <c:showBubbleSize val="0"/>
            </c:dLbl>
            <c:dLbl>
              <c:idx val="2"/>
              <c:tx>
                <c:rich>
                  <a:bodyPr/>
                  <a:lstStyle/>
                  <a:p>
                    <a:r>
                      <a:rPr lang="en-US" b="1" sz="900">
                        <a:solidFill>
                          <a:srgbClr val="2D3142"/>
                        </a:solidFill>
                      </a:rPr>
                      <a:t>38 </a:t>
                    </a:r>
                    <a:r>
                      <a:rPr lang="en-US" b="1" sz="900">
                        <a:solidFill>
                          <a:srgbClr val="2D3142"/>
                        </a:solidFill>
                      </a:rPr>
                      <a:t>ADE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Satisfied</c:v>
                </c:pt>
                <c:pt idx="1">
                  <c:v>Neither satisfied nor dissatisfied</c:v>
                </c:pt>
                <c:pt idx="2">
                  <c:v>Dissatisfied</c:v>
                </c:pt>
              </c:strCache>
            </c:strRef>
          </c:cat>
          <c:val>
            <c:numRef>
              <c:f>Sheet1!$B$2:$B$4</c:f>
              <c:numCache>
                <c:formatCode>0</c:formatCode>
                <c:ptCount val="3"/>
                <c:pt idx="0">
                  <c:v>14.246257941385146</c:v>
                </c:pt>
                <c:pt idx="1">
                  <c:v>46.840330409940975</c:v>
                </c:pt>
                <c:pt idx="2">
                  <c:v>38.09304541885688</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Pt>
            <c:idx val="2"/>
            <c:spPr>
              <a:solidFill>
                <a:srgbClr val="F4BF9A"/>
              </a:solidFill>
            </c:spPr>
          </c:dPt>
          <c:dLbls>
            <c:dLbl>
              <c:idx val="0"/>
              <c:tx>
                <c:rich>
                  <a:bodyPr/>
                  <a:lstStyle/>
                  <a:p>
                    <a:r>
                      <a:rPr lang="en-US" b="1" sz="900">
                        <a:solidFill>
                          <a:srgbClr val="2D3142"/>
                        </a:solidFill>
                      </a:rPr>
                      <a:t>16</a:t>
                    </a:r>
                  </a:p>
                </c:rich>
              </c:tx>
              <c:showLegendKey val="0"/>
              <c:showVal val="0"/>
              <c:showCatName val="0"/>
              <c:showSerName val="0"/>
              <c:showPercent val="0"/>
              <c:showBubbleSize val="0"/>
            </c:dLbl>
            <c:dLbl>
              <c:idx val="1"/>
              <c:tx>
                <c:rich>
                  <a:bodyPr/>
                  <a:lstStyle/>
                  <a:p>
                    <a:r>
                      <a:rPr lang="en-US" b="1" sz="900">
                        <a:solidFill>
                          <a:srgbClr val="2D3142"/>
                        </a:solidFill>
                      </a:rPr>
                      <a:t>36 </a:t>
                    </a:r>
                    <a:r>
                      <a:rPr lang="en-US" b="1" sz="900">
                        <a:solidFill>
                          <a:srgbClr val="2D3142"/>
                        </a:solidFill>
                      </a:rPr>
                      <a:t>E</a:t>
                    </a:r>
                  </a:p>
                </c:rich>
              </c:tx>
              <c:showLegendKey val="0"/>
              <c:showVal val="0"/>
              <c:showCatName val="0"/>
              <c:showSerName val="0"/>
              <c:showPercent val="0"/>
              <c:showBubbleSize val="0"/>
            </c:dLbl>
            <c:dLbl>
              <c:idx val="2"/>
              <c:tx>
                <c:rich>
                  <a:bodyPr/>
                  <a:lstStyle/>
                  <a:p>
                    <a:r>
                      <a:rPr lang="en-US" b="1" sz="900">
                        <a:solidFill>
                          <a:srgbClr val="2D3142"/>
                        </a:solidFill>
                      </a:rPr>
                      <a:t>47 </a:t>
                    </a:r>
                    <a:r>
                      <a:rPr lang="en-US" b="1" sz="900">
                        <a:solidFill>
                          <a:srgbClr val="2D3142"/>
                        </a:solidFill>
                      </a:rPr>
                      <a:t>ABDE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Satisfied</c:v>
                </c:pt>
                <c:pt idx="1">
                  <c:v>Neither satisfied nor dissatisfied</c:v>
                </c:pt>
                <c:pt idx="2">
                  <c:v>Dissatisfied</c:v>
                </c:pt>
              </c:strCache>
            </c:strRef>
          </c:cat>
          <c:val>
            <c:numRef>
              <c:f>Sheet1!$B$2:$B$4</c:f>
              <c:numCache>
                <c:formatCode>0</c:formatCode>
                <c:ptCount val="3"/>
                <c:pt idx="0">
                  <c:v>15.821282009279905</c:v>
                </c:pt>
                <c:pt idx="1">
                  <c:v>35.994943083824474</c:v>
                </c:pt>
                <c:pt idx="2">
                  <c:v>47.3071298666853</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Pt>
            <c:idx val="2"/>
            <c:spPr>
              <a:solidFill>
                <a:srgbClr val="F4BF9A"/>
              </a:solidFill>
            </c:spPr>
          </c:dPt>
          <c:dLbls>
            <c:dLbl>
              <c:idx val="0"/>
              <c:tx>
                <c:rich>
                  <a:bodyPr/>
                  <a:lstStyle/>
                  <a:p>
                    <a:r>
                      <a:rPr lang="en-US" b="1" sz="900">
                        <a:solidFill>
                          <a:srgbClr val="2D3142"/>
                        </a:solidFill>
                      </a:rPr>
                      <a:t>24 </a:t>
                    </a:r>
                    <a:r>
                      <a:rPr lang="en-US" b="1" sz="900">
                        <a:solidFill>
                          <a:srgbClr val="2D3142"/>
                        </a:solidFill>
                      </a:rPr>
                      <a:t>BC</a:t>
                    </a:r>
                  </a:p>
                </c:rich>
              </c:tx>
              <c:showLegendKey val="0"/>
              <c:showVal val="0"/>
              <c:showCatName val="0"/>
              <c:showSerName val="0"/>
              <c:showPercent val="0"/>
              <c:showBubbleSize val="0"/>
            </c:dLbl>
            <c:dLbl>
              <c:idx val="1"/>
              <c:tx>
                <c:rich>
                  <a:bodyPr/>
                  <a:lstStyle/>
                  <a:p>
                    <a:r>
                      <a:rPr lang="en-US" b="1" sz="900">
                        <a:solidFill>
                          <a:srgbClr val="2D3142"/>
                        </a:solidFill>
                      </a:rPr>
                      <a:t>37 </a:t>
                    </a:r>
                    <a:r>
                      <a:rPr lang="en-US" b="1" sz="900">
                        <a:solidFill>
                          <a:srgbClr val="2D3142"/>
                        </a:solidFill>
                      </a:rPr>
                      <a:t>E</a:t>
                    </a:r>
                  </a:p>
                </c:rich>
              </c:tx>
              <c:showLegendKey val="0"/>
              <c:showVal val="0"/>
              <c:showCatName val="0"/>
              <c:showSerName val="0"/>
              <c:showPercent val="0"/>
              <c:showBubbleSize val="0"/>
            </c:dLbl>
            <c:dLbl>
              <c:idx val="2"/>
              <c:tx>
                <c:rich>
                  <a:bodyPr/>
                  <a:lstStyle/>
                  <a:p>
                    <a:r>
                      <a:rPr lang="en-US" b="1" sz="900">
                        <a:solidFill>
                          <a:srgbClr val="2D3142"/>
                        </a:solidFill>
                      </a:rPr>
                      <a:t>32 </a:t>
                    </a:r>
                    <a:r>
                      <a:rPr lang="en-US" b="1" sz="900">
                        <a:solidFill>
                          <a:srgbClr val="2D3142"/>
                        </a:solidFill>
                      </a:rPr>
                      <a:t>AE</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Satisfied</c:v>
                </c:pt>
                <c:pt idx="1">
                  <c:v>Neither satisfied nor dissatisfied</c:v>
                </c:pt>
                <c:pt idx="2">
                  <c:v>Dissatisfied</c:v>
                </c:pt>
              </c:strCache>
            </c:strRef>
          </c:cat>
          <c:val>
            <c:numRef>
              <c:f>Sheet1!$B$2:$B$4</c:f>
              <c:numCache>
                <c:formatCode>0</c:formatCode>
                <c:ptCount val="3"/>
                <c:pt idx="0">
                  <c:v>24.01624011196495</c:v>
                </c:pt>
                <c:pt idx="1">
                  <c:v>37.049695213742986</c:v>
                </c:pt>
                <c:pt idx="2">
                  <c:v>31.785107035641424</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Pt>
            <c:idx val="2"/>
            <c:spPr>
              <a:solidFill>
                <a:srgbClr val="F4BF9A"/>
              </a:solidFill>
            </c:spPr>
          </c:dPt>
          <c:dLbls>
            <c:dLbl>
              <c:idx val="0"/>
              <c:tx>
                <c:rich>
                  <a:bodyPr/>
                  <a:lstStyle/>
                  <a:p>
                    <a:r>
                      <a:rPr lang="en-US" b="1" sz="900">
                        <a:solidFill>
                          <a:srgbClr val="2D3142"/>
                        </a:solidFill>
                      </a:rPr>
                      <a:t>71 </a:t>
                    </a:r>
                    <a:r>
                      <a:rPr lang="en-US" b="1" sz="900">
                        <a:solidFill>
                          <a:srgbClr val="2D3142"/>
                        </a:solidFill>
                      </a:rPr>
                      <a:t>ABCD</a:t>
                    </a:r>
                  </a:p>
                </c:rich>
              </c:tx>
              <c:showLegendKey val="0"/>
              <c:showVal val="0"/>
              <c:showCatName val="0"/>
              <c:showSerName val="0"/>
              <c:showPercent val="0"/>
              <c:showBubbleSize val="0"/>
            </c:dLbl>
            <c:dLbl>
              <c:idx val="1"/>
              <c:tx>
                <c:rich>
                  <a:bodyPr/>
                  <a:lstStyle/>
                  <a:p>
                    <a:r>
                      <a:rPr lang="en-US" b="1" sz="900">
                        <a:solidFill>
                          <a:srgbClr val="2D3142"/>
                        </a:solidFill>
                      </a:rPr>
                      <a:t>25</a:t>
                    </a:r>
                  </a:p>
                </c:rich>
              </c:tx>
              <c:showLegendKey val="0"/>
              <c:showVal val="0"/>
              <c:showCatName val="0"/>
              <c:showSerName val="0"/>
              <c:showPercent val="0"/>
              <c:showBubbleSize val="0"/>
            </c:dLbl>
            <c:dLbl>
              <c:idx val="2"/>
              <c:tx>
                <c:rich>
                  <a:bodyPr/>
                  <a:lstStyle/>
                  <a:p>
                    <a:r>
                      <a:rPr lang="en-US" b="1" sz="900">
                        <a:solidFill>
                          <a:srgbClr val="2D3142"/>
                        </a:solidFill>
                      </a:rPr>
                      <a:t>3</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Satisfied</c:v>
                </c:pt>
                <c:pt idx="1">
                  <c:v>Neither satisfied nor dissatisfied</c:v>
                </c:pt>
                <c:pt idx="2">
                  <c:v>Dissatisfied</c:v>
                </c:pt>
              </c:strCache>
            </c:strRef>
          </c:cat>
          <c:val>
            <c:numRef>
              <c:f>Sheet1!$B$2:$B$4</c:f>
              <c:numCache>
                <c:formatCode>0</c:formatCode>
                <c:ptCount val="3"/>
                <c:pt idx="0">
                  <c:v>70.74068165644691</c:v>
                </c:pt>
                <c:pt idx="1">
                  <c:v>25.24252463722848</c:v>
                </c:pt>
                <c:pt idx="2">
                  <c:v>2.8571661495452507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Not at all well</c:v>
                </c:pt>
              </c:strCache>
            </c:strRef>
          </c:tx>
          <c:spPr>
            <a:solidFill>
              <a:srgbClr val="F7D8C0"/>
            </a:solidFill>
          </c:spPr>
          <c:dLbls>
            <c:dLbl>
              <c:idx val="0"/>
              <c:tx>
                <c:rich>
                  <a:bodyPr/>
                  <a:lstStyle/>
                  <a:p>
                    <a:r>
                      <a:rPr lang="en-US" b="1" sz="800">
                        <a:solidFill>
                          <a:srgbClr val="2D3142"/>
                        </a:solidFill>
                      </a:rPr>
                      <a:t>22</a:t>
                    </a:r>
                  </a:p>
                </c:rich>
              </c:tx>
              <c:showLegendKey val="0"/>
              <c:showVal val="0"/>
              <c:showCatName val="0"/>
              <c:showSerName val="0"/>
              <c:showPercent val="0"/>
              <c:showBubbleSize val="0"/>
            </c:dLbl>
            <c:dLbl>
              <c:idx val="1"/>
              <c:tx>
                <c:rich>
                  <a:bodyPr/>
                  <a:lstStyle/>
                  <a:p>
                    <a:r>
                      <a:rPr lang="en-US" b="1" sz="800">
                        <a:solidFill>
                          <a:srgbClr val="2D3142"/>
                        </a:solidFill>
                      </a:rPr>
                      <a:t>21</a:t>
                    </a:r>
                  </a:p>
                </c:rich>
              </c:tx>
              <c:showLegendKey val="0"/>
              <c:showVal val="0"/>
              <c:showCatName val="0"/>
              <c:showSerName val="0"/>
              <c:showPercent val="0"/>
              <c:showBubbleSize val="0"/>
            </c:dLbl>
            <c:dLbl>
              <c:idx val="2"/>
              <c:tx>
                <c:rich>
                  <a:bodyPr/>
                  <a:lstStyle/>
                  <a:p>
                    <a:r>
                      <a:rPr lang="en-US" b="1" sz="800">
                        <a:solidFill>
                          <a:srgbClr val="2D3142"/>
                        </a:solidFill>
                      </a:rPr>
                      <a:t>20</a:t>
                    </a:r>
                  </a:p>
                </c:rich>
              </c:tx>
              <c:showLegendKey val="0"/>
              <c:showVal val="0"/>
              <c:showCatName val="0"/>
              <c:showSerName val="0"/>
              <c:showPercent val="0"/>
              <c:showBubbleSize val="0"/>
            </c:dLbl>
            <c:dLbl>
              <c:idx val="3"/>
              <c:tx>
                <c:rich>
                  <a:bodyPr/>
                  <a:lstStyle/>
                  <a:p>
                    <a:r>
                      <a:rPr lang="en-US" b="1" sz="800">
                        <a:solidFill>
                          <a:srgbClr val="2D3142"/>
                        </a:solidFill>
                      </a:rPr>
                      <a:t>46 </a:t>
                    </a:r>
                    <a:r>
                      <a:rPr lang="en-US" b="1" sz="900">
                        <a:solidFill>
                          <a:srgbClr val="2D3142"/>
                        </a:solidFill>
                      </a:rPr>
                      <a:t>ABC</a:t>
                    </a:r>
                  </a:p>
                </c:rich>
              </c:tx>
              <c:showLegendKey val="0"/>
              <c:showVal val="0"/>
              <c:showCatName val="0"/>
              <c:showSerName val="0"/>
              <c:showPercent val="0"/>
              <c:showBubbleSize val="0"/>
            </c:dLbl>
            <c:dLbl>
              <c:idx val="4"/>
              <c:tx>
                <c:rich>
                  <a:bodyPr/>
                  <a:lstStyle/>
                  <a:p>
                    <a:r>
                      <a:rPr lang="en-US" b="1" sz="800">
                        <a:solidFill>
                          <a:srgbClr val="2D3142"/>
                        </a:solidFill>
                      </a:rPr>
                      <a:t>61 </a:t>
                    </a:r>
                    <a:r>
                      <a:rPr lang="en-US" b="1" sz="900">
                        <a:solidFill>
                          <a:srgbClr val="2D3142"/>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21.637941247356856</c:v>
                </c:pt>
                <c:pt idx="1">
                  <c:v>21.254719574059376</c:v>
                </c:pt>
                <c:pt idx="2">
                  <c:v>19.719417138803692</c:v>
                </c:pt>
                <c:pt idx="3">
                  <c:v>45.510988274445296</c:v>
                </c:pt>
                <c:pt idx="4">
                  <c:v>61.02800987001778</c:v>
                </c:pt>
              </c:numCache>
            </c:numRef>
          </c:val>
        </c:ser>
        <c:ser>
          <c:idx val="1"/>
          <c:order val="1"/>
          <c:tx>
            <c:strRef>
              <c:f>Sheet1!$C$1</c:f>
              <c:strCache>
                <c:ptCount val="1"/>
                <c:pt idx="0">
                  <c:v>Not too well</c:v>
                </c:pt>
              </c:strCache>
            </c:strRef>
          </c:tx>
          <c:spPr>
            <a:solidFill>
              <a:srgbClr val="F4BF9A"/>
            </a:solidFill>
          </c:spPr>
          <c:dLbls>
            <c:dLbl>
              <c:idx val="0"/>
              <c:tx>
                <c:rich>
                  <a:bodyPr/>
                  <a:lstStyle/>
                  <a:p>
                    <a:r>
                      <a:rPr lang="en-US" b="1" sz="800">
                        <a:solidFill>
                          <a:srgbClr val="2D3142"/>
                        </a:solidFill>
                      </a:rPr>
                      <a:t>33 </a:t>
                    </a:r>
                    <a:r>
                      <a:rPr lang="en-US" b="1" sz="900">
                        <a:solidFill>
                          <a:srgbClr val="2D3142"/>
                        </a:solidFill>
                      </a:rPr>
                      <a:t>E</a:t>
                    </a:r>
                  </a:p>
                </c:rich>
              </c:tx>
              <c:showLegendKey val="0"/>
              <c:showVal val="0"/>
              <c:showCatName val="0"/>
              <c:showSerName val="0"/>
              <c:showPercent val="0"/>
              <c:showBubbleSize val="0"/>
            </c:dLbl>
            <c:dLbl>
              <c:idx val="1"/>
              <c:tx>
                <c:rich>
                  <a:bodyPr/>
                  <a:lstStyle/>
                  <a:p>
                    <a:r>
                      <a:rPr lang="en-US" b="1" sz="800">
                        <a:solidFill>
                          <a:srgbClr val="2D3142"/>
                        </a:solidFill>
                      </a:rPr>
                      <a:t>35 </a:t>
                    </a:r>
                    <a:r>
                      <a:rPr lang="en-US" b="1" sz="900">
                        <a:solidFill>
                          <a:srgbClr val="2D3142"/>
                        </a:solidFill>
                      </a:rPr>
                      <a:t>DE</a:t>
                    </a:r>
                  </a:p>
                </c:rich>
              </c:tx>
              <c:showLegendKey val="0"/>
              <c:showVal val="0"/>
              <c:showCatName val="0"/>
              <c:showSerName val="0"/>
              <c:showPercent val="0"/>
              <c:showBubbleSize val="0"/>
            </c:dLbl>
            <c:dLbl>
              <c:idx val="2"/>
              <c:tx>
                <c:rich>
                  <a:bodyPr/>
                  <a:lstStyle/>
                  <a:p>
                    <a:r>
                      <a:rPr lang="en-US" b="1" sz="800">
                        <a:solidFill>
                          <a:srgbClr val="2D3142"/>
                        </a:solidFill>
                      </a:rPr>
                      <a:t>32 </a:t>
                    </a:r>
                    <a:r>
                      <a:rPr lang="en-US" b="1" sz="900">
                        <a:solidFill>
                          <a:srgbClr val="2D3142"/>
                        </a:solidFill>
                      </a:rPr>
                      <a:t>E</a:t>
                    </a:r>
                  </a:p>
                </c:rich>
              </c:tx>
              <c:showLegendKey val="0"/>
              <c:showVal val="0"/>
              <c:showCatName val="0"/>
              <c:showSerName val="0"/>
              <c:showPercent val="0"/>
              <c:showBubbleSize val="0"/>
            </c:dLbl>
            <c:dLbl>
              <c:idx val="3"/>
              <c:tx>
                <c:rich>
                  <a:bodyPr/>
                  <a:lstStyle/>
                  <a:p>
                    <a:r>
                      <a:rPr lang="en-US" b="1" sz="800">
                        <a:solidFill>
                          <a:srgbClr val="2D3142"/>
                        </a:solidFill>
                      </a:rPr>
                      <a:t>31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18</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33.023925245022674</c:v>
                </c:pt>
                <c:pt idx="1">
                  <c:v>35.0427205340929</c:v>
                </c:pt>
                <c:pt idx="2">
                  <c:v>32.273895445024074</c:v>
                </c:pt>
                <c:pt idx="3">
                  <c:v>30.910686068427147</c:v>
                </c:pt>
                <c:pt idx="4">
                  <c:v>18.052973505668714</c:v>
                </c:pt>
              </c:numCache>
            </c:numRef>
          </c:val>
        </c:ser>
        <c:ser>
          <c:idx val="2"/>
          <c:order val="2"/>
          <c:tx>
            <c:strRef>
              <c:f>Sheet1!$D$1</c:f>
              <c:strCache>
                <c:ptCount val="1"/>
                <c:pt idx="0">
                  <c:v>Somewhat well</c:v>
                </c:pt>
              </c:strCache>
            </c:strRef>
          </c:tx>
          <c:spPr>
            <a:solidFill>
              <a:srgbClr val="F0A060"/>
            </a:solidFill>
          </c:spPr>
          <c:dLbls>
            <c:dLbl>
              <c:idx val="0"/>
              <c:tx>
                <c:rich>
                  <a:bodyPr/>
                  <a:lstStyle/>
                  <a:p>
                    <a:r>
                      <a:rPr lang="en-US" b="1" sz="800">
                        <a:solidFill>
                          <a:srgbClr val="FFFFFF"/>
                        </a:solidFill>
                      </a:rPr>
                      <a:t>37 </a:t>
                    </a:r>
                    <a:r>
                      <a:rPr lang="en-US" b="1" sz="900">
                        <a:solidFill>
                          <a:srgbClr val="FFFFFF"/>
                        </a:solidFill>
                      </a:rPr>
                      <a:t>BCDE</a:t>
                    </a:r>
                  </a:p>
                </c:rich>
              </c:tx>
              <c:showLegendKey val="0"/>
              <c:showVal val="0"/>
              <c:showCatName val="0"/>
              <c:showSerName val="0"/>
              <c:showPercent val="0"/>
              <c:showBubbleSize val="0"/>
            </c:dLbl>
            <c:dLbl>
              <c:idx val="1"/>
              <c:tx>
                <c:rich>
                  <a:bodyPr/>
                  <a:lstStyle/>
                  <a:p>
                    <a:r>
                      <a:rPr lang="en-US" b="1" sz="800">
                        <a:solidFill>
                          <a:srgbClr val="FFFFFF"/>
                        </a:solidFill>
                      </a:rPr>
                      <a:t>31 </a:t>
                    </a:r>
                    <a:r>
                      <a:rPr lang="en-US" b="1" sz="900">
                        <a:solidFill>
                          <a:srgbClr val="FFFFFF"/>
                        </a:solidFill>
                      </a:rPr>
                      <a:t>DE</a:t>
                    </a:r>
                  </a:p>
                </c:rich>
              </c:tx>
              <c:showLegendKey val="0"/>
              <c:showVal val="0"/>
              <c:showCatName val="0"/>
              <c:showSerName val="0"/>
              <c:showPercent val="0"/>
              <c:showBubbleSize val="0"/>
            </c:dLbl>
            <c:dLbl>
              <c:idx val="2"/>
              <c:tx>
                <c:rich>
                  <a:bodyPr/>
                  <a:lstStyle/>
                  <a:p>
                    <a:r>
                      <a:rPr lang="en-US" b="1" sz="800">
                        <a:solidFill>
                          <a:srgbClr val="FFFFFF"/>
                        </a:solidFill>
                      </a:rPr>
                      <a:t>32 </a:t>
                    </a:r>
                    <a:r>
                      <a:rPr lang="en-US" b="1" sz="900">
                        <a:solidFill>
                          <a:srgbClr val="FFFFFF"/>
                        </a:solidFill>
                      </a:rPr>
                      <a:t>DE</a:t>
                    </a:r>
                  </a:p>
                </c:rich>
              </c:tx>
              <c:showLegendKey val="0"/>
              <c:showVal val="0"/>
              <c:showCatName val="0"/>
              <c:showSerName val="0"/>
              <c:showPercent val="0"/>
              <c:showBubbleSize val="0"/>
            </c:dLbl>
            <c:dLbl>
              <c:idx val="3"/>
              <c:tx>
                <c:rich>
                  <a:bodyPr/>
                  <a:lstStyle/>
                  <a:p>
                    <a:r>
                      <a:rPr lang="en-US" b="1" sz="800">
                        <a:solidFill>
                          <a:srgbClr val="FFFFFF"/>
                        </a:solidFill>
                      </a:rPr>
                      <a:t>16 </a:t>
                    </a:r>
                    <a:r>
                      <a:rPr lang="en-US" b="1" sz="900">
                        <a:solidFill>
                          <a:srgbClr val="FFFFFF"/>
                        </a:solidFill>
                      </a:rPr>
                      <a:t>E</a:t>
                    </a:r>
                  </a:p>
                </c:rich>
              </c:tx>
              <c:showLegendKey val="0"/>
              <c:showVal val="0"/>
              <c:showCatName val="0"/>
              <c:showSerName val="0"/>
              <c:showPercent val="0"/>
              <c:showBubbleSize val="0"/>
            </c:dLbl>
            <c:dLbl>
              <c:idx val="4"/>
              <c:tx>
                <c:rich>
                  <a:bodyPr/>
                  <a:lstStyle/>
                  <a:p>
                    <a:r>
                      <a:rPr lang="en-US" b="1" sz="800">
                        <a:solidFill>
                          <a:srgbClr val="FFFFFF"/>
                        </a:solidFill>
                      </a:rPr>
                      <a:t>10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37.363180691765294</c:v>
                </c:pt>
                <c:pt idx="1">
                  <c:v>31.008342829387225</c:v>
                </c:pt>
                <c:pt idx="2">
                  <c:v>32.24793556983762</c:v>
                </c:pt>
                <c:pt idx="3">
                  <c:v>16.492264166578423</c:v>
                </c:pt>
                <c:pt idx="4">
                  <c:v>10.176257709403808</c:v>
                </c:pt>
              </c:numCache>
            </c:numRef>
          </c:val>
        </c:ser>
        <c:ser>
          <c:idx val="3"/>
          <c:order val="3"/>
          <c:tx>
            <c:strRef>
              <c:f>Sheet1!$E$1</c:f>
              <c:strCache>
                <c:ptCount val="1"/>
                <c:pt idx="0">
                  <c:v>Very well</c:v>
                </c:pt>
              </c:strCache>
            </c:strRef>
          </c:tx>
          <c:spPr>
            <a:solidFill>
              <a:srgbClr val="F07B20"/>
            </a:solidFill>
          </c:spPr>
          <c:dLbls>
            <c:dLbl>
              <c:idx val="0"/>
              <c:tx>
                <c:rich>
                  <a:bodyPr/>
                  <a:lstStyle/>
                  <a:p>
                    <a:r>
                      <a:rPr lang="en-US" b="1" sz="800">
                        <a:solidFill>
                          <a:srgbClr val="FFFFFF"/>
                        </a:solidFill>
                      </a:rPr>
                      <a:t>6 </a:t>
                    </a:r>
                    <a:r>
                      <a:rPr lang="en-US" b="1" sz="900">
                        <a:solidFill>
                          <a:srgbClr val="FFFFFF"/>
                        </a:solidFill>
                      </a:rPr>
                      <a:t>DE</a:t>
                    </a:r>
                  </a:p>
                </c:rich>
              </c:tx>
              <c:showLegendKey val="0"/>
              <c:showVal val="0"/>
              <c:showCatName val="0"/>
              <c:showSerName val="0"/>
              <c:showPercent val="0"/>
              <c:showBubbleSize val="0"/>
            </c:dLbl>
            <c:dLbl>
              <c:idx val="1"/>
              <c:tx>
                <c:rich>
                  <a:bodyPr/>
                  <a:lstStyle/>
                  <a:p>
                    <a:r>
                      <a:rPr lang="en-US" b="1" sz="800">
                        <a:solidFill>
                          <a:srgbClr val="FFFFFF"/>
                        </a:solidFill>
                      </a:rPr>
                      <a:t>6 </a:t>
                    </a:r>
                    <a:r>
                      <a:rPr lang="en-US" b="1" sz="900">
                        <a:solidFill>
                          <a:srgbClr val="FFFFFF"/>
                        </a:solidFill>
                      </a:rPr>
                      <a:t>De</a:t>
                    </a:r>
                  </a:p>
                </c:rich>
              </c:tx>
              <c:showLegendKey val="0"/>
              <c:showVal val="0"/>
              <c:showCatName val="0"/>
              <c:showSerName val="0"/>
              <c:showPercent val="0"/>
              <c:showBubbleSize val="0"/>
            </c:dLbl>
            <c:dLbl>
              <c:idx val="2"/>
              <c:tx>
                <c:rich>
                  <a:bodyPr/>
                  <a:lstStyle/>
                  <a:p>
                    <a:r>
                      <a:rPr lang="en-US" b="1" sz="800">
                        <a:solidFill>
                          <a:srgbClr val="FFFFFF"/>
                        </a:solidFill>
                      </a:rPr>
                      <a:t>9 </a:t>
                    </a:r>
                    <a:r>
                      <a:rPr lang="en-US" b="1" sz="900">
                        <a:solidFill>
                          <a:srgbClr val="FFFFFF"/>
                        </a:solidFill>
                      </a:rPr>
                      <a:t>ABDE</a:t>
                    </a:r>
                  </a:p>
                </c:rich>
              </c:tx>
              <c:showLegendKey val="0"/>
              <c:showVal val="0"/>
              <c:showCatName val="0"/>
              <c:showSerName val="0"/>
              <c:showPercent val="0"/>
              <c:showBubbleSize val="0"/>
            </c:dLbl>
            <c:dLbl>
              <c:idx val="3"/>
              <c:tx>
                <c:rich>
                  <a:bodyPr/>
                  <a:lstStyle/>
                  <a:p>
                    <a:r>
                      <a:rPr lang="en-US" b="1" sz="800">
                        <a:solidFill>
                          <a:srgbClr val="FFFFFF"/>
                        </a:solidFill>
                      </a:rPr>
                      <a:t>3</a:t>
                    </a:r>
                  </a:p>
                </c:rich>
              </c:tx>
              <c:showLegendKey val="0"/>
              <c:showVal val="0"/>
              <c:showCatName val="0"/>
              <c:showSerName val="0"/>
              <c:showPercent val="0"/>
              <c:showBubbleSize val="0"/>
            </c:dLbl>
            <c:dLbl>
              <c:idx val="4"/>
              <c:tx>
                <c:rich>
                  <a:bodyPr/>
                  <a:lstStyle/>
                  <a:p>
                    <a:r>
                      <a:rPr lang="en-US" b="1" sz="800">
                        <a:solidFill>
                          <a:srgbClr val="FFFFFF"/>
                        </a:solidFill>
                      </a:rPr>
                      <a:t>4 </a:t>
                    </a:r>
                    <a:r>
                      <a:rPr lang="en-US" b="1" sz="900">
                        <a:solidFill>
                          <a:srgbClr val="FFFFFF"/>
                        </a:solidFill>
                      </a:rPr>
                      <a:t>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6.01552589431038</c:v>
                </c:pt>
                <c:pt idx="1">
                  <c:v>5.787994056476952</c:v>
                </c:pt>
                <c:pt idx="2">
                  <c:v>9.32274992475744</c:v>
                </c:pt>
                <c:pt idx="3">
                  <c:v>2.9726669151490692</c:v>
                </c:pt>
                <c:pt idx="4">
                  <c:v>4.209343969453712</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Not at all well</c:v>
                </c:pt>
              </c:strCache>
            </c:strRef>
          </c:tx>
          <c:spPr>
            <a:solidFill>
              <a:srgbClr val="F7D8C0"/>
            </a:solidFill>
          </c:spPr>
          <c:dLbls>
            <c:dLbl>
              <c:idx val="0"/>
              <c:tx>
                <c:rich>
                  <a:bodyPr/>
                  <a:lstStyle/>
                  <a:p>
                    <a:r>
                      <a:rPr lang="en-US" b="1" sz="800">
                        <a:solidFill>
                          <a:srgbClr val="2D3142"/>
                        </a:solidFill>
                      </a:rPr>
                      <a:t>7 </a:t>
                    </a:r>
                    <a:r>
                      <a:rPr lang="en-US" b="1" sz="900">
                        <a:solidFill>
                          <a:srgbClr val="2D3142"/>
                        </a:solidFill>
                      </a:rPr>
                      <a:t>DE</a:t>
                    </a:r>
                  </a:p>
                </c:rich>
              </c:tx>
              <c:showLegendKey val="0"/>
              <c:showVal val="0"/>
              <c:showCatName val="0"/>
              <c:showSerName val="0"/>
              <c:showPercent val="0"/>
              <c:showBubbleSize val="0"/>
            </c:dLbl>
            <c:dLbl>
              <c:idx val="1"/>
              <c:tx>
                <c:rich>
                  <a:bodyPr/>
                  <a:lstStyle/>
                  <a:p>
                    <a:r>
                      <a:rPr lang="en-US" b="1" sz="800">
                        <a:solidFill>
                          <a:srgbClr val="2D3142"/>
                        </a:solidFill>
                      </a:rPr>
                      <a:t>16 </a:t>
                    </a:r>
                    <a:r>
                      <a:rPr lang="en-US" b="1" sz="900">
                        <a:solidFill>
                          <a:srgbClr val="2D3142"/>
                        </a:solidFill>
                      </a:rPr>
                      <a:t>ACDE</a:t>
                    </a:r>
                  </a:p>
                </c:rich>
              </c:tx>
              <c:showLegendKey val="0"/>
              <c:showVal val="0"/>
              <c:showCatName val="0"/>
              <c:showSerName val="0"/>
              <c:showPercent val="0"/>
              <c:showBubbleSize val="0"/>
            </c:dLbl>
            <c:dLbl>
              <c:idx val="2"/>
              <c:tx>
                <c:rich>
                  <a:bodyPr/>
                  <a:lstStyle/>
                  <a:p>
                    <a:r>
                      <a:rPr lang="en-US" b="1" sz="800">
                        <a:solidFill>
                          <a:srgbClr val="2D3142"/>
                        </a:solidFill>
                      </a:rPr>
                      <a:t>12 </a:t>
                    </a:r>
                    <a:r>
                      <a:rPr lang="en-US" b="1" sz="900">
                        <a:solidFill>
                          <a:srgbClr val="2D3142"/>
                        </a:solidFill>
                      </a:rPr>
                      <a:t>ADE</a:t>
                    </a:r>
                  </a:p>
                </c:rich>
              </c:tx>
              <c:showLegendKey val="0"/>
              <c:showVal val="0"/>
              <c:showCatName val="0"/>
              <c:showSerName val="0"/>
              <c:showPercent val="0"/>
              <c:showBubbleSize val="0"/>
            </c:dLbl>
            <c:dLbl>
              <c:idx val="3"/>
              <c:tx>
                <c:rich>
                  <a:bodyPr/>
                  <a:lstStyle/>
                  <a:p>
                    <a:r>
                      <a:rPr lang="en-US" b="1" sz="800">
                        <a:solidFill>
                          <a:srgbClr val="2D3142"/>
                        </a:solidFill>
                      </a:rPr>
                      <a:t>3</a:t>
                    </a:r>
                  </a:p>
                </c:rich>
              </c:tx>
              <c:showLegendKey val="0"/>
              <c:showVal val="0"/>
              <c:showCatName val="0"/>
              <c:showSerName val="0"/>
              <c:showPercent val="0"/>
              <c:showBubbleSize val="0"/>
            </c:dLbl>
            <c:dLbl>
              <c:idx val="4"/>
              <c:tx>
                <c:rich>
                  <a:bodyPr/>
                  <a:lstStyle/>
                  <a:p>
                    <a:r>
                      <a:rPr lang="en-US" b="1" sz="800">
                        <a:solidFill>
                          <a:srgbClr val="2D3142"/>
                        </a:solidFill>
                      </a:rPr>
                      <a:t>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7.4139407668181585</c:v>
                </c:pt>
                <c:pt idx="1">
                  <c:v>15.757326522482826</c:v>
                </c:pt>
                <c:pt idx="2">
                  <c:v>11.875712892818344</c:v>
                </c:pt>
                <c:pt idx="3">
                  <c:v>3.454806786757794</c:v>
                </c:pt>
                <c:pt idx="4">
                  <c:v>3.0744097203392844</c:v>
                </c:pt>
              </c:numCache>
            </c:numRef>
          </c:val>
        </c:ser>
        <c:ser>
          <c:idx val="1"/>
          <c:order val="1"/>
          <c:tx>
            <c:strRef>
              <c:f>Sheet1!$C$1</c:f>
              <c:strCache>
                <c:ptCount val="1"/>
                <c:pt idx="0">
                  <c:v>Not too well</c:v>
                </c:pt>
              </c:strCache>
            </c:strRef>
          </c:tx>
          <c:spPr>
            <a:solidFill>
              <a:srgbClr val="F4BF9A"/>
            </a:solidFill>
          </c:spPr>
          <c:dLbls>
            <c:dLbl>
              <c:idx val="0"/>
              <c:tx>
                <c:rich>
                  <a:bodyPr/>
                  <a:lstStyle/>
                  <a:p>
                    <a:r>
                      <a:rPr lang="en-US" b="1" sz="800">
                        <a:solidFill>
                          <a:srgbClr val="2D3142"/>
                        </a:solidFill>
                      </a:rPr>
                      <a:t>12 </a:t>
                    </a:r>
                    <a:r>
                      <a:rPr lang="en-US" b="1" sz="900">
                        <a:solidFill>
                          <a:srgbClr val="2D3142"/>
                        </a:solidFill>
                      </a:rPr>
                      <a:t>DE</a:t>
                    </a:r>
                  </a:p>
                </c:rich>
              </c:tx>
              <c:showLegendKey val="0"/>
              <c:showVal val="0"/>
              <c:showCatName val="0"/>
              <c:showSerName val="0"/>
              <c:showPercent val="0"/>
              <c:showBubbleSize val="0"/>
            </c:dLbl>
            <c:dLbl>
              <c:idx val="1"/>
              <c:tx>
                <c:rich>
                  <a:bodyPr/>
                  <a:lstStyle/>
                  <a:p>
                    <a:r>
                      <a:rPr lang="en-US" b="1" sz="800">
                        <a:solidFill>
                          <a:srgbClr val="2D3142"/>
                        </a:solidFill>
                      </a:rPr>
                      <a:t>29 </a:t>
                    </a:r>
                    <a:r>
                      <a:rPr lang="en-US" b="1" sz="900">
                        <a:solidFill>
                          <a:srgbClr val="2D3142"/>
                        </a:solidFill>
                      </a:rPr>
                      <a:t>ACDE</a:t>
                    </a:r>
                  </a:p>
                </c:rich>
              </c:tx>
              <c:showLegendKey val="0"/>
              <c:showVal val="0"/>
              <c:showCatName val="0"/>
              <c:showSerName val="0"/>
              <c:showPercent val="0"/>
              <c:showBubbleSize val="0"/>
            </c:dLbl>
            <c:dLbl>
              <c:idx val="2"/>
              <c:tx>
                <c:rich>
                  <a:bodyPr/>
                  <a:lstStyle/>
                  <a:p>
                    <a:r>
                      <a:rPr lang="en-US" b="1" sz="800">
                        <a:solidFill>
                          <a:srgbClr val="2D3142"/>
                        </a:solidFill>
                      </a:rPr>
                      <a:t>20 </a:t>
                    </a:r>
                    <a:r>
                      <a:rPr lang="en-US" b="1" sz="900">
                        <a:solidFill>
                          <a:srgbClr val="2D3142"/>
                        </a:solidFill>
                      </a:rPr>
                      <a:t>ADE</a:t>
                    </a:r>
                  </a:p>
                </c:rich>
              </c:tx>
              <c:showLegendKey val="0"/>
              <c:showVal val="0"/>
              <c:showCatName val="0"/>
              <c:showSerName val="0"/>
              <c:showPercent val="0"/>
              <c:showBubbleSize val="0"/>
            </c:dLbl>
            <c:dLbl>
              <c:idx val="3"/>
              <c:tx>
                <c:rich>
                  <a:bodyPr/>
                  <a:lstStyle/>
                  <a:p>
                    <a:r>
                      <a:rPr lang="en-US" b="1" sz="800">
                        <a:solidFill>
                          <a:srgbClr val="2D3142"/>
                        </a:solidFill>
                      </a:rPr>
                      <a:t>7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11.636438392921782</c:v>
                </c:pt>
                <c:pt idx="1">
                  <c:v>28.745574425368698</c:v>
                </c:pt>
                <c:pt idx="2">
                  <c:v>19.801708295985485</c:v>
                </c:pt>
                <c:pt idx="3">
                  <c:v>7.163607395891105</c:v>
                </c:pt>
                <c:pt idx="4">
                  <c:v>2.485031689895898</c:v>
                </c:pt>
              </c:numCache>
            </c:numRef>
          </c:val>
        </c:ser>
        <c:ser>
          <c:idx val="2"/>
          <c:order val="2"/>
          <c:tx>
            <c:strRef>
              <c:f>Sheet1!$D$1</c:f>
              <c:strCache>
                <c:ptCount val="1"/>
                <c:pt idx="0">
                  <c:v>Somewhat well</c:v>
                </c:pt>
              </c:strCache>
            </c:strRef>
          </c:tx>
          <c:spPr>
            <a:solidFill>
              <a:srgbClr val="F0A060"/>
            </a:solidFill>
          </c:spPr>
          <c:dLbls>
            <c:dLbl>
              <c:idx val="0"/>
              <c:tx>
                <c:rich>
                  <a:bodyPr/>
                  <a:lstStyle/>
                  <a:p>
                    <a:r>
                      <a:rPr lang="en-US" b="1" sz="800">
                        <a:solidFill>
                          <a:srgbClr val="FFFFFF"/>
                        </a:solidFill>
                      </a:rPr>
                      <a:t>58 </a:t>
                    </a:r>
                    <a:r>
                      <a:rPr lang="en-US" b="1" sz="900">
                        <a:solidFill>
                          <a:srgbClr val="FFFFFF"/>
                        </a:solidFill>
                      </a:rPr>
                      <a:t>BCDE</a:t>
                    </a:r>
                  </a:p>
                </c:rich>
              </c:tx>
              <c:showLegendKey val="0"/>
              <c:showVal val="0"/>
              <c:showCatName val="0"/>
              <c:showSerName val="0"/>
              <c:showPercent val="0"/>
              <c:showBubbleSize val="0"/>
            </c:dLbl>
            <c:dLbl>
              <c:idx val="1"/>
              <c:tx>
                <c:rich>
                  <a:bodyPr/>
                  <a:lstStyle/>
                  <a:p>
                    <a:r>
                      <a:rPr lang="en-US" b="1" sz="800">
                        <a:solidFill>
                          <a:srgbClr val="FFFFFF"/>
                        </a:solidFill>
                      </a:rPr>
                      <a:t>42 </a:t>
                    </a:r>
                    <a:r>
                      <a:rPr lang="en-US" b="1" sz="900">
                        <a:solidFill>
                          <a:srgbClr val="FFFFFF"/>
                        </a:solidFill>
                      </a:rPr>
                      <a:t>E</a:t>
                    </a:r>
                  </a:p>
                </c:rich>
              </c:tx>
              <c:showLegendKey val="0"/>
              <c:showVal val="0"/>
              <c:showCatName val="0"/>
              <c:showSerName val="0"/>
              <c:showPercent val="0"/>
              <c:showBubbleSize val="0"/>
            </c:dLbl>
            <c:dLbl>
              <c:idx val="2"/>
              <c:tx>
                <c:rich>
                  <a:bodyPr/>
                  <a:lstStyle/>
                  <a:p>
                    <a:r>
                      <a:rPr lang="en-US" b="1" sz="800">
                        <a:solidFill>
                          <a:srgbClr val="FFFFFF"/>
                        </a:solidFill>
                      </a:rPr>
                      <a:t>48 </a:t>
                    </a:r>
                    <a:r>
                      <a:rPr lang="en-US" b="1" sz="900">
                        <a:solidFill>
                          <a:srgbClr val="FFFFFF"/>
                        </a:solidFill>
                      </a:rPr>
                      <a:t>BE</a:t>
                    </a:r>
                  </a:p>
                </c:rich>
              </c:tx>
              <c:showLegendKey val="0"/>
              <c:showVal val="0"/>
              <c:showCatName val="0"/>
              <c:showSerName val="0"/>
              <c:showPercent val="0"/>
              <c:showBubbleSize val="0"/>
            </c:dLbl>
            <c:dLbl>
              <c:idx val="3"/>
              <c:tx>
                <c:rich>
                  <a:bodyPr/>
                  <a:lstStyle/>
                  <a:p>
                    <a:r>
                      <a:rPr lang="en-US" b="1" sz="800">
                        <a:solidFill>
                          <a:srgbClr val="FFFFFF"/>
                        </a:solidFill>
                      </a:rPr>
                      <a:t>48 </a:t>
                    </a:r>
                    <a:r>
                      <a:rPr lang="en-US" b="1" sz="900">
                        <a:solidFill>
                          <a:srgbClr val="FFFFFF"/>
                        </a:solidFill>
                      </a:rPr>
                      <a:t>BE</a:t>
                    </a:r>
                  </a:p>
                </c:rich>
              </c:tx>
              <c:showLegendKey val="0"/>
              <c:showVal val="0"/>
              <c:showCatName val="0"/>
              <c:showSerName val="0"/>
              <c:showPercent val="0"/>
              <c:showBubbleSize val="0"/>
            </c:dLbl>
            <c:dLbl>
              <c:idx val="4"/>
              <c:tx>
                <c:rich>
                  <a:bodyPr/>
                  <a:lstStyle/>
                  <a:p>
                    <a:r>
                      <a:rPr lang="en-US" b="1" sz="800">
                        <a:solidFill>
                          <a:srgbClr val="FFFFFF"/>
                        </a:solidFill>
                      </a:rPr>
                      <a:t>24</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57.81614771296483</c:v>
                </c:pt>
                <c:pt idx="1">
                  <c:v>42.12854481157998</c:v>
                </c:pt>
                <c:pt idx="2">
                  <c:v>48.194770329956235</c:v>
                </c:pt>
                <c:pt idx="3">
                  <c:v>47.95173982182557</c:v>
                </c:pt>
                <c:pt idx="4">
                  <c:v>23.53924670400497</c:v>
                </c:pt>
              </c:numCache>
            </c:numRef>
          </c:val>
        </c:ser>
        <c:ser>
          <c:idx val="3"/>
          <c:order val="3"/>
          <c:tx>
            <c:strRef>
              <c:f>Sheet1!$E$1</c:f>
              <c:strCache>
                <c:ptCount val="1"/>
                <c:pt idx="0">
                  <c:v>Very well</c:v>
                </c:pt>
              </c:strCache>
            </c:strRef>
          </c:tx>
          <c:spPr>
            <a:solidFill>
              <a:srgbClr val="F07B20"/>
            </a:solidFill>
          </c:spPr>
          <c:dLbls>
            <c:dLbl>
              <c:idx val="0"/>
              <c:tx>
                <c:rich>
                  <a:bodyPr/>
                  <a:lstStyle/>
                  <a:p>
                    <a:r>
                      <a:rPr lang="en-US" b="1" sz="800">
                        <a:solidFill>
                          <a:srgbClr val="FFFFFF"/>
                        </a:solidFill>
                      </a:rPr>
                      <a:t>22 </a:t>
                    </a:r>
                    <a:r>
                      <a:rPr lang="en-US" b="1" sz="900">
                        <a:solidFill>
                          <a:srgbClr val="FFFFFF"/>
                        </a:solidFill>
                      </a:rPr>
                      <a:t>BC</a:t>
                    </a:r>
                  </a:p>
                </c:rich>
              </c:tx>
              <c:showLegendKey val="0"/>
              <c:showVal val="0"/>
              <c:showCatName val="0"/>
              <c:showSerName val="0"/>
              <c:showPercent val="0"/>
              <c:showBubbleSize val="0"/>
            </c:dLbl>
            <c:dLbl>
              <c:idx val="1"/>
              <c:tx>
                <c:rich>
                  <a:bodyPr/>
                  <a:lstStyle/>
                  <a:p>
                    <a:r>
                      <a:rPr lang="en-US" b="1" sz="800">
                        <a:solidFill>
                          <a:srgbClr val="FFFFFF"/>
                        </a:solidFill>
                      </a:rPr>
                      <a:t>9</a:t>
                    </a:r>
                  </a:p>
                </c:rich>
              </c:tx>
              <c:showLegendKey val="0"/>
              <c:showVal val="0"/>
              <c:showCatName val="0"/>
              <c:showSerName val="0"/>
              <c:showPercent val="0"/>
              <c:showBubbleSize val="0"/>
            </c:dLbl>
            <c:dLbl>
              <c:idx val="2"/>
              <c:tx>
                <c:rich>
                  <a:bodyPr/>
                  <a:lstStyle/>
                  <a:p>
                    <a:r>
                      <a:rPr lang="en-US" b="1" sz="800">
                        <a:solidFill>
                          <a:srgbClr val="FFFFFF"/>
                        </a:solidFill>
                      </a:rPr>
                      <a:t>16 </a:t>
                    </a:r>
                    <a:r>
                      <a:rPr lang="en-US" b="1" sz="900">
                        <a:solidFill>
                          <a:srgbClr val="FFFFFF"/>
                        </a:solidFill>
                      </a:rPr>
                      <a:t>B</a:t>
                    </a:r>
                  </a:p>
                </c:rich>
              </c:tx>
              <c:showLegendKey val="0"/>
              <c:showVal val="0"/>
              <c:showCatName val="0"/>
              <c:showSerName val="0"/>
              <c:showPercent val="0"/>
              <c:showBubbleSize val="0"/>
            </c:dLbl>
            <c:dLbl>
              <c:idx val="3"/>
              <c:tx>
                <c:rich>
                  <a:bodyPr/>
                  <a:lstStyle/>
                  <a:p>
                    <a:r>
                      <a:rPr lang="en-US" b="1" sz="800">
                        <a:solidFill>
                          <a:srgbClr val="FFFFFF"/>
                        </a:solidFill>
                      </a:rPr>
                      <a:t>38 </a:t>
                    </a:r>
                    <a:r>
                      <a:rPr lang="en-US" b="1" sz="900">
                        <a:solidFill>
                          <a:srgbClr val="FFFFFF"/>
                        </a:solidFill>
                      </a:rPr>
                      <a:t>ABC</a:t>
                    </a:r>
                  </a:p>
                </c:rich>
              </c:tx>
              <c:showLegendKey val="0"/>
              <c:showVal val="0"/>
              <c:showCatName val="0"/>
              <c:showSerName val="0"/>
              <c:showPercent val="0"/>
              <c:showBubbleSize val="0"/>
            </c:dLbl>
            <c:dLbl>
              <c:idx val="4"/>
              <c:tx>
                <c:rich>
                  <a:bodyPr/>
                  <a:lstStyle/>
                  <a:p>
                    <a:r>
                      <a:rPr lang="en-US" b="1" sz="800">
                        <a:solidFill>
                          <a:srgbClr val="FFFFFF"/>
                        </a:solidFill>
                      </a:rPr>
                      <a:t>67 </a:t>
                    </a:r>
                    <a:r>
                      <a:rPr lang="en-US" b="1" sz="900">
                        <a:solidFill>
                          <a:srgbClr val="FFFFFF"/>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21.73947203469214</c:v>
                </c:pt>
                <c:pt idx="1">
                  <c:v>9.133724648130785</c:v>
                </c:pt>
                <c:pt idx="2">
                  <c:v>16.462512331583618</c:v>
                </c:pt>
                <c:pt idx="3">
                  <c:v>37.92098297564673</c:v>
                </c:pt>
                <c:pt idx="4">
                  <c:v>67.11514283376404</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Not at all well</c:v>
                </c:pt>
              </c:strCache>
            </c:strRef>
          </c:tx>
          <c:spPr>
            <a:solidFill>
              <a:srgbClr val="F7D8C0"/>
            </a:solidFill>
          </c:spPr>
          <c:dLbls>
            <c:dLbl>
              <c:idx val="0"/>
              <c:tx>
                <c:rich>
                  <a:bodyPr/>
                  <a:lstStyle/>
                  <a:p>
                    <a:r>
                      <a:rPr lang="en-US" b="1" sz="800">
                        <a:solidFill>
                          <a:srgbClr val="2D3142"/>
                        </a:solidFill>
                      </a:rPr>
                      <a:t>38 </a:t>
                    </a:r>
                    <a:r>
                      <a:rPr lang="en-US" b="1" sz="900">
                        <a:solidFill>
                          <a:srgbClr val="2D3142"/>
                        </a:solidFill>
                      </a:rPr>
                      <a:t>BC</a:t>
                    </a:r>
                  </a:p>
                </c:rich>
              </c:tx>
              <c:showLegendKey val="0"/>
              <c:showVal val="0"/>
              <c:showCatName val="0"/>
              <c:showSerName val="0"/>
              <c:showPercent val="0"/>
              <c:showBubbleSize val="0"/>
            </c:dLbl>
            <c:dLbl>
              <c:idx val="1"/>
              <c:tx>
                <c:rich>
                  <a:bodyPr/>
                  <a:lstStyle/>
                  <a:p>
                    <a:r>
                      <a:rPr lang="en-US" b="1" sz="800">
                        <a:solidFill>
                          <a:srgbClr val="2D3142"/>
                        </a:solidFill>
                      </a:rPr>
                      <a:t>27</a:t>
                    </a:r>
                  </a:p>
                </c:rich>
              </c:tx>
              <c:showLegendKey val="0"/>
              <c:showVal val="0"/>
              <c:showCatName val="0"/>
              <c:showSerName val="0"/>
              <c:showPercent val="0"/>
              <c:showBubbleSize val="0"/>
            </c:dLbl>
            <c:dLbl>
              <c:idx val="2"/>
              <c:tx>
                <c:rich>
                  <a:bodyPr/>
                  <a:lstStyle/>
                  <a:p>
                    <a:r>
                      <a:rPr lang="en-US" b="1" sz="800">
                        <a:solidFill>
                          <a:srgbClr val="2D3142"/>
                        </a:solidFill>
                      </a:rPr>
                      <a:t>25</a:t>
                    </a:r>
                  </a:p>
                </c:rich>
              </c:tx>
              <c:showLegendKey val="0"/>
              <c:showVal val="0"/>
              <c:showCatName val="0"/>
              <c:showSerName val="0"/>
              <c:showPercent val="0"/>
              <c:showBubbleSize val="0"/>
            </c:dLbl>
            <c:dLbl>
              <c:idx val="3"/>
              <c:tx>
                <c:rich>
                  <a:bodyPr/>
                  <a:lstStyle/>
                  <a:p>
                    <a:r>
                      <a:rPr lang="en-US" b="1" sz="800">
                        <a:solidFill>
                          <a:srgbClr val="2D3142"/>
                        </a:solidFill>
                      </a:rPr>
                      <a:t>65 </a:t>
                    </a:r>
                    <a:r>
                      <a:rPr lang="en-US" b="1" sz="900">
                        <a:solidFill>
                          <a:srgbClr val="2D3142"/>
                        </a:solidFill>
                      </a:rPr>
                      <a:t>ABC</a:t>
                    </a:r>
                  </a:p>
                </c:rich>
              </c:tx>
              <c:showLegendKey val="0"/>
              <c:showVal val="0"/>
              <c:showCatName val="0"/>
              <c:showSerName val="0"/>
              <c:showPercent val="0"/>
              <c:showBubbleSize val="0"/>
            </c:dLbl>
            <c:dLbl>
              <c:idx val="4"/>
              <c:tx>
                <c:rich>
                  <a:bodyPr/>
                  <a:lstStyle/>
                  <a:p>
                    <a:r>
                      <a:rPr lang="en-US" b="1" sz="800">
                        <a:solidFill>
                          <a:srgbClr val="2D3142"/>
                        </a:solidFill>
                      </a:rPr>
                      <a:t>71 </a:t>
                    </a:r>
                    <a:r>
                      <a:rPr lang="en-US" b="1" sz="900">
                        <a:solidFill>
                          <a:srgbClr val="2D3142"/>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37.86831890994283</c:v>
                </c:pt>
                <c:pt idx="1">
                  <c:v>27.105305751209674</c:v>
                </c:pt>
                <c:pt idx="2">
                  <c:v>24.93620755047031</c:v>
                </c:pt>
                <c:pt idx="3">
                  <c:v>64.68971656639644</c:v>
                </c:pt>
                <c:pt idx="4">
                  <c:v>71.46781538173461</c:v>
                </c:pt>
              </c:numCache>
            </c:numRef>
          </c:val>
        </c:ser>
        <c:ser>
          <c:idx val="1"/>
          <c:order val="1"/>
          <c:tx>
            <c:strRef>
              <c:f>Sheet1!$C$1</c:f>
              <c:strCache>
                <c:ptCount val="1"/>
                <c:pt idx="0">
                  <c:v>Not too well</c:v>
                </c:pt>
              </c:strCache>
            </c:strRef>
          </c:tx>
          <c:spPr>
            <a:solidFill>
              <a:srgbClr val="F4BF9A"/>
            </a:solidFill>
          </c:spPr>
          <c:dLbls>
            <c:dLbl>
              <c:idx val="0"/>
              <c:tx>
                <c:rich>
                  <a:bodyPr/>
                  <a:lstStyle/>
                  <a:p>
                    <a:r>
                      <a:rPr lang="en-US" b="1" sz="800">
                        <a:solidFill>
                          <a:srgbClr val="2D3142"/>
                        </a:solidFill>
                      </a:rPr>
                      <a:t>32 </a:t>
                    </a:r>
                    <a:r>
                      <a:rPr lang="en-US" b="1" sz="900">
                        <a:solidFill>
                          <a:srgbClr val="2D3142"/>
                        </a:solidFill>
                      </a:rPr>
                      <a:t>DE</a:t>
                    </a:r>
                  </a:p>
                </c:rich>
              </c:tx>
              <c:showLegendKey val="0"/>
              <c:showVal val="0"/>
              <c:showCatName val="0"/>
              <c:showSerName val="0"/>
              <c:showPercent val="0"/>
              <c:showBubbleSize val="0"/>
            </c:dLbl>
            <c:dLbl>
              <c:idx val="1"/>
              <c:tx>
                <c:rich>
                  <a:bodyPr/>
                  <a:lstStyle/>
                  <a:p>
                    <a:r>
                      <a:rPr lang="en-US" b="1" sz="800">
                        <a:solidFill>
                          <a:srgbClr val="2D3142"/>
                        </a:solidFill>
                      </a:rPr>
                      <a:t>34 </a:t>
                    </a:r>
                    <a:r>
                      <a:rPr lang="en-US" b="1" sz="900">
                        <a:solidFill>
                          <a:srgbClr val="2D3142"/>
                        </a:solidFill>
                      </a:rPr>
                      <a:t>DE</a:t>
                    </a:r>
                  </a:p>
                </c:rich>
              </c:tx>
              <c:showLegendKey val="0"/>
              <c:showVal val="0"/>
              <c:showCatName val="0"/>
              <c:showSerName val="0"/>
              <c:showPercent val="0"/>
              <c:showBubbleSize val="0"/>
            </c:dLbl>
            <c:dLbl>
              <c:idx val="2"/>
              <c:tx>
                <c:rich>
                  <a:bodyPr/>
                  <a:lstStyle/>
                  <a:p>
                    <a:r>
                      <a:rPr lang="en-US" b="1" sz="800">
                        <a:solidFill>
                          <a:srgbClr val="2D3142"/>
                        </a:solidFill>
                      </a:rPr>
                      <a:t>32 </a:t>
                    </a:r>
                    <a:r>
                      <a:rPr lang="en-US" b="1" sz="900">
                        <a:solidFill>
                          <a:srgbClr val="2D3142"/>
                        </a:solidFill>
                      </a:rPr>
                      <a:t>DE</a:t>
                    </a:r>
                  </a:p>
                </c:rich>
              </c:tx>
              <c:showLegendKey val="0"/>
              <c:showVal val="0"/>
              <c:showCatName val="0"/>
              <c:showSerName val="0"/>
              <c:showPercent val="0"/>
              <c:showBubbleSize val="0"/>
            </c:dLbl>
            <c:dLbl>
              <c:idx val="3"/>
              <c:tx>
                <c:rich>
                  <a:bodyPr/>
                  <a:lstStyle/>
                  <a:p>
                    <a:r>
                      <a:rPr lang="en-US" b="1" sz="800">
                        <a:solidFill>
                          <a:srgbClr val="2D3142"/>
                        </a:solidFill>
                      </a:rPr>
                      <a:t>27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13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31.934235685376056</c:v>
                </c:pt>
                <c:pt idx="1">
                  <c:v>34.019478745350476</c:v>
                </c:pt>
                <c:pt idx="2">
                  <c:v>31.82543731432891</c:v>
                </c:pt>
                <c:pt idx="3">
                  <c:v>26.676995605222526</c:v>
                </c:pt>
                <c:pt idx="4">
                  <c:v>13.420909826810606</c:v>
                </c:pt>
              </c:numCache>
            </c:numRef>
          </c:val>
        </c:ser>
        <c:ser>
          <c:idx val="2"/>
          <c:order val="2"/>
          <c:tx>
            <c:strRef>
              <c:f>Sheet1!$D$1</c:f>
              <c:strCache>
                <c:ptCount val="1"/>
                <c:pt idx="0">
                  <c:v>Somewhat well</c:v>
                </c:pt>
              </c:strCache>
            </c:strRef>
          </c:tx>
          <c:spPr>
            <a:solidFill>
              <a:srgbClr val="F0A060"/>
            </a:solidFill>
          </c:spPr>
          <c:dLbls>
            <c:dLbl>
              <c:idx val="0"/>
              <c:tx>
                <c:rich>
                  <a:bodyPr/>
                  <a:lstStyle/>
                  <a:p>
                    <a:r>
                      <a:rPr lang="en-US" b="1" sz="800">
                        <a:solidFill>
                          <a:srgbClr val="FFFFFF"/>
                        </a:solidFill>
                      </a:rPr>
                      <a:t>25 </a:t>
                    </a:r>
                    <a:r>
                      <a:rPr lang="en-US" b="1" sz="900">
                        <a:solidFill>
                          <a:srgbClr val="FFFFFF"/>
                        </a:solidFill>
                      </a:rPr>
                      <a:t>DE</a:t>
                    </a:r>
                  </a:p>
                </c:rich>
              </c:tx>
              <c:showLegendKey val="0"/>
              <c:showVal val="0"/>
              <c:showCatName val="0"/>
              <c:showSerName val="0"/>
              <c:showPercent val="0"/>
              <c:showBubbleSize val="0"/>
            </c:dLbl>
            <c:dLbl>
              <c:idx val="1"/>
              <c:tx>
                <c:rich>
                  <a:bodyPr/>
                  <a:lstStyle/>
                  <a:p>
                    <a:r>
                      <a:rPr lang="en-US" b="1" sz="800">
                        <a:solidFill>
                          <a:srgbClr val="FFFFFF"/>
                        </a:solidFill>
                      </a:rPr>
                      <a:t>28 </a:t>
                    </a:r>
                    <a:r>
                      <a:rPr lang="en-US" b="1" sz="900">
                        <a:solidFill>
                          <a:srgbClr val="FFFFFF"/>
                        </a:solidFill>
                      </a:rPr>
                      <a:t>DE</a:t>
                    </a:r>
                  </a:p>
                </c:rich>
              </c:tx>
              <c:showLegendKey val="0"/>
              <c:showVal val="0"/>
              <c:showCatName val="0"/>
              <c:showSerName val="0"/>
              <c:showPercent val="0"/>
              <c:showBubbleSize val="0"/>
            </c:dLbl>
            <c:dLbl>
              <c:idx val="2"/>
              <c:tx>
                <c:rich>
                  <a:bodyPr/>
                  <a:lstStyle/>
                  <a:p>
                    <a:r>
                      <a:rPr lang="en-US" b="1" sz="800">
                        <a:solidFill>
                          <a:srgbClr val="FFFFFF"/>
                        </a:solidFill>
                      </a:rPr>
                      <a:t>29 </a:t>
                    </a:r>
                    <a:r>
                      <a:rPr lang="en-US" b="1" sz="900">
                        <a:solidFill>
                          <a:srgbClr val="FFFFFF"/>
                        </a:solidFill>
                      </a:rPr>
                      <a:t>ADE</a:t>
                    </a:r>
                  </a:p>
                </c:rich>
              </c:tx>
              <c:showLegendKey val="0"/>
              <c:showVal val="0"/>
              <c:showCatName val="0"/>
              <c:showSerName val="0"/>
              <c:showPercent val="0"/>
              <c:showBubbleSize val="0"/>
            </c:dLbl>
            <c:dLbl>
              <c:idx val="3"/>
              <c:tx>
                <c:rich>
                  <a:bodyPr/>
                  <a:lstStyle/>
                  <a:p>
                    <a:r>
                      <a:rPr lang="en-US" b="1" sz="800">
                        <a:solidFill>
                          <a:srgbClr val="FFFFFF"/>
                        </a:solidFill>
                      </a:rPr>
                      <a:t>6</a:t>
                    </a:r>
                  </a:p>
                </c:rich>
              </c:tx>
              <c:showLegendKey val="0"/>
              <c:showVal val="0"/>
              <c:showCatName val="0"/>
              <c:showSerName val="0"/>
              <c:showPercent val="0"/>
              <c:showBubbleSize val="0"/>
            </c:dLbl>
            <c:dLbl>
              <c:idx val="4"/>
              <c:tx>
                <c:rich>
                  <a:bodyPr/>
                  <a:lstStyle/>
                  <a:p>
                    <a:r>
                      <a:rPr lang="en-US" b="1" sz="800">
                        <a:solidFill>
                          <a:srgbClr val="FFFFFF"/>
                        </a:solidFill>
                      </a:rPr>
                      <a:t>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25.12405474659824</c:v>
                </c:pt>
                <c:pt idx="1">
                  <c:v>27.521327926725274</c:v>
                </c:pt>
                <c:pt idx="2">
                  <c:v>28.776662063859792</c:v>
                </c:pt>
                <c:pt idx="3">
                  <c:v>5.790063482285832</c:v>
                </c:pt>
                <c:pt idx="4">
                  <c:v>5.930455998084728</c:v>
                </c:pt>
              </c:numCache>
            </c:numRef>
          </c:val>
        </c:ser>
        <c:ser>
          <c:idx val="3"/>
          <c:order val="3"/>
          <c:tx>
            <c:strRef>
              <c:f>Sheet1!$E$1</c:f>
              <c:strCache>
                <c:ptCount val="1"/>
                <c:pt idx="0">
                  <c:v>Very well</c:v>
                </c:pt>
              </c:strCache>
            </c:strRef>
          </c:tx>
          <c:spPr>
            <a:solidFill>
              <a:srgbClr val="F07B20"/>
            </a:solidFill>
          </c:spPr>
          <c:dLbls>
            <c:dLbl>
              <c:idx val="0"/>
              <c:tx>
                <c:rich>
                  <a:bodyPr/>
                  <a:lstStyle/>
                  <a:p>
                    <a:r>
                      <a:rPr lang="en-US" b="1" sz="800">
                        <a:solidFill>
                          <a:srgbClr val="FFFFFF"/>
                        </a:solidFill>
                      </a:rPr>
                      <a:t>3 </a:t>
                    </a:r>
                    <a:r>
                      <a:rPr lang="en-US" b="1" sz="900">
                        <a:solidFill>
                          <a:srgbClr val="FFFFFF"/>
                        </a:solidFill>
                      </a:rPr>
                      <a:t>D</a:t>
                    </a:r>
                  </a:p>
                </c:rich>
              </c:tx>
              <c:showLegendKey val="0"/>
              <c:showVal val="0"/>
              <c:showCatName val="0"/>
              <c:showSerName val="0"/>
              <c:showPercent val="0"/>
              <c:showBubbleSize val="0"/>
            </c:dLbl>
            <c:dLbl>
              <c:idx val="1"/>
              <c:tx>
                <c:rich>
                  <a:bodyPr/>
                  <a:lstStyle/>
                  <a:p>
                    <a:r>
                      <a:rPr lang="en-US" b="1" sz="800">
                        <a:solidFill>
                          <a:srgbClr val="FFFFFF"/>
                        </a:solidFill>
                      </a:rPr>
                      <a:t>5 </a:t>
                    </a:r>
                    <a:r>
                      <a:rPr lang="en-US" b="1" sz="900">
                        <a:solidFill>
                          <a:srgbClr val="FFFFFF"/>
                        </a:solidFill>
                      </a:rPr>
                      <a:t>AD</a:t>
                    </a:r>
                  </a:p>
                </c:rich>
              </c:tx>
              <c:showLegendKey val="0"/>
              <c:showVal val="0"/>
              <c:showCatName val="0"/>
              <c:showSerName val="0"/>
              <c:showPercent val="0"/>
              <c:showBubbleSize val="0"/>
            </c:dLbl>
            <c:dLbl>
              <c:idx val="2"/>
              <c:tx>
                <c:rich>
                  <a:bodyPr/>
                  <a:lstStyle/>
                  <a:p>
                    <a:r>
                      <a:rPr lang="en-US" b="1" sz="800">
                        <a:solidFill>
                          <a:srgbClr val="FFFFFF"/>
                        </a:solidFill>
                      </a:rPr>
                      <a:t>8 </a:t>
                    </a:r>
                    <a:r>
                      <a:rPr lang="en-US" b="1" sz="900">
                        <a:solidFill>
                          <a:srgbClr val="FFFFFF"/>
                        </a:solidFill>
                      </a:rPr>
                      <a:t>ABDE</a:t>
                    </a:r>
                  </a:p>
                </c:rich>
              </c:tx>
              <c:showLegendKey val="0"/>
              <c:showVal val="0"/>
              <c:showCatName val="0"/>
              <c:showSerName val="0"/>
              <c:showPercent val="0"/>
              <c:showBubbleSize val="0"/>
            </c:dLbl>
            <c:dLbl>
              <c:idx val="3"/>
              <c:tx>
                <c:rich>
                  <a:bodyPr/>
                  <a:lstStyle/>
                  <a:p>
                    <a:r>
                      <a:rPr lang="en-US" b="1" sz="800">
                        <a:solidFill>
                          <a:srgbClr val="FFFFFF"/>
                        </a:solidFill>
                      </a:rPr>
                      <a:t>1</a:t>
                    </a:r>
                  </a:p>
                </c:rich>
              </c:tx>
              <c:showLegendKey val="0"/>
              <c:showVal val="0"/>
              <c:showCatName val="0"/>
              <c:showSerName val="0"/>
              <c:showPercent val="0"/>
              <c:showBubbleSize val="0"/>
            </c:dLbl>
            <c:dLbl>
              <c:idx val="4"/>
              <c:tx>
                <c:rich>
                  <a:bodyPr/>
                  <a:lstStyle/>
                  <a:p>
                    <a:r>
                      <a:rPr lang="en-US" b="1" sz="800">
                        <a:solidFill>
                          <a:srgbClr val="FFFFFF"/>
                        </a:solidFill>
                      </a:rPr>
                      <a:t>4 </a:t>
                    </a:r>
                    <a:r>
                      <a:rPr lang="en-US" b="1" sz="900">
                        <a:solidFill>
                          <a:srgbClr val="FFFFFF"/>
                        </a:solidFill>
                      </a:rPr>
                      <a:t>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3.1822527969108463</c:v>
                </c:pt>
                <c:pt idx="1">
                  <c:v>4.9838591215641905</c:v>
                </c:pt>
                <c:pt idx="2">
                  <c:v>8.39236400256065</c:v>
                </c:pt>
                <c:pt idx="3">
                  <c:v>0.5832012533031072</c:v>
                </c:pt>
                <c:pt idx="4">
                  <c:v>4.312888154670296</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Not at all well</c:v>
                </c:pt>
              </c:strCache>
            </c:strRef>
          </c:tx>
          <c:spPr>
            <a:solidFill>
              <a:srgbClr val="F7D8C0"/>
            </a:solidFill>
          </c:spPr>
          <c:dLbls>
            <c:dLbl>
              <c:idx val="0"/>
              <c:tx>
                <c:rich>
                  <a:bodyPr/>
                  <a:lstStyle/>
                  <a:p>
                    <a:r>
                      <a:rPr lang="en-US" b="1" sz="800">
                        <a:solidFill>
                          <a:srgbClr val="2D3142"/>
                        </a:solidFill>
                      </a:rPr>
                      <a:t>8 </a:t>
                    </a:r>
                    <a:r>
                      <a:rPr lang="en-US" b="1" sz="900">
                        <a:solidFill>
                          <a:srgbClr val="2D3142"/>
                        </a:solidFill>
                      </a:rPr>
                      <a:t>DE</a:t>
                    </a:r>
                  </a:p>
                </c:rich>
              </c:tx>
              <c:showLegendKey val="0"/>
              <c:showVal val="0"/>
              <c:showCatName val="0"/>
              <c:showSerName val="0"/>
              <c:showPercent val="0"/>
              <c:showBubbleSize val="0"/>
            </c:dLbl>
            <c:dLbl>
              <c:idx val="1"/>
              <c:tx>
                <c:rich>
                  <a:bodyPr/>
                  <a:lstStyle/>
                  <a:p>
                    <a:r>
                      <a:rPr lang="en-US" b="1" sz="800">
                        <a:solidFill>
                          <a:srgbClr val="2D3142"/>
                        </a:solidFill>
                      </a:rPr>
                      <a:t>17 </a:t>
                    </a:r>
                    <a:r>
                      <a:rPr lang="en-US" b="1" sz="900">
                        <a:solidFill>
                          <a:srgbClr val="2D3142"/>
                        </a:solidFill>
                      </a:rPr>
                      <a:t>ACDE</a:t>
                    </a:r>
                  </a:p>
                </c:rich>
              </c:tx>
              <c:showLegendKey val="0"/>
              <c:showVal val="0"/>
              <c:showCatName val="0"/>
              <c:showSerName val="0"/>
              <c:showPercent val="0"/>
              <c:showBubbleSize val="0"/>
            </c:dLbl>
            <c:dLbl>
              <c:idx val="2"/>
              <c:tx>
                <c:rich>
                  <a:bodyPr/>
                  <a:lstStyle/>
                  <a:p>
                    <a:r>
                      <a:rPr lang="en-US" b="1" sz="800">
                        <a:solidFill>
                          <a:srgbClr val="2D3142"/>
                        </a:solidFill>
                      </a:rPr>
                      <a:t>12 </a:t>
                    </a:r>
                    <a:r>
                      <a:rPr lang="en-US" b="1" sz="900">
                        <a:solidFill>
                          <a:srgbClr val="2D3142"/>
                        </a:solidFill>
                      </a:rPr>
                      <a:t>ADE</a:t>
                    </a:r>
                  </a:p>
                </c:rich>
              </c:tx>
              <c:showLegendKey val="0"/>
              <c:showVal val="0"/>
              <c:showCatName val="0"/>
              <c:showSerName val="0"/>
              <c:showPercent val="0"/>
              <c:showBubbleSize val="0"/>
            </c:dLbl>
            <c:dLbl>
              <c:idx val="3"/>
              <c:tx>
                <c:rich>
                  <a:bodyPr/>
                  <a:lstStyle/>
                  <a:p>
                    <a:r>
                      <a:rPr lang="en-US" b="1" sz="800">
                        <a:solidFill>
                          <a:srgbClr val="2D3142"/>
                        </a:solidFill>
                      </a:rPr>
                      <a:t>4</a:t>
                    </a:r>
                  </a:p>
                </c:rich>
              </c:tx>
              <c:showLegendKey val="0"/>
              <c:showVal val="0"/>
              <c:showCatName val="0"/>
              <c:showSerName val="0"/>
              <c:showPercent val="0"/>
              <c:showBubbleSize val="0"/>
            </c:dLbl>
            <c:dLbl>
              <c:idx val="4"/>
              <c:tx>
                <c:rich>
                  <a:bodyPr/>
                  <a:lstStyle/>
                  <a:p>
                    <a:r>
                      <a:rPr lang="en-US" b="1" sz="800">
                        <a:solidFill>
                          <a:srgbClr val="2D3142"/>
                        </a:solidFill>
                      </a:rPr>
                      <a:t>4</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8.468833626368173</c:v>
                </c:pt>
                <c:pt idx="1">
                  <c:v>16.608573628887164</c:v>
                </c:pt>
                <c:pt idx="2">
                  <c:v>11.904407464889275</c:v>
                </c:pt>
                <c:pt idx="3">
                  <c:v>3.835720407084246</c:v>
                </c:pt>
                <c:pt idx="4">
                  <c:v>3.7190624666300987</c:v>
                </c:pt>
              </c:numCache>
            </c:numRef>
          </c:val>
        </c:ser>
        <c:ser>
          <c:idx val="1"/>
          <c:order val="1"/>
          <c:tx>
            <c:strRef>
              <c:f>Sheet1!$C$1</c:f>
              <c:strCache>
                <c:ptCount val="1"/>
                <c:pt idx="0">
                  <c:v>Not too well</c:v>
                </c:pt>
              </c:strCache>
            </c:strRef>
          </c:tx>
          <c:spPr>
            <a:solidFill>
              <a:srgbClr val="F4BF9A"/>
            </a:solidFill>
          </c:spPr>
          <c:dLbls>
            <c:dLbl>
              <c:idx val="0"/>
              <c:tx>
                <c:rich>
                  <a:bodyPr/>
                  <a:lstStyle/>
                  <a:p>
                    <a:r>
                      <a:rPr lang="en-US" b="1" sz="800">
                        <a:solidFill>
                          <a:srgbClr val="2D3142"/>
                        </a:solidFill>
                      </a:rPr>
                      <a:t>13 </a:t>
                    </a:r>
                    <a:r>
                      <a:rPr lang="en-US" b="1" sz="900">
                        <a:solidFill>
                          <a:srgbClr val="2D3142"/>
                        </a:solidFill>
                      </a:rPr>
                      <a:t>DE</a:t>
                    </a:r>
                  </a:p>
                </c:rich>
              </c:tx>
              <c:showLegendKey val="0"/>
              <c:showVal val="0"/>
              <c:showCatName val="0"/>
              <c:showSerName val="0"/>
              <c:showPercent val="0"/>
              <c:showBubbleSize val="0"/>
            </c:dLbl>
            <c:dLbl>
              <c:idx val="1"/>
              <c:tx>
                <c:rich>
                  <a:bodyPr/>
                  <a:lstStyle/>
                  <a:p>
                    <a:r>
                      <a:rPr lang="en-US" b="1" sz="800">
                        <a:solidFill>
                          <a:srgbClr val="2D3142"/>
                        </a:solidFill>
                      </a:rPr>
                      <a:t>30 </a:t>
                    </a:r>
                    <a:r>
                      <a:rPr lang="en-US" b="1" sz="900">
                        <a:solidFill>
                          <a:srgbClr val="2D3142"/>
                        </a:solidFill>
                      </a:rPr>
                      <a:t>ACDE</a:t>
                    </a:r>
                  </a:p>
                </c:rich>
              </c:tx>
              <c:showLegendKey val="0"/>
              <c:showVal val="0"/>
              <c:showCatName val="0"/>
              <c:showSerName val="0"/>
              <c:showPercent val="0"/>
              <c:showBubbleSize val="0"/>
            </c:dLbl>
            <c:dLbl>
              <c:idx val="2"/>
              <c:tx>
                <c:rich>
                  <a:bodyPr/>
                  <a:lstStyle/>
                  <a:p>
                    <a:r>
                      <a:rPr lang="en-US" b="1" sz="800">
                        <a:solidFill>
                          <a:srgbClr val="2D3142"/>
                        </a:solidFill>
                      </a:rPr>
                      <a:t>18 </a:t>
                    </a:r>
                    <a:r>
                      <a:rPr lang="en-US" b="1" sz="900">
                        <a:solidFill>
                          <a:srgbClr val="2D3142"/>
                        </a:solidFill>
                      </a:rPr>
                      <a:t>ADE</a:t>
                    </a:r>
                  </a:p>
                </c:rich>
              </c:tx>
              <c:showLegendKey val="0"/>
              <c:showVal val="0"/>
              <c:showCatName val="0"/>
              <c:showSerName val="0"/>
              <c:showPercent val="0"/>
              <c:showBubbleSize val="0"/>
            </c:dLbl>
            <c:dLbl>
              <c:idx val="3"/>
              <c:tx>
                <c:rich>
                  <a:bodyPr/>
                  <a:lstStyle/>
                  <a:p>
                    <a:r>
                      <a:rPr lang="en-US" b="1" sz="800">
                        <a:solidFill>
                          <a:srgbClr val="2D3142"/>
                        </a:solidFill>
                      </a:rPr>
                      <a:t>9 </a:t>
                    </a:r>
                    <a:r>
                      <a:rPr lang="en-US" b="1" sz="900">
                        <a:solidFill>
                          <a:srgbClr val="2D3142"/>
                        </a:solidFill>
                      </a:rPr>
                      <a:t>E</a:t>
                    </a:r>
                  </a:p>
                </c:rich>
              </c:tx>
              <c:showLegendKey val="0"/>
              <c:showVal val="0"/>
              <c:showCatName val="0"/>
              <c:showSerName val="0"/>
              <c:showPercent val="0"/>
              <c:showBubbleSize val="0"/>
            </c:dLbl>
            <c:dLbl>
              <c:idx val="4"/>
              <c:tx>
                <c:rich>
                  <a:bodyPr/>
                  <a:lstStyle/>
                  <a:p>
                    <a:r>
                      <a:rPr lang="en-US" b="1" sz="800">
                        <a:solidFill>
                          <a:srgbClr val="2D3142"/>
                        </a:solidFill>
                      </a:rPr>
                      <a:t>4</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13.165977978613306</c:v>
                </c:pt>
                <c:pt idx="1">
                  <c:v>29.516737581338802</c:v>
                </c:pt>
                <c:pt idx="2">
                  <c:v>18.42587800350137</c:v>
                </c:pt>
                <c:pt idx="3">
                  <c:v>8.666157616760506</c:v>
                </c:pt>
                <c:pt idx="4">
                  <c:v>4.162164618448025</c:v>
                </c:pt>
              </c:numCache>
            </c:numRef>
          </c:val>
        </c:ser>
        <c:ser>
          <c:idx val="2"/>
          <c:order val="2"/>
          <c:tx>
            <c:strRef>
              <c:f>Sheet1!$D$1</c:f>
              <c:strCache>
                <c:ptCount val="1"/>
                <c:pt idx="0">
                  <c:v>Somewhat well</c:v>
                </c:pt>
              </c:strCache>
            </c:strRef>
          </c:tx>
          <c:spPr>
            <a:solidFill>
              <a:srgbClr val="F0A060"/>
            </a:solidFill>
          </c:spPr>
          <c:dLbls>
            <c:dLbl>
              <c:idx val="0"/>
              <c:tx>
                <c:rich>
                  <a:bodyPr/>
                  <a:lstStyle/>
                  <a:p>
                    <a:r>
                      <a:rPr lang="en-US" b="1" sz="800">
                        <a:solidFill>
                          <a:srgbClr val="FFFFFF"/>
                        </a:solidFill>
                      </a:rPr>
                      <a:t>60 </a:t>
                    </a:r>
                    <a:r>
                      <a:rPr lang="en-US" b="1" sz="900">
                        <a:solidFill>
                          <a:srgbClr val="FFFFFF"/>
                        </a:solidFill>
                      </a:rPr>
                      <a:t>BCE</a:t>
                    </a:r>
                  </a:p>
                </c:rich>
              </c:tx>
              <c:showLegendKey val="0"/>
              <c:showVal val="0"/>
              <c:showCatName val="0"/>
              <c:showSerName val="0"/>
              <c:showPercent val="0"/>
              <c:showBubbleSize val="0"/>
            </c:dLbl>
            <c:dLbl>
              <c:idx val="1"/>
              <c:tx>
                <c:rich>
                  <a:bodyPr/>
                  <a:lstStyle/>
                  <a:p>
                    <a:r>
                      <a:rPr lang="en-US" b="1" sz="800">
                        <a:solidFill>
                          <a:srgbClr val="FFFFFF"/>
                        </a:solidFill>
                      </a:rPr>
                      <a:t>42 </a:t>
                    </a:r>
                    <a:r>
                      <a:rPr lang="en-US" b="1" sz="900">
                        <a:solidFill>
                          <a:srgbClr val="FFFFFF"/>
                        </a:solidFill>
                      </a:rPr>
                      <a:t>E</a:t>
                    </a:r>
                  </a:p>
                </c:rich>
              </c:tx>
              <c:showLegendKey val="0"/>
              <c:showVal val="0"/>
              <c:showCatName val="0"/>
              <c:showSerName val="0"/>
              <c:showPercent val="0"/>
              <c:showBubbleSize val="0"/>
            </c:dLbl>
            <c:dLbl>
              <c:idx val="2"/>
              <c:tx>
                <c:rich>
                  <a:bodyPr/>
                  <a:lstStyle/>
                  <a:p>
                    <a:r>
                      <a:rPr lang="en-US" b="1" sz="800">
                        <a:solidFill>
                          <a:srgbClr val="FFFFFF"/>
                        </a:solidFill>
                      </a:rPr>
                      <a:t>50 </a:t>
                    </a:r>
                    <a:r>
                      <a:rPr lang="en-US" b="1" sz="900">
                        <a:solidFill>
                          <a:srgbClr val="FFFFFF"/>
                        </a:solidFill>
                      </a:rPr>
                      <a:t>BE</a:t>
                    </a:r>
                  </a:p>
                </c:rich>
              </c:tx>
              <c:showLegendKey val="0"/>
              <c:showVal val="0"/>
              <c:showCatName val="0"/>
              <c:showSerName val="0"/>
              <c:showPercent val="0"/>
              <c:showBubbleSize val="0"/>
            </c:dLbl>
            <c:dLbl>
              <c:idx val="3"/>
              <c:tx>
                <c:rich>
                  <a:bodyPr/>
                  <a:lstStyle/>
                  <a:p>
                    <a:r>
                      <a:rPr lang="en-US" b="1" sz="800">
                        <a:solidFill>
                          <a:srgbClr val="FFFFFF"/>
                        </a:solidFill>
                      </a:rPr>
                      <a:t>58 </a:t>
                    </a:r>
                    <a:r>
                      <a:rPr lang="en-US" b="1" sz="900">
                        <a:solidFill>
                          <a:srgbClr val="FFFFFF"/>
                        </a:solidFill>
                      </a:rPr>
                      <a:t>BCE</a:t>
                    </a:r>
                  </a:p>
                </c:rich>
              </c:tx>
              <c:showLegendKey val="0"/>
              <c:showVal val="0"/>
              <c:showCatName val="0"/>
              <c:showSerName val="0"/>
              <c:showPercent val="0"/>
              <c:showBubbleSize val="0"/>
            </c:dLbl>
            <c:dLbl>
              <c:idx val="4"/>
              <c:tx>
                <c:rich>
                  <a:bodyPr/>
                  <a:lstStyle/>
                  <a:p>
                    <a:r>
                      <a:rPr lang="en-US" b="1" sz="800">
                        <a:solidFill>
                          <a:srgbClr val="FFFFFF"/>
                        </a:solidFill>
                      </a:rPr>
                      <a:t>30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60.008487803681895</c:v>
                </c:pt>
                <c:pt idx="1">
                  <c:v>41.7327413191194</c:v>
                </c:pt>
                <c:pt idx="2">
                  <c:v>49.763049203222295</c:v>
                </c:pt>
                <c:pt idx="3">
                  <c:v>58.240452749507774</c:v>
                </c:pt>
                <c:pt idx="4">
                  <c:v>29.820045436285547</c:v>
                </c:pt>
              </c:numCache>
            </c:numRef>
          </c:val>
        </c:ser>
        <c:ser>
          <c:idx val="3"/>
          <c:order val="3"/>
          <c:tx>
            <c:strRef>
              <c:f>Sheet1!$E$1</c:f>
              <c:strCache>
                <c:ptCount val="1"/>
                <c:pt idx="0">
                  <c:v>Very well</c:v>
                </c:pt>
              </c:strCache>
            </c:strRef>
          </c:tx>
          <c:spPr>
            <a:solidFill>
              <a:srgbClr val="F07B20"/>
            </a:solidFill>
          </c:spPr>
          <c:dLbls>
            <c:dLbl>
              <c:idx val="0"/>
              <c:tx>
                <c:rich>
                  <a:bodyPr/>
                  <a:lstStyle/>
                  <a:p>
                    <a:r>
                      <a:rPr lang="en-US" b="1" sz="800">
                        <a:solidFill>
                          <a:srgbClr val="FFFFFF"/>
                        </a:solidFill>
                      </a:rPr>
                      <a:t>16 </a:t>
                    </a:r>
                    <a:r>
                      <a:rPr lang="en-US" b="1" sz="900">
                        <a:solidFill>
                          <a:srgbClr val="FFFFFF"/>
                        </a:solidFill>
                      </a:rPr>
                      <a:t>B</a:t>
                    </a:r>
                  </a:p>
                </c:rich>
              </c:tx>
              <c:showLegendKey val="0"/>
              <c:showVal val="0"/>
              <c:showCatName val="0"/>
              <c:showSerName val="0"/>
              <c:showPercent val="0"/>
              <c:showBubbleSize val="0"/>
            </c:dLbl>
            <c:dLbl>
              <c:idx val="1"/>
              <c:tx>
                <c:rich>
                  <a:bodyPr/>
                  <a:lstStyle/>
                  <a:p>
                    <a:r>
                      <a:rPr lang="en-US" b="1" sz="800">
                        <a:solidFill>
                          <a:srgbClr val="FFFFFF"/>
                        </a:solidFill>
                      </a:rPr>
                      <a:t>8</a:t>
                    </a:r>
                  </a:p>
                </c:rich>
              </c:tx>
              <c:showLegendKey val="0"/>
              <c:showVal val="0"/>
              <c:showCatName val="0"/>
              <c:showSerName val="0"/>
              <c:showPercent val="0"/>
              <c:showBubbleSize val="0"/>
            </c:dLbl>
            <c:dLbl>
              <c:idx val="2"/>
              <c:tx>
                <c:rich>
                  <a:bodyPr/>
                  <a:lstStyle/>
                  <a:p>
                    <a:r>
                      <a:rPr lang="en-US" b="1" sz="800">
                        <a:solidFill>
                          <a:srgbClr val="FFFFFF"/>
                        </a:solidFill>
                      </a:rPr>
                      <a:t>16 </a:t>
                    </a:r>
                    <a:r>
                      <a:rPr lang="en-US" b="1" sz="900">
                        <a:solidFill>
                          <a:srgbClr val="FFFFFF"/>
                        </a:solidFill>
                      </a:rPr>
                      <a:t>B</a:t>
                    </a:r>
                  </a:p>
                </c:rich>
              </c:tx>
              <c:showLegendKey val="0"/>
              <c:showVal val="0"/>
              <c:showCatName val="0"/>
              <c:showSerName val="0"/>
              <c:showPercent val="0"/>
              <c:showBubbleSize val="0"/>
            </c:dLbl>
            <c:dLbl>
              <c:idx val="3"/>
              <c:tx>
                <c:rich>
                  <a:bodyPr/>
                  <a:lstStyle/>
                  <a:p>
                    <a:r>
                      <a:rPr lang="en-US" b="1" sz="800">
                        <a:solidFill>
                          <a:srgbClr val="FFFFFF"/>
                        </a:solidFill>
                      </a:rPr>
                      <a:t>26 </a:t>
                    </a:r>
                    <a:r>
                      <a:rPr lang="en-US" b="1" sz="900">
                        <a:solidFill>
                          <a:srgbClr val="FFFFFF"/>
                        </a:solidFill>
                      </a:rPr>
                      <a:t>ABC</a:t>
                    </a:r>
                  </a:p>
                </c:rich>
              </c:tx>
              <c:showLegendKey val="0"/>
              <c:showVal val="0"/>
              <c:showCatName val="0"/>
              <c:showSerName val="0"/>
              <c:showPercent val="0"/>
              <c:showBubbleSize val="0"/>
            </c:dLbl>
            <c:dLbl>
              <c:idx val="4"/>
              <c:tx>
                <c:rich>
                  <a:bodyPr/>
                  <a:lstStyle/>
                  <a:p>
                    <a:r>
                      <a:rPr lang="en-US" b="1" sz="800">
                        <a:solidFill>
                          <a:srgbClr val="FFFFFF"/>
                        </a:solidFill>
                      </a:rPr>
                      <a:t>58 </a:t>
                    </a:r>
                    <a:r>
                      <a:rPr lang="en-US" b="1" sz="900">
                        <a:solidFill>
                          <a:srgbClr val="FFFFFF"/>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16.468087842303607</c:v>
                </c:pt>
                <c:pt idx="1">
                  <c:v>8.44694781340561</c:v>
                </c:pt>
                <c:pt idx="2">
                  <c:v>16.02019028970048</c:v>
                </c:pt>
                <c:pt idx="3">
                  <c:v>26.017168442293332</c:v>
                </c:pt>
                <c:pt idx="4">
                  <c:v>57.97855070680171</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Hong Kong (A)</c:v>
                </c:pt>
              </c:strCache>
            </c:strRef>
          </c:tx>
          <c:spPr>
            <a:solidFill>
              <a:srgbClr val="F07B20"/>
            </a:solidFill>
          </c:spPr>
          <c:dLbls>
            <c:dLbl>
              <c:idx val="0"/>
              <c:tx>
                <c:rich>
                  <a:bodyPr/>
                  <a:lstStyle/>
                  <a:p>
                    <a:r>
                      <a:rPr lang="en-US" b="1" sz="900">
                        <a:solidFill>
                          <a:srgbClr val="2D3142"/>
                        </a:solidFill>
                      </a:rPr>
                      <a:t>41 </a:t>
                    </a:r>
                    <a:r>
                      <a:rPr lang="en-US" b="1" sz="900">
                        <a:solidFill>
                          <a:srgbClr val="2D3142"/>
                        </a:solidFill>
                      </a:rPr>
                      <a:t>BCD</a:t>
                    </a:r>
                  </a:p>
                </c:rich>
              </c:tx>
              <c:showLegendKey val="0"/>
              <c:showVal val="0"/>
              <c:showCatName val="0"/>
              <c:showSerName val="0"/>
              <c:showPercent val="0"/>
              <c:showBubbleSize val="0"/>
            </c:dLbl>
            <c:dLbl>
              <c:idx val="1"/>
              <c:tx>
                <c:rich>
                  <a:bodyPr/>
                  <a:lstStyle/>
                  <a:p>
                    <a:r>
                      <a:rPr lang="en-US" b="1" sz="900">
                        <a:solidFill>
                          <a:srgbClr val="2D3142"/>
                        </a:solidFill>
                      </a:rPr>
                      <a:t>33 </a:t>
                    </a:r>
                    <a:r>
                      <a:rPr lang="en-US" b="1" sz="900">
                        <a:solidFill>
                          <a:srgbClr val="2D3142"/>
                        </a:solidFill>
                      </a:rPr>
                      <a:t>BCD</a:t>
                    </a:r>
                  </a:p>
                </c:rich>
              </c:tx>
              <c:showLegendKey val="0"/>
              <c:showVal val="0"/>
              <c:showCatName val="0"/>
              <c:showSerName val="0"/>
              <c:showPercent val="0"/>
              <c:showBubbleSize val="0"/>
            </c:dLbl>
            <c:dLbl>
              <c:idx val="2"/>
              <c:tx>
                <c:rich>
                  <a:bodyPr/>
                  <a:lstStyle/>
                  <a:p>
                    <a:r>
                      <a:rPr lang="en-US" b="1" sz="900">
                        <a:solidFill>
                          <a:srgbClr val="2D3142"/>
                        </a:solidFill>
                      </a:rPr>
                      <a:t>39 </a:t>
                    </a:r>
                    <a:r>
                      <a:rPr lang="en-US" b="1" sz="900">
                        <a:solidFill>
                          <a:srgbClr val="2D3142"/>
                        </a:solidFill>
                      </a:rPr>
                      <a:t>BCD</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Talk publicly about what politicans or political parties they support</c:v>
                </c:pt>
                <c:pt idx="1">
                  <c:v>Be politicians</c:v>
                </c:pt>
                <c:pt idx="2">
                  <c:v>Participate in political protests</c:v>
                </c:pt>
              </c:strCache>
            </c:strRef>
          </c:cat>
          <c:val>
            <c:numRef>
              <c:f>Sheet1!$B$2:$B$4</c:f>
              <c:numCache>
                <c:formatCode>0</c:formatCode>
                <c:ptCount val="3"/>
                <c:pt idx="0">
                  <c:v>40.93064630948607</c:v>
                </c:pt>
                <c:pt idx="1">
                  <c:v>33.401757741121166</c:v>
                </c:pt>
                <c:pt idx="2">
                  <c:v>38.874449150253525</c:v>
                </c:pt>
              </c:numCache>
            </c:numRef>
          </c:val>
        </c:ser>
        <c:ser>
          <c:idx val="1"/>
          <c:order val="1"/>
          <c:tx>
            <c:strRef>
              <c:f>Sheet1!$C$1</c:f>
              <c:strCache>
                <c:ptCount val="1"/>
                <c:pt idx="0">
                  <c:v>Japan (B)</c:v>
                </c:pt>
              </c:strCache>
            </c:strRef>
          </c:tx>
          <c:spPr>
            <a:solidFill>
              <a:srgbClr val="F0A060"/>
            </a:solidFill>
          </c:spPr>
          <c:dLbls>
            <c:dLbl>
              <c:idx val="0"/>
              <c:tx>
                <c:rich>
                  <a:bodyPr/>
                  <a:lstStyle/>
                  <a:p>
                    <a:r>
                      <a:rPr lang="en-US" b="1" sz="900">
                        <a:solidFill>
                          <a:srgbClr val="2D3142"/>
                        </a:solidFill>
                      </a:rPr>
                      <a:t>25</a:t>
                    </a:r>
                  </a:p>
                </c:rich>
              </c:tx>
              <c:showLegendKey val="0"/>
              <c:showVal val="0"/>
              <c:showCatName val="0"/>
              <c:showSerName val="0"/>
              <c:showPercent val="0"/>
              <c:showBubbleSize val="0"/>
            </c:dLbl>
            <c:dLbl>
              <c:idx val="1"/>
              <c:tx>
                <c:rich>
                  <a:bodyPr/>
                  <a:lstStyle/>
                  <a:p>
                    <a:r>
                      <a:rPr lang="en-US" b="1" sz="900">
                        <a:solidFill>
                          <a:srgbClr val="2D3142"/>
                        </a:solidFill>
                      </a:rPr>
                      <a:t>14</a:t>
                    </a:r>
                  </a:p>
                </c:rich>
              </c:tx>
              <c:showLegendKey val="0"/>
              <c:showVal val="0"/>
              <c:showCatName val="0"/>
              <c:showSerName val="0"/>
              <c:showPercent val="0"/>
              <c:showBubbleSize val="0"/>
            </c:dLbl>
            <c:dLbl>
              <c:idx val="2"/>
              <c:tx>
                <c:rich>
                  <a:bodyPr/>
                  <a:lstStyle/>
                  <a:p>
                    <a:r>
                      <a:rPr lang="en-US" b="1" sz="900">
                        <a:solidFill>
                          <a:srgbClr val="2D3142"/>
                        </a:solidFill>
                      </a:rPr>
                      <a:t>18</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Talk publicly about what politicans or political parties they support</c:v>
                </c:pt>
                <c:pt idx="1">
                  <c:v>Be politicians</c:v>
                </c:pt>
                <c:pt idx="2">
                  <c:v>Participate in political protests</c:v>
                </c:pt>
              </c:strCache>
            </c:strRef>
          </c:cat>
          <c:val>
            <c:numRef>
              <c:f>Sheet1!$C$2:$C$4</c:f>
              <c:numCache>
                <c:formatCode>0</c:formatCode>
                <c:ptCount val="3"/>
                <c:pt idx="0">
                  <c:v>24.73870224464111</c:v>
                </c:pt>
                <c:pt idx="1">
                  <c:v>13.932017174129108</c:v>
                </c:pt>
                <c:pt idx="2">
                  <c:v>17.980059727744692</c:v>
                </c:pt>
              </c:numCache>
            </c:numRef>
          </c:val>
        </c:ser>
        <c:ser>
          <c:idx val="2"/>
          <c:order val="2"/>
          <c:tx>
            <c:strRef>
              <c:f>Sheet1!$D$1</c:f>
              <c:strCache>
                <c:ptCount val="1"/>
                <c:pt idx="0">
                  <c:v>Korea (C)</c:v>
                </c:pt>
              </c:strCache>
            </c:strRef>
          </c:tx>
          <c:spPr>
            <a:solidFill>
              <a:srgbClr val="F4BF9A"/>
            </a:solidFill>
          </c:spPr>
          <c:dLbls>
            <c:dLbl>
              <c:idx val="0"/>
              <c:tx>
                <c:rich>
                  <a:bodyPr/>
                  <a:lstStyle/>
                  <a:p>
                    <a:r>
                      <a:rPr lang="en-US" b="1" sz="900">
                        <a:solidFill>
                          <a:srgbClr val="2D3142"/>
                        </a:solidFill>
                      </a:rPr>
                      <a:t>23</a:t>
                    </a:r>
                  </a:p>
                </c:rich>
              </c:tx>
              <c:showLegendKey val="0"/>
              <c:showVal val="0"/>
              <c:showCatName val="0"/>
              <c:showSerName val="0"/>
              <c:showPercent val="0"/>
              <c:showBubbleSize val="0"/>
            </c:dLbl>
            <c:dLbl>
              <c:idx val="1"/>
              <c:tx>
                <c:rich>
                  <a:bodyPr/>
                  <a:lstStyle/>
                  <a:p>
                    <a:r>
                      <a:rPr lang="en-US" b="1" sz="900">
                        <a:solidFill>
                          <a:srgbClr val="2D3142"/>
                        </a:solidFill>
                      </a:rPr>
                      <a:t>15</a:t>
                    </a:r>
                  </a:p>
                </c:rich>
              </c:tx>
              <c:showLegendKey val="0"/>
              <c:showVal val="0"/>
              <c:showCatName val="0"/>
              <c:showSerName val="0"/>
              <c:showPercent val="0"/>
              <c:showBubbleSize val="0"/>
            </c:dLbl>
            <c:dLbl>
              <c:idx val="2"/>
              <c:tx>
                <c:rich>
                  <a:bodyPr/>
                  <a:lstStyle/>
                  <a:p>
                    <a:r>
                      <a:rPr lang="en-US" b="1" sz="900">
                        <a:solidFill>
                          <a:srgbClr val="2D3142"/>
                        </a:solidFill>
                      </a:rPr>
                      <a:t>29 </a:t>
                    </a:r>
                    <a:r>
                      <a:rPr lang="en-US" b="1" sz="900">
                        <a:solidFill>
                          <a:srgbClr val="2D3142"/>
                        </a:solidFill>
                      </a:rPr>
                      <a:t>B</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Talk publicly about what politicans or political parties they support</c:v>
                </c:pt>
                <c:pt idx="1">
                  <c:v>Be politicians</c:v>
                </c:pt>
                <c:pt idx="2">
                  <c:v>Participate in political protests</c:v>
                </c:pt>
              </c:strCache>
            </c:strRef>
          </c:cat>
          <c:val>
            <c:numRef>
              <c:f>Sheet1!$D$2:$D$4</c:f>
              <c:numCache>
                <c:formatCode>0</c:formatCode>
                <c:ptCount val="3"/>
                <c:pt idx="0">
                  <c:v>23.183253790888074</c:v>
                </c:pt>
                <c:pt idx="1">
                  <c:v>14.65063667085477</c:v>
                </c:pt>
                <c:pt idx="2">
                  <c:v>29.493781979885274</c:v>
                </c:pt>
              </c:numCache>
            </c:numRef>
          </c:val>
        </c:ser>
        <c:ser>
          <c:idx val="3"/>
          <c:order val="3"/>
          <c:tx>
            <c:strRef>
              <c:f>Sheet1!$E$1</c:f>
              <c:strCache>
                <c:ptCount val="1"/>
                <c:pt idx="0">
                  <c:v>Taiwan (D)</c:v>
                </c:pt>
              </c:strCache>
            </c:strRef>
          </c:tx>
          <c:spPr>
            <a:solidFill>
              <a:srgbClr val="F7D8C0"/>
            </a:solidFill>
          </c:spPr>
          <c:dLbls>
            <c:dLbl>
              <c:idx val="0"/>
              <c:tx>
                <c:rich>
                  <a:bodyPr/>
                  <a:lstStyle/>
                  <a:p>
                    <a:r>
                      <a:rPr lang="en-US" b="1" sz="900">
                        <a:solidFill>
                          <a:srgbClr val="2D3142"/>
                        </a:solidFill>
                      </a:rPr>
                      <a:t>29 </a:t>
                    </a:r>
                    <a:r>
                      <a:rPr lang="en-US" b="1" sz="900">
                        <a:solidFill>
                          <a:srgbClr val="2D3142"/>
                        </a:solidFill>
                      </a:rPr>
                      <a:t>BC</a:t>
                    </a:r>
                  </a:p>
                </c:rich>
              </c:tx>
              <c:showLegendKey val="0"/>
              <c:showVal val="0"/>
              <c:showCatName val="0"/>
              <c:showSerName val="0"/>
              <c:showPercent val="0"/>
              <c:showBubbleSize val="0"/>
            </c:dLbl>
            <c:dLbl>
              <c:idx val="1"/>
              <c:tx>
                <c:rich>
                  <a:bodyPr/>
                  <a:lstStyle/>
                  <a:p>
                    <a:r>
                      <a:rPr lang="en-US" b="1" sz="900">
                        <a:solidFill>
                          <a:srgbClr val="2D3142"/>
                        </a:solidFill>
                      </a:rPr>
                      <a:t>24 </a:t>
                    </a:r>
                    <a:r>
                      <a:rPr lang="en-US" b="1" sz="900">
                        <a:solidFill>
                          <a:srgbClr val="2D3142"/>
                        </a:solidFill>
                      </a:rPr>
                      <a:t>BC</a:t>
                    </a:r>
                  </a:p>
                </c:rich>
              </c:tx>
              <c:showLegendKey val="0"/>
              <c:showVal val="0"/>
              <c:showCatName val="0"/>
              <c:showSerName val="0"/>
              <c:showPercent val="0"/>
              <c:showBubbleSize val="0"/>
            </c:dLbl>
            <c:dLbl>
              <c:idx val="2"/>
              <c:tx>
                <c:rich>
                  <a:bodyPr/>
                  <a:lstStyle/>
                  <a:p>
                    <a:r>
                      <a:rPr lang="en-US" b="1" sz="900">
                        <a:solidFill>
                          <a:srgbClr val="2D3142"/>
                        </a:solidFill>
                      </a:rPr>
                      <a:t>27 </a:t>
                    </a:r>
                    <a:r>
                      <a:rPr lang="en-US" b="1" sz="900">
                        <a:solidFill>
                          <a:srgbClr val="2D3142"/>
                        </a:solidFill>
                      </a:rPr>
                      <a:t>B</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Talk publicly about what politicans or political parties they support</c:v>
                </c:pt>
                <c:pt idx="1">
                  <c:v>Be politicians</c:v>
                </c:pt>
                <c:pt idx="2">
                  <c:v>Participate in political protests</c:v>
                </c:pt>
              </c:strCache>
            </c:strRef>
          </c:cat>
          <c:val>
            <c:numRef>
              <c:f>Sheet1!$E$2:$E$4</c:f>
              <c:numCache>
                <c:formatCode>0</c:formatCode>
                <c:ptCount val="3"/>
                <c:pt idx="0">
                  <c:v>29.198712260140127</c:v>
                </c:pt>
                <c:pt idx="1">
                  <c:v>23.69163463902561</c:v>
                </c:pt>
                <c:pt idx="2">
                  <c:v>26.927849212380284</c:v>
                </c:pt>
              </c:numCache>
            </c:numRef>
          </c:val>
        </c:ser>
        <c:ser>
          <c:idx val="4"/>
          <c:order val="4"/>
          <c:tx>
            <c:strRef>
              <c:f>Sheet1!$F$1</c:f>
              <c:strCache>
                <c:ptCount val="1"/>
                <c:pt idx="0">
                  <c:v>Vietnam (E)</c:v>
                </c:pt>
              </c:strCache>
            </c:strRef>
          </c:tx>
          <c:spPr>
            <a:solidFill>
              <a:srgbClr val="FBF1E9"/>
            </a:solidFill>
          </c:spPr>
          <c:dLbls>
            <c:dLbl>
              <c:idx val="0"/>
              <c:tx>
                <c:rich>
                  <a:bodyPr/>
                  <a:lstStyle/>
                  <a:p>
                    <a:r>
                      <a:rPr lang="en-US" b="1" sz="900">
                        <a:solidFill>
                          <a:srgbClr val="2D3142"/>
                        </a:solidFill>
                      </a:rPr>
                      <a:t>44 </a:t>
                    </a:r>
                    <a:r>
                      <a:rPr lang="en-US" b="1" sz="900">
                        <a:solidFill>
                          <a:srgbClr val="2D3142"/>
                        </a:solidFill>
                      </a:rPr>
                      <a:t>BCD</a:t>
                    </a:r>
                  </a:p>
                </c:rich>
              </c:tx>
              <c:showLegendKey val="0"/>
              <c:showVal val="0"/>
              <c:showCatName val="0"/>
              <c:showSerName val="0"/>
              <c:showPercent val="0"/>
              <c:showBubbleSize val="0"/>
            </c:dLbl>
            <c:dLbl>
              <c:idx val="1"/>
              <c:tx>
                <c:rich>
                  <a:bodyPr/>
                  <a:lstStyle/>
                  <a:p>
                    <a:r>
                      <a:rPr lang="en-US" b="1" sz="900">
                        <a:solidFill>
                          <a:srgbClr val="2D3142"/>
                        </a:solidFill>
                      </a:rPr>
                      <a:t>34 </a:t>
                    </a:r>
                    <a:r>
                      <a:rPr lang="en-US" b="1" sz="900">
                        <a:solidFill>
                          <a:srgbClr val="2D3142"/>
                        </a:solidFill>
                      </a:rPr>
                      <a:t>BCD</a:t>
                    </a:r>
                  </a:p>
                </c:rich>
              </c:tx>
              <c:showLegendKey val="0"/>
              <c:showVal val="0"/>
              <c:showCatName val="0"/>
              <c:showSerName val="0"/>
              <c:showPercent val="0"/>
              <c:showBubbleSize val="0"/>
            </c:dLbl>
            <c:dLbl>
              <c:idx val="2"/>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Sheet1!$A$2:$A$4</c:f>
              <c:strCache>
                <c:ptCount val="3"/>
                <c:pt idx="0">
                  <c:v>Talk publicly about what politicans or political parties they support</c:v>
                </c:pt>
                <c:pt idx="1">
                  <c:v>Be politicians</c:v>
                </c:pt>
                <c:pt idx="2">
                  <c:v>Participate in political protests</c:v>
                </c:pt>
              </c:strCache>
            </c:strRef>
          </c:cat>
          <c:val>
            <c:numRef>
              <c:f>Sheet1!$F$2:$F$4</c:f>
              <c:numCache>
                <c:formatCode>0</c:formatCode>
                <c:ptCount val="3"/>
                <c:pt idx="0">
                  <c:v>43.50786245127892</c:v>
                </c:pt>
                <c:pt idx="1">
                  <c:v>33.996339449228884</c:v>
                </c:pt>
                <c:pt idx="2">
                  <c:v>0.0</c:v>
                </c:pt>
              </c:numCache>
            </c:numRef>
          </c:val>
        </c:ser>
        <c:gapWidth val="4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Other/Both/Neither/Depends on situation</c:v>
                </c:pt>
              </c:strCache>
            </c:strRef>
          </c:tx>
          <c:spPr>
            <a:solidFill>
              <a:srgbClr val="F4BF9A"/>
            </a:solidFill>
          </c:spPr>
          <c:dLbls>
            <c:dLbl>
              <c:idx val="0"/>
              <c:tx>
                <c:rich>
                  <a:bodyPr/>
                  <a:lstStyle/>
                  <a:p>
                    <a:r>
                      <a:rPr lang="en-US" b="1" sz="800">
                        <a:solidFill>
                          <a:srgbClr val="2D3142"/>
                        </a:solidFill>
                      </a:rPr>
                      <a:t>2 </a:t>
                    </a:r>
                    <a:r>
                      <a:rPr lang="en-US" b="1" sz="900">
                        <a:solidFill>
                          <a:srgbClr val="2D3142"/>
                        </a:solidFill>
                      </a:rPr>
                      <a:t>Ec</a:t>
                    </a:r>
                  </a:p>
                </c:rich>
              </c:tx>
              <c:showLegendKey val="0"/>
              <c:showVal val="0"/>
              <c:showCatName val="0"/>
              <c:showSerName val="0"/>
              <c:showPercent val="0"/>
              <c:showBubbleSize val="0"/>
            </c:dLbl>
            <c:dLbl>
              <c:idx val="1"/>
              <c:tx>
                <c:rich>
                  <a:bodyPr/>
                  <a:lstStyle/>
                  <a:p>
                    <a:r>
                      <a:rPr lang="en-US" b="1" sz="800">
                        <a:solidFill>
                          <a:srgbClr val="2D3142"/>
                        </a:solidFill>
                      </a:rPr>
                      <a:t>3 </a:t>
                    </a:r>
                    <a:r>
                      <a:rPr lang="en-US" b="1" sz="900">
                        <a:solidFill>
                          <a:srgbClr val="2D3142"/>
                        </a:solidFill>
                      </a:rPr>
                      <a:t>CE</a:t>
                    </a:r>
                  </a:p>
                </c:rich>
              </c:tx>
              <c:showLegendKey val="0"/>
              <c:showVal val="0"/>
              <c:showCatName val="0"/>
              <c:showSerName val="0"/>
              <c:showPercent val="0"/>
              <c:showBubbleSize val="0"/>
            </c:dLbl>
            <c:dLbl>
              <c:idx val="2"/>
              <c:tx>
                <c:rich>
                  <a:bodyPr/>
                  <a:lstStyle/>
                  <a:p>
                    <a:r>
                      <a:rPr lang="en-US" b="1" sz="800">
                        <a:solidFill>
                          <a:srgbClr val="2D3142"/>
                        </a:solidFill>
                      </a:rPr>
                      <a:t>1</a:t>
                    </a:r>
                  </a:p>
                </c:rich>
              </c:tx>
              <c:showLegendKey val="0"/>
              <c:showVal val="0"/>
              <c:showCatName val="0"/>
              <c:showSerName val="0"/>
              <c:showPercent val="0"/>
              <c:showBubbleSize val="0"/>
            </c:dLbl>
            <c:dLbl>
              <c:idx val="3"/>
              <c:tx>
                <c:rich>
                  <a:bodyPr/>
                  <a:lstStyle/>
                  <a:p>
                    <a:r>
                      <a:rPr lang="en-US" b="1" sz="800">
                        <a:solidFill>
                          <a:srgbClr val="2D3142"/>
                        </a:solidFill>
                      </a:rPr>
                      <a:t>6 </a:t>
                    </a:r>
                    <a:r>
                      <a:rPr lang="en-US" b="1" sz="900">
                        <a:solidFill>
                          <a:srgbClr val="2D3142"/>
                        </a:solidFill>
                      </a:rPr>
                      <a:t>ABCE</a:t>
                    </a:r>
                  </a:p>
                </c:rich>
              </c:tx>
              <c:showLegendKey val="0"/>
              <c:showVal val="0"/>
              <c:showCatName val="0"/>
              <c:showSerName val="0"/>
              <c:showPercent val="0"/>
              <c:showBubbleSize val="0"/>
            </c:dLbl>
            <c:dLbl>
              <c:idx val="4"/>
              <c:tx>
                <c:rich>
                  <a:bodyPr/>
                  <a:lstStyle/>
                  <a:p>
                    <a:r>
                      <a:rPr lang="en-US" b="1" sz="800">
                        <a:solidFill>
                          <a:srgbClr val="2D3142"/>
                        </a:solidFill>
                      </a:rPr>
                      <a:t>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2.4594558076454667</c:v>
                </c:pt>
                <c:pt idx="1">
                  <c:v>2.9437522869103927</c:v>
                </c:pt>
                <c:pt idx="2">
                  <c:v>1.4267007420999536</c:v>
                </c:pt>
                <c:pt idx="3">
                  <c:v>5.65663640043847</c:v>
                </c:pt>
                <c:pt idx="4">
                  <c:v>1.1198868737049683</c:v>
                </c:pt>
              </c:numCache>
            </c:numRef>
          </c:val>
        </c:ser>
        <c:ser>
          <c:idx val="1"/>
          <c:order val="1"/>
          <c:tx>
            <c:strRef>
              <c:f>Sheet1!$C$1</c:f>
              <c:strCache>
                <c:ptCount val="1"/>
                <c:pt idx="0">
                  <c:v>Unacceptable</c:v>
                </c:pt>
              </c:strCache>
            </c:strRef>
          </c:tx>
          <c:spPr>
            <a:solidFill>
              <a:srgbClr val="F0A060"/>
            </a:solidFill>
          </c:spPr>
          <c:dLbls>
            <c:dLbl>
              <c:idx val="0"/>
              <c:tx>
                <c:rich>
                  <a:bodyPr/>
                  <a:lstStyle/>
                  <a:p>
                    <a:r>
                      <a:rPr lang="en-US" b="1" sz="800">
                        <a:solidFill>
                          <a:srgbClr val="FFFFFF"/>
                        </a:solidFill>
                      </a:rPr>
                      <a:t>29</a:t>
                    </a:r>
                  </a:p>
                </c:rich>
              </c:tx>
              <c:showLegendKey val="0"/>
              <c:showVal val="0"/>
              <c:showCatName val="0"/>
              <c:showSerName val="0"/>
              <c:showPercent val="0"/>
              <c:showBubbleSize val="0"/>
            </c:dLbl>
            <c:dLbl>
              <c:idx val="1"/>
              <c:tx>
                <c:rich>
                  <a:bodyPr/>
                  <a:lstStyle/>
                  <a:p>
                    <a:r>
                      <a:rPr lang="en-US" b="1" sz="800">
                        <a:solidFill>
                          <a:srgbClr val="FFFFFF"/>
                        </a:solidFill>
                      </a:rPr>
                      <a:t>83 </a:t>
                    </a:r>
                    <a:r>
                      <a:rPr lang="en-US" b="1" sz="900">
                        <a:solidFill>
                          <a:srgbClr val="FFFFFF"/>
                        </a:solidFill>
                      </a:rPr>
                      <a:t>ACDE</a:t>
                    </a:r>
                  </a:p>
                </c:rich>
              </c:tx>
              <c:showLegendKey val="0"/>
              <c:showVal val="0"/>
              <c:showCatName val="0"/>
              <c:showSerName val="0"/>
              <c:showPercent val="0"/>
              <c:showBubbleSize val="0"/>
            </c:dLbl>
            <c:dLbl>
              <c:idx val="2"/>
              <c:tx>
                <c:rich>
                  <a:bodyPr/>
                  <a:lstStyle/>
                  <a:p>
                    <a:r>
                      <a:rPr lang="en-US" b="1" sz="800">
                        <a:solidFill>
                          <a:srgbClr val="FFFFFF"/>
                        </a:solidFill>
                      </a:rPr>
                      <a:t>77 </a:t>
                    </a:r>
                    <a:r>
                      <a:rPr lang="en-US" b="1" sz="900">
                        <a:solidFill>
                          <a:srgbClr val="FFFFFF"/>
                        </a:solidFill>
                      </a:rPr>
                      <a:t>ADE</a:t>
                    </a:r>
                  </a:p>
                </c:rich>
              </c:tx>
              <c:showLegendKey val="0"/>
              <c:showVal val="0"/>
              <c:showCatName val="0"/>
              <c:showSerName val="0"/>
              <c:showPercent val="0"/>
              <c:showBubbleSize val="0"/>
            </c:dLbl>
            <c:dLbl>
              <c:idx val="3"/>
              <c:tx>
                <c:rich>
                  <a:bodyPr/>
                  <a:lstStyle/>
                  <a:p>
                    <a:r>
                      <a:rPr lang="en-US" b="1" sz="800">
                        <a:solidFill>
                          <a:srgbClr val="FFFFFF"/>
                        </a:solidFill>
                      </a:rPr>
                      <a:t>46 </a:t>
                    </a:r>
                    <a:r>
                      <a:rPr lang="en-US" b="1" sz="900">
                        <a:solidFill>
                          <a:srgbClr val="FFFFFF"/>
                        </a:solidFill>
                      </a:rPr>
                      <a:t>A</a:t>
                    </a:r>
                  </a:p>
                </c:rich>
              </c:tx>
              <c:showLegendKey val="0"/>
              <c:showVal val="0"/>
              <c:showCatName val="0"/>
              <c:showSerName val="0"/>
              <c:showPercent val="0"/>
              <c:showBubbleSize val="0"/>
            </c:dLbl>
            <c:dLbl>
              <c:idx val="4"/>
              <c:tx>
                <c:rich>
                  <a:bodyPr/>
                  <a:lstStyle/>
                  <a:p>
                    <a:r>
                      <a:rPr lang="en-US" b="1" sz="800">
                        <a:solidFill>
                          <a:srgbClr val="FFFFFF"/>
                        </a:solidFill>
                      </a:rPr>
                      <a:t>46 </a:t>
                    </a:r>
                    <a:r>
                      <a:rPr lang="en-US" b="1" sz="900">
                        <a:solidFill>
                          <a:srgbClr val="FFFFFF"/>
                        </a:solidFill>
                      </a:rPr>
                      <a:t>A</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29.483398891493195</c:v>
                </c:pt>
                <c:pt idx="1">
                  <c:v>82.83871802054445</c:v>
                </c:pt>
                <c:pt idx="2">
                  <c:v>77.44115382313986</c:v>
                </c:pt>
                <c:pt idx="3">
                  <c:v>46.3822201481417</c:v>
                </c:pt>
                <c:pt idx="4">
                  <c:v>45.905222779629305</c:v>
                </c:pt>
              </c:numCache>
            </c:numRef>
          </c:val>
        </c:ser>
        <c:ser>
          <c:idx val="2"/>
          <c:order val="2"/>
          <c:tx>
            <c:strRef>
              <c:f>Sheet1!$D$1</c:f>
              <c:strCache>
                <c:ptCount val="1"/>
                <c:pt idx="0">
                  <c:v>Acceptable</c:v>
                </c:pt>
              </c:strCache>
            </c:strRef>
          </c:tx>
          <c:spPr>
            <a:solidFill>
              <a:srgbClr val="F07B20"/>
            </a:solidFill>
          </c:spPr>
          <c:dLbls>
            <c:dLbl>
              <c:idx val="0"/>
              <c:tx>
                <c:rich>
                  <a:bodyPr/>
                  <a:lstStyle/>
                  <a:p>
                    <a:r>
                      <a:rPr lang="en-US" b="1" sz="800">
                        <a:solidFill>
                          <a:srgbClr val="FFFFFF"/>
                        </a:solidFill>
                      </a:rPr>
                      <a:t>67 </a:t>
                    </a:r>
                    <a:r>
                      <a:rPr lang="en-US" b="1" sz="900">
                        <a:solidFill>
                          <a:srgbClr val="FFFFFF"/>
                        </a:solidFill>
                      </a:rPr>
                      <a:t>BCDE</a:t>
                    </a:r>
                  </a:p>
                </c:rich>
              </c:tx>
              <c:showLegendKey val="0"/>
              <c:showVal val="0"/>
              <c:showCatName val="0"/>
              <c:showSerName val="0"/>
              <c:showPercent val="0"/>
              <c:showBubbleSize val="0"/>
            </c:dLbl>
            <c:dLbl>
              <c:idx val="1"/>
              <c:tx>
                <c:rich>
                  <a:bodyPr/>
                  <a:lstStyle/>
                  <a:p>
                    <a:r>
                      <a:rPr lang="en-US" b="1" sz="800">
                        <a:solidFill>
                          <a:srgbClr val="FFFFFF"/>
                        </a:solidFill>
                      </a:rPr>
                      <a:t>11</a:t>
                    </a:r>
                  </a:p>
                </c:rich>
              </c:tx>
              <c:showLegendKey val="0"/>
              <c:showVal val="0"/>
              <c:showCatName val="0"/>
              <c:showSerName val="0"/>
              <c:showPercent val="0"/>
              <c:showBubbleSize val="0"/>
            </c:dLbl>
            <c:dLbl>
              <c:idx val="2"/>
              <c:tx>
                <c:rich>
                  <a:bodyPr/>
                  <a:lstStyle/>
                  <a:p>
                    <a:r>
                      <a:rPr lang="en-US" b="1" sz="800">
                        <a:solidFill>
                          <a:srgbClr val="FFFFFF"/>
                        </a:solidFill>
                      </a:rPr>
                      <a:t>21 </a:t>
                    </a:r>
                    <a:r>
                      <a:rPr lang="en-US" b="1" sz="900">
                        <a:solidFill>
                          <a:srgbClr val="FFFFFF"/>
                        </a:solidFill>
                      </a:rPr>
                      <a:t>B</a:t>
                    </a:r>
                  </a:p>
                </c:rich>
              </c:tx>
              <c:showLegendKey val="0"/>
              <c:showVal val="0"/>
              <c:showCatName val="0"/>
              <c:showSerName val="0"/>
              <c:showPercent val="0"/>
              <c:showBubbleSize val="0"/>
            </c:dLbl>
            <c:dLbl>
              <c:idx val="3"/>
              <c:tx>
                <c:rich>
                  <a:bodyPr/>
                  <a:lstStyle/>
                  <a:p>
                    <a:r>
                      <a:rPr lang="en-US" b="1" sz="800">
                        <a:solidFill>
                          <a:srgbClr val="FFFFFF"/>
                        </a:solidFill>
                      </a:rPr>
                      <a:t>44 </a:t>
                    </a:r>
                    <a:r>
                      <a:rPr lang="en-US" b="1" sz="900">
                        <a:solidFill>
                          <a:srgbClr val="FFFFFF"/>
                        </a:solidFill>
                      </a:rPr>
                      <a:t>BC</a:t>
                    </a:r>
                  </a:p>
                </c:rich>
              </c:tx>
              <c:showLegendKey val="0"/>
              <c:showVal val="0"/>
              <c:showCatName val="0"/>
              <c:showSerName val="0"/>
              <c:showPercent val="0"/>
              <c:showBubbleSize val="0"/>
            </c:dLbl>
            <c:dLbl>
              <c:idx val="4"/>
              <c:tx>
                <c:rich>
                  <a:bodyPr/>
                  <a:lstStyle/>
                  <a:p>
                    <a:r>
                      <a:rPr lang="en-US" b="1" sz="800">
                        <a:solidFill>
                          <a:srgbClr val="FFFFFF"/>
                        </a:solidFill>
                      </a:rPr>
                      <a:t>48 </a:t>
                    </a:r>
                    <a:r>
                      <a:rPr lang="en-US" b="1" sz="900">
                        <a:solidFill>
                          <a:srgbClr val="FFFFFF"/>
                        </a:solidFill>
                      </a:rPr>
                      <a:t>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67.10738865579032</c:v>
                </c:pt>
                <c:pt idx="1">
                  <c:v>11.332603779126806</c:v>
                </c:pt>
                <c:pt idx="2">
                  <c:v>20.518402553771818</c:v>
                </c:pt>
                <c:pt idx="3">
                  <c:v>44.340015240183895</c:v>
                </c:pt>
                <c:pt idx="4">
                  <c:v>47.68967393215064</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Other/Both/Neither/Depends on situation</c:v>
                </c:pt>
              </c:strCache>
            </c:strRef>
          </c:tx>
          <c:spPr>
            <a:solidFill>
              <a:srgbClr val="F4BF9A"/>
            </a:solidFill>
          </c:spPr>
          <c:dLbls>
            <c:dLbl>
              <c:idx val="0"/>
              <c:tx>
                <c:rich>
                  <a:bodyPr/>
                  <a:lstStyle/>
                  <a:p>
                    <a:r>
                      <a:rPr lang="en-US" b="1" sz="800">
                        <a:solidFill>
                          <a:srgbClr val="2D3142"/>
                        </a:solidFill>
                      </a:rPr>
                      <a:t>2</a:t>
                    </a:r>
                  </a:p>
                </c:rich>
              </c:tx>
              <c:showLegendKey val="0"/>
              <c:showVal val="0"/>
              <c:showCatName val="0"/>
              <c:showSerName val="0"/>
              <c:showPercent val="0"/>
              <c:showBubbleSize val="0"/>
            </c:dLbl>
            <c:dLbl>
              <c:idx val="1"/>
              <c:tx>
                <c:rich>
                  <a:bodyPr/>
                  <a:lstStyle/>
                  <a:p>
                    <a:r>
                      <a:rPr lang="en-US" b="1" sz="800">
                        <a:solidFill>
                          <a:srgbClr val="2D3142"/>
                        </a:solidFill>
                      </a:rPr>
                      <a:t>6 </a:t>
                    </a:r>
                    <a:r>
                      <a:rPr lang="en-US" b="1" sz="900">
                        <a:solidFill>
                          <a:srgbClr val="2D3142"/>
                        </a:solidFill>
                      </a:rPr>
                      <a:t>ACD</a:t>
                    </a:r>
                  </a:p>
                </c:rich>
              </c:tx>
              <c:showLegendKey val="0"/>
              <c:showVal val="0"/>
              <c:showCatName val="0"/>
              <c:showSerName val="0"/>
              <c:showPercent val="0"/>
              <c:showBubbleSize val="0"/>
            </c:dLbl>
            <c:dLbl>
              <c:idx val="2"/>
              <c:tx>
                <c:rich>
                  <a:bodyPr/>
                  <a:lstStyle/>
                  <a:p>
                    <a:r>
                      <a:rPr lang="en-US" b="1" sz="800">
                        <a:solidFill>
                          <a:srgbClr val="2D3142"/>
                        </a:solidFill>
                      </a:rPr>
                      <a:t>3</a:t>
                    </a:r>
                  </a:p>
                </c:rich>
              </c:tx>
              <c:showLegendKey val="0"/>
              <c:showVal val="0"/>
              <c:showCatName val="0"/>
              <c:showSerName val="0"/>
              <c:showPercent val="0"/>
              <c:showBubbleSize val="0"/>
            </c:dLbl>
            <c:dLbl>
              <c:idx val="3"/>
              <c:tx>
                <c:rich>
                  <a:bodyPr/>
                  <a:lstStyle/>
                  <a:p>
                    <a:r>
                      <a:rPr lang="en-US" b="1" sz="800">
                        <a:solidFill>
                          <a:srgbClr val="2D3142"/>
                        </a:solidFill>
                      </a:rPr>
                      <a:t>3</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Hong Kong (A)</c:v>
                </c:pt>
                <c:pt idx="1">
                  <c:v>Japan (B)</c:v>
                </c:pt>
                <c:pt idx="2">
                  <c:v>Korea (C)</c:v>
                </c:pt>
                <c:pt idx="3">
                  <c:v>Taiwan (D)</c:v>
                </c:pt>
              </c:strCache>
            </c:strRef>
          </c:cat>
          <c:val>
            <c:numRef>
              <c:f>Sheet1!$B$2:$B$5</c:f>
              <c:numCache>
                <c:formatCode>0</c:formatCode>
                <c:ptCount val="4"/>
                <c:pt idx="0">
                  <c:v>1.72889719478115</c:v>
                </c:pt>
                <c:pt idx="1">
                  <c:v>6.371450058124833</c:v>
                </c:pt>
                <c:pt idx="2">
                  <c:v>2.5463439881519325</c:v>
                </c:pt>
                <c:pt idx="3">
                  <c:v>2.5043659168212313</c:v>
                </c:pt>
              </c:numCache>
            </c:numRef>
          </c:val>
        </c:ser>
        <c:ser>
          <c:idx val="1"/>
          <c:order val="1"/>
          <c:tx>
            <c:strRef>
              <c:f>Sheet1!$C$1</c:f>
              <c:strCache>
                <c:ptCount val="1"/>
                <c:pt idx="0">
                  <c:v>No</c:v>
                </c:pt>
              </c:strCache>
            </c:strRef>
          </c:tx>
          <c:spPr>
            <a:solidFill>
              <a:srgbClr val="F0A060"/>
            </a:solidFill>
          </c:spPr>
          <c:dLbls>
            <c:dLbl>
              <c:idx val="0"/>
              <c:tx>
                <c:rich>
                  <a:bodyPr/>
                  <a:lstStyle/>
                  <a:p>
                    <a:r>
                      <a:rPr lang="en-US" b="1" sz="800">
                        <a:solidFill>
                          <a:srgbClr val="FFFFFF"/>
                        </a:solidFill>
                      </a:rPr>
                      <a:t>15 </a:t>
                    </a:r>
                    <a:r>
                      <a:rPr lang="en-US" b="1" sz="900">
                        <a:solidFill>
                          <a:srgbClr val="FFFFFF"/>
                        </a:solidFill>
                      </a:rPr>
                      <a:t>D</a:t>
                    </a:r>
                  </a:p>
                </c:rich>
              </c:tx>
              <c:showLegendKey val="0"/>
              <c:showVal val="0"/>
              <c:showCatName val="0"/>
              <c:showSerName val="0"/>
              <c:showPercent val="0"/>
              <c:showBubbleSize val="0"/>
            </c:dLbl>
            <c:dLbl>
              <c:idx val="1"/>
              <c:tx>
                <c:rich>
                  <a:bodyPr/>
                  <a:lstStyle/>
                  <a:p>
                    <a:r>
                      <a:rPr lang="en-US" b="1" sz="800">
                        <a:solidFill>
                          <a:srgbClr val="FFFFFF"/>
                        </a:solidFill>
                      </a:rPr>
                      <a:t>21 </a:t>
                    </a:r>
                    <a:r>
                      <a:rPr lang="en-US" b="1" sz="900">
                        <a:solidFill>
                          <a:srgbClr val="FFFFFF"/>
                        </a:solidFill>
                      </a:rPr>
                      <a:t>ACD</a:t>
                    </a:r>
                  </a:p>
                </c:rich>
              </c:tx>
              <c:showLegendKey val="0"/>
              <c:showVal val="0"/>
              <c:showCatName val="0"/>
              <c:showSerName val="0"/>
              <c:showPercent val="0"/>
              <c:showBubbleSize val="0"/>
            </c:dLbl>
            <c:dLbl>
              <c:idx val="2"/>
              <c:tx>
                <c:rich>
                  <a:bodyPr/>
                  <a:lstStyle/>
                  <a:p>
                    <a:r>
                      <a:rPr lang="en-US" b="1" sz="800">
                        <a:solidFill>
                          <a:srgbClr val="FFFFFF"/>
                        </a:solidFill>
                      </a:rPr>
                      <a:t>13 </a:t>
                    </a:r>
                    <a:r>
                      <a:rPr lang="en-US" b="1" sz="900">
                        <a:solidFill>
                          <a:srgbClr val="FFFFFF"/>
                        </a:solidFill>
                      </a:rPr>
                      <a:t>D</a:t>
                    </a:r>
                  </a:p>
                </c:rich>
              </c:tx>
              <c:showLegendKey val="0"/>
              <c:showVal val="0"/>
              <c:showCatName val="0"/>
              <c:showSerName val="0"/>
              <c:showPercent val="0"/>
              <c:showBubbleSize val="0"/>
            </c:dLbl>
            <c:dLbl>
              <c:idx val="3"/>
              <c:tx>
                <c:rich>
                  <a:bodyPr/>
                  <a:lstStyle/>
                  <a:p>
                    <a:r>
                      <a:rPr lang="en-US" b="1" sz="800">
                        <a:solidFill>
                          <a:srgbClr val="FFFFFF"/>
                        </a:solidFill>
                      </a:rPr>
                      <a:t>11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Hong Kong (A)</c:v>
                </c:pt>
                <c:pt idx="1">
                  <c:v>Japan (B)</c:v>
                </c:pt>
                <c:pt idx="2">
                  <c:v>Korea (C)</c:v>
                </c:pt>
                <c:pt idx="3">
                  <c:v>Taiwan (D)</c:v>
                </c:pt>
              </c:strCache>
            </c:strRef>
          </c:cat>
          <c:val>
            <c:numRef>
              <c:f>Sheet1!$C$2:$C$5</c:f>
              <c:numCache>
                <c:formatCode>0</c:formatCode>
                <c:ptCount val="4"/>
                <c:pt idx="0">
                  <c:v>15.26306094544569</c:v>
                </c:pt>
                <c:pt idx="1">
                  <c:v>21.368986577902398</c:v>
                </c:pt>
                <c:pt idx="2">
                  <c:v>13.399806387001304</c:v>
                </c:pt>
                <c:pt idx="3">
                  <c:v>10.651164231849501</c:v>
                </c:pt>
              </c:numCache>
            </c:numRef>
          </c:val>
        </c:ser>
        <c:ser>
          <c:idx val="2"/>
          <c:order val="2"/>
          <c:tx>
            <c:strRef>
              <c:f>Sheet1!$D$1</c:f>
              <c:strCache>
                <c:ptCount val="1"/>
                <c:pt idx="0">
                  <c:v>Yes</c:v>
                </c:pt>
              </c:strCache>
            </c:strRef>
          </c:tx>
          <c:spPr>
            <a:solidFill>
              <a:srgbClr val="F07B20"/>
            </a:solidFill>
          </c:spPr>
          <c:dLbls>
            <c:dLbl>
              <c:idx val="0"/>
              <c:tx>
                <c:rich>
                  <a:bodyPr/>
                  <a:lstStyle/>
                  <a:p>
                    <a:r>
                      <a:rPr lang="en-US" b="1" sz="800">
                        <a:solidFill>
                          <a:srgbClr val="FFFFFF"/>
                        </a:solidFill>
                      </a:rPr>
                      <a:t>81 </a:t>
                    </a:r>
                    <a:r>
                      <a:rPr lang="en-US" b="1" sz="900">
                        <a:solidFill>
                          <a:srgbClr val="FFFFFF"/>
                        </a:solidFill>
                      </a:rPr>
                      <a:t>B</a:t>
                    </a:r>
                  </a:p>
                </c:rich>
              </c:tx>
              <c:showLegendKey val="0"/>
              <c:showVal val="0"/>
              <c:showCatName val="0"/>
              <c:showSerName val="0"/>
              <c:showPercent val="0"/>
              <c:showBubbleSize val="0"/>
            </c:dLbl>
            <c:dLbl>
              <c:idx val="1"/>
              <c:tx>
                <c:rich>
                  <a:bodyPr/>
                  <a:lstStyle/>
                  <a:p>
                    <a:r>
                      <a:rPr lang="en-US" b="1" sz="800">
                        <a:solidFill>
                          <a:srgbClr val="FFFFFF"/>
                        </a:solidFill>
                      </a:rPr>
                      <a:t>68</a:t>
                    </a:r>
                  </a:p>
                </c:rich>
              </c:tx>
              <c:showLegendKey val="0"/>
              <c:showVal val="0"/>
              <c:showCatName val="0"/>
              <c:showSerName val="0"/>
              <c:showPercent val="0"/>
              <c:showBubbleSize val="0"/>
            </c:dLbl>
            <c:dLbl>
              <c:idx val="2"/>
              <c:tx>
                <c:rich>
                  <a:bodyPr/>
                  <a:lstStyle/>
                  <a:p>
                    <a:r>
                      <a:rPr lang="en-US" b="1" sz="800">
                        <a:solidFill>
                          <a:srgbClr val="FFFFFF"/>
                        </a:solidFill>
                      </a:rPr>
                      <a:t>83 </a:t>
                    </a:r>
                    <a:r>
                      <a:rPr lang="en-US" b="1" sz="900">
                        <a:solidFill>
                          <a:srgbClr val="FFFFFF"/>
                        </a:solidFill>
                      </a:rPr>
                      <a:t>B</a:t>
                    </a:r>
                  </a:p>
                </c:rich>
              </c:tx>
              <c:showLegendKey val="0"/>
              <c:showVal val="0"/>
              <c:showCatName val="0"/>
              <c:showSerName val="0"/>
              <c:showPercent val="0"/>
              <c:showBubbleSize val="0"/>
            </c:dLbl>
            <c:dLbl>
              <c:idx val="3"/>
              <c:tx>
                <c:rich>
                  <a:bodyPr/>
                  <a:lstStyle/>
                  <a:p>
                    <a:r>
                      <a:rPr lang="en-US" b="1" sz="800">
                        <a:solidFill>
                          <a:srgbClr val="FFFFFF"/>
                        </a:solidFill>
                      </a:rPr>
                      <a:t>83 </a:t>
                    </a:r>
                    <a:r>
                      <a:rPr lang="en-US" b="1" sz="900">
                        <a:solidFill>
                          <a:srgbClr val="FFFFFF"/>
                        </a:solidFill>
                      </a:rPr>
                      <a:t>B</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Sheet1!$A$2:$A$5</c:f>
              <c:strCache>
                <c:ptCount val="4"/>
                <c:pt idx="0">
                  <c:v>Hong Kong (A)</c:v>
                </c:pt>
                <c:pt idx="1">
                  <c:v>Japan (B)</c:v>
                </c:pt>
                <c:pt idx="2">
                  <c:v>Korea (C)</c:v>
                </c:pt>
                <c:pt idx="3">
                  <c:v>Taiwan (D)</c:v>
                </c:pt>
              </c:strCache>
            </c:strRef>
          </c:cat>
          <c:val>
            <c:numRef>
              <c:f>Sheet1!$D$2:$D$5</c:f>
              <c:numCache>
                <c:formatCode>0</c:formatCode>
                <c:ptCount val="4"/>
                <c:pt idx="0">
                  <c:v>81.15244190351838</c:v>
                </c:pt>
                <c:pt idx="1">
                  <c:v>67.76403835294677</c:v>
                </c:pt>
                <c:pt idx="2">
                  <c:v>83.08186230035494</c:v>
                </c:pt>
                <c:pt idx="3">
                  <c:v>83.22594462423932</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Men</c:v>
                </c:pt>
              </c:strCache>
            </c:strRef>
          </c:tx>
          <c:spPr>
            <a:solidFill>
              <a:srgbClr val="F07B20"/>
            </a:solidFill>
          </c:spPr>
          <c:dLbls>
            <c:dLbl>
              <c:idx val="0"/>
              <c:tx>
                <c:rich>
                  <a:bodyPr/>
                  <a:lstStyle/>
                  <a:p>
                    <a:r>
                      <a:rPr lang="en-US" b="1" sz="800">
                        <a:solidFill>
                          <a:srgbClr val="FFFFFF"/>
                        </a:solidFill>
                      </a:rPr>
                      <a:t>15 </a:t>
                    </a:r>
                    <a:r>
                      <a:rPr lang="en-US" b="1" sz="900">
                        <a:solidFill>
                          <a:srgbClr val="FFFFFF"/>
                        </a:solidFill>
                      </a:rPr>
                      <a:t>D</a:t>
                    </a:r>
                  </a:p>
                </c:rich>
              </c:tx>
              <c:showLegendKey val="0"/>
              <c:showVal val="0"/>
              <c:showCatName val="0"/>
              <c:showSerName val="0"/>
              <c:showPercent val="0"/>
              <c:showBubbleSize val="0"/>
            </c:dLbl>
            <c:dLbl>
              <c:idx val="1"/>
              <c:tx>
                <c:rich>
                  <a:bodyPr/>
                  <a:lstStyle/>
                  <a:p>
                    <a:r>
                      <a:rPr lang="en-US" b="1" sz="800">
                        <a:solidFill>
                          <a:srgbClr val="FFFFFF"/>
                        </a:solidFill>
                      </a:rPr>
                      <a:t>14 </a:t>
                    </a:r>
                    <a:r>
                      <a:rPr lang="en-US" b="1" sz="900">
                        <a:solidFill>
                          <a:srgbClr val="FFFFFF"/>
                        </a:solidFill>
                      </a:rPr>
                      <a:t>D</a:t>
                    </a:r>
                  </a:p>
                </c:rich>
              </c:tx>
              <c:showLegendKey val="0"/>
              <c:showVal val="0"/>
              <c:showCatName val="0"/>
              <c:showSerName val="0"/>
              <c:showPercent val="0"/>
              <c:showBubbleSize val="0"/>
            </c:dLbl>
            <c:dLbl>
              <c:idx val="2"/>
              <c:tx>
                <c:rich>
                  <a:bodyPr/>
                  <a:lstStyle/>
                  <a:p>
                    <a:r>
                      <a:rPr lang="en-US" b="1" sz="800">
                        <a:solidFill>
                          <a:srgbClr val="FFFFFF"/>
                        </a:solidFill>
                      </a:rPr>
                      <a:t>17 </a:t>
                    </a:r>
                    <a:r>
                      <a:rPr lang="en-US" b="1" sz="900">
                        <a:solidFill>
                          <a:srgbClr val="FFFFFF"/>
                        </a:solidFill>
                      </a:rPr>
                      <a:t>BDE</a:t>
                    </a:r>
                  </a:p>
                </c:rich>
              </c:tx>
              <c:showLegendKey val="0"/>
              <c:showVal val="0"/>
              <c:showCatName val="0"/>
              <c:showSerName val="0"/>
              <c:showPercent val="0"/>
              <c:showBubbleSize val="0"/>
            </c:dLbl>
            <c:dLbl>
              <c:idx val="3"/>
              <c:tx>
                <c:rich>
                  <a:bodyPr/>
                  <a:lstStyle/>
                  <a:p>
                    <a:r>
                      <a:rPr lang="en-US" b="1" sz="800">
                        <a:solidFill>
                          <a:srgbClr val="FFFFFF"/>
                        </a:solidFill>
                      </a:rPr>
                      <a:t>10</a:t>
                    </a:r>
                  </a:p>
                </c:rich>
              </c:tx>
              <c:showLegendKey val="0"/>
              <c:showVal val="0"/>
              <c:showCatName val="0"/>
              <c:showSerName val="0"/>
              <c:showPercent val="0"/>
              <c:showBubbleSize val="0"/>
            </c:dLbl>
            <c:dLbl>
              <c:idx val="4"/>
              <c:tx>
                <c:rich>
                  <a:bodyPr/>
                  <a:lstStyle/>
                  <a:p>
                    <a:r>
                      <a:rPr lang="en-US" b="1" sz="800">
                        <a:solidFill>
                          <a:srgbClr val="FFFFFF"/>
                        </a:solidFill>
                      </a:rPr>
                      <a:t>14 </a:t>
                    </a:r>
                    <a:r>
                      <a:rPr lang="en-US" b="1" sz="900">
                        <a:solidFill>
                          <a:srgbClr val="FFFFFF"/>
                        </a:solidFill>
                      </a:rPr>
                      <a:t>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14.943354676386825</c:v>
                </c:pt>
                <c:pt idx="1">
                  <c:v>13.992858992968692</c:v>
                </c:pt>
                <c:pt idx="2">
                  <c:v>17.244938336483838</c:v>
                </c:pt>
                <c:pt idx="3">
                  <c:v>9.963441394309088</c:v>
                </c:pt>
                <c:pt idx="4">
                  <c:v>14.32543125332261</c:v>
                </c:pt>
              </c:numCache>
            </c:numRef>
          </c:val>
        </c:ser>
        <c:ser>
          <c:idx val="1"/>
          <c:order val="1"/>
          <c:tx>
            <c:strRef>
              <c:f>Sheet1!$C$1</c:f>
              <c:strCache>
                <c:ptCount val="1"/>
                <c:pt idx="0">
                  <c:v>Women</c:v>
                </c:pt>
              </c:strCache>
            </c:strRef>
          </c:tx>
          <c:spPr>
            <a:solidFill>
              <a:srgbClr val="F0A060"/>
            </a:solidFill>
          </c:spPr>
          <c:dLbls>
            <c:dLbl>
              <c:idx val="0"/>
              <c:tx>
                <c:rich>
                  <a:bodyPr/>
                  <a:lstStyle/>
                  <a:p>
                    <a:r>
                      <a:rPr lang="en-US" b="1" sz="800">
                        <a:solidFill>
                          <a:srgbClr val="FFFFFF"/>
                        </a:solidFill>
                      </a:rPr>
                      <a:t>2 </a:t>
                    </a:r>
                    <a:r>
                      <a:rPr lang="en-US" b="1" sz="900">
                        <a:solidFill>
                          <a:srgbClr val="FFFFFF"/>
                        </a:solidFill>
                      </a:rPr>
                      <a:t>CD</a:t>
                    </a:r>
                  </a:p>
                </c:rich>
              </c:tx>
              <c:showLegendKey val="0"/>
              <c:showVal val="0"/>
              <c:showCatName val="0"/>
              <c:showSerName val="0"/>
              <c:showPercent val="0"/>
              <c:showBubbleSize val="0"/>
            </c:dLbl>
            <c:dLbl>
              <c:idx val="1"/>
              <c:tx>
                <c:rich>
                  <a:bodyPr/>
                  <a:lstStyle/>
                  <a:p>
                    <a:r>
                      <a:rPr lang="en-US" b="1" sz="800">
                        <a:solidFill>
                          <a:srgbClr val="FFFFFF"/>
                        </a:solidFill>
                      </a:rPr>
                      <a:t>1 </a:t>
                    </a:r>
                    <a:r>
                      <a:rPr lang="en-US" b="1" sz="900">
                        <a:solidFill>
                          <a:srgbClr val="FFFFFF"/>
                        </a:solidFill>
                      </a:rPr>
                      <a:t>CD</a:t>
                    </a:r>
                  </a:p>
                </c:rich>
              </c:tx>
              <c:showLegendKey val="0"/>
              <c:showVal val="0"/>
              <c:showCatName val="0"/>
              <c:showSerName val="0"/>
              <c:showPercent val="0"/>
              <c:showBubbleSize val="0"/>
            </c:dLbl>
            <c:dLbl>
              <c:idx val="2"/>
              <c:tx>
                <c:rich>
                  <a:bodyPr/>
                  <a:lstStyle/>
                  <a:p>
                    <a:r>
                      <a:rPr lang="en-US" b="1" sz="800">
                        <a:solidFill>
                          <a:srgbClr val="FFFFFF"/>
                        </a:solidFill>
                      </a:rPr>
                      <a:t>0</a:t>
                    </a:r>
                  </a:p>
                </c:rich>
              </c:tx>
              <c:showLegendKey val="0"/>
              <c:showVal val="0"/>
              <c:showCatName val="0"/>
              <c:showSerName val="0"/>
              <c:showPercent val="0"/>
              <c:showBubbleSize val="0"/>
            </c:dLbl>
            <c:dLbl>
              <c:idx val="3"/>
              <c:tx>
                <c:rich>
                  <a:bodyPr/>
                  <a:lstStyle/>
                  <a:p>
                    <a:r>
                      <a:rPr lang="en-US" b="1" sz="800">
                        <a:solidFill>
                          <a:srgbClr val="FFFFFF"/>
                        </a:solidFill>
                      </a:rPr>
                      <a:t>0</a:t>
                    </a:r>
                  </a:p>
                </c:rich>
              </c:tx>
              <c:showLegendKey val="0"/>
              <c:showVal val="0"/>
              <c:showCatName val="0"/>
              <c:showSerName val="0"/>
              <c:showPercent val="0"/>
              <c:showBubbleSize val="0"/>
            </c:dLbl>
            <c:dLbl>
              <c:idx val="4"/>
              <c:tx>
                <c:rich>
                  <a:bodyPr/>
                  <a:lstStyle/>
                  <a:p>
                    <a:r>
                      <a:rPr lang="en-US" b="1" sz="800">
                        <a:solidFill>
                          <a:srgbClr val="FFFFFF"/>
                        </a:solidFill>
                      </a:rPr>
                      <a:t>2 </a:t>
                    </a:r>
                    <a:r>
                      <a:rPr lang="en-US" b="1" sz="900">
                        <a:solidFill>
                          <a:srgbClr val="FFFFFF"/>
                        </a:solidFill>
                      </a:rPr>
                      <a:t>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1.5740329879582404</c:v>
                </c:pt>
                <c:pt idx="1">
                  <c:v>0.8770072133707306</c:v>
                </c:pt>
                <c:pt idx="2">
                  <c:v>0.23299772006826627</c:v>
                </c:pt>
                <c:pt idx="3">
                  <c:v>0.03288840766359536</c:v>
                </c:pt>
                <c:pt idx="4">
                  <c:v>1.6259107760811866</c:v>
                </c:pt>
              </c:numCache>
            </c:numRef>
          </c:val>
        </c:ser>
        <c:ser>
          <c:idx val="2"/>
          <c:order val="2"/>
          <c:tx>
            <c:strRef>
              <c:f>Sheet1!$D$1</c:f>
              <c:strCache>
                <c:ptCount val="1"/>
                <c:pt idx="0">
                  <c:v>Both</c:v>
                </c:pt>
              </c:strCache>
            </c:strRef>
          </c:tx>
          <c:spPr>
            <a:solidFill>
              <a:srgbClr val="F4BF9A"/>
            </a:solidFill>
          </c:spPr>
          <c:dLbls>
            <c:dLbl>
              <c:idx val="0"/>
              <c:tx>
                <c:rich>
                  <a:bodyPr/>
                  <a:lstStyle/>
                  <a:p>
                    <a:r>
                      <a:rPr lang="en-US" b="1" sz="800">
                        <a:solidFill>
                          <a:srgbClr val="2D3142"/>
                        </a:solidFill>
                      </a:rPr>
                      <a:t>82</a:t>
                    </a:r>
                  </a:p>
                </c:rich>
              </c:tx>
              <c:showLegendKey val="0"/>
              <c:showVal val="0"/>
              <c:showCatName val="0"/>
              <c:showSerName val="0"/>
              <c:showPercent val="0"/>
              <c:showBubbleSize val="0"/>
            </c:dLbl>
            <c:dLbl>
              <c:idx val="1"/>
              <c:tx>
                <c:rich>
                  <a:bodyPr/>
                  <a:lstStyle/>
                  <a:p>
                    <a:r>
                      <a:rPr lang="en-US" b="1" sz="800">
                        <a:solidFill>
                          <a:srgbClr val="2D3142"/>
                        </a:solidFill>
                      </a:rPr>
                      <a:t>84 </a:t>
                    </a:r>
                    <a:r>
                      <a:rPr lang="en-US" b="1" sz="900">
                        <a:solidFill>
                          <a:srgbClr val="2D3142"/>
                        </a:solidFill>
                      </a:rPr>
                      <a:t>C</a:t>
                    </a:r>
                  </a:p>
                </c:rich>
              </c:tx>
              <c:showLegendKey val="0"/>
              <c:showVal val="0"/>
              <c:showCatName val="0"/>
              <c:showSerName val="0"/>
              <c:showPercent val="0"/>
              <c:showBubbleSize val="0"/>
            </c:dLbl>
            <c:dLbl>
              <c:idx val="2"/>
              <c:tx>
                <c:rich>
                  <a:bodyPr/>
                  <a:lstStyle/>
                  <a:p>
                    <a:r>
                      <a:rPr lang="en-US" b="1" sz="800">
                        <a:solidFill>
                          <a:srgbClr val="2D3142"/>
                        </a:solidFill>
                      </a:rPr>
                      <a:t>80</a:t>
                    </a:r>
                  </a:p>
                </c:rich>
              </c:tx>
              <c:showLegendKey val="0"/>
              <c:showVal val="0"/>
              <c:showCatName val="0"/>
              <c:showSerName val="0"/>
              <c:showPercent val="0"/>
              <c:showBubbleSize val="0"/>
            </c:dLbl>
            <c:dLbl>
              <c:idx val="3"/>
              <c:tx>
                <c:rich>
                  <a:bodyPr/>
                  <a:lstStyle/>
                  <a:p>
                    <a:r>
                      <a:rPr lang="en-US" b="1" sz="800">
                        <a:solidFill>
                          <a:srgbClr val="2D3142"/>
                        </a:solidFill>
                      </a:rPr>
                      <a:t>83 </a:t>
                    </a:r>
                    <a:r>
                      <a:rPr lang="en-US" b="1" sz="900">
                        <a:solidFill>
                          <a:srgbClr val="2D3142"/>
                        </a:solidFill>
                      </a:rPr>
                      <a:t>c</a:t>
                    </a:r>
                  </a:p>
                </c:rich>
              </c:tx>
              <c:showLegendKey val="0"/>
              <c:showVal val="0"/>
              <c:showCatName val="0"/>
              <c:showSerName val="0"/>
              <c:showPercent val="0"/>
              <c:showBubbleSize val="0"/>
            </c:dLbl>
            <c:dLbl>
              <c:idx val="4"/>
              <c:tx>
                <c:rich>
                  <a:bodyPr/>
                  <a:lstStyle/>
                  <a:p>
                    <a:r>
                      <a:rPr lang="en-US" b="1" sz="800">
                        <a:solidFill>
                          <a:srgbClr val="2D3142"/>
                        </a:solidFill>
                      </a:rPr>
                      <a:t>83 </a:t>
                    </a:r>
                    <a:r>
                      <a:rPr lang="en-US" b="1" sz="900">
                        <a:solidFill>
                          <a:srgbClr val="2D3142"/>
                        </a:solidFill>
                      </a:rPr>
                      <a:t>C</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81.55094346378607</c:v>
                </c:pt>
                <c:pt idx="1">
                  <c:v>84.06049578079443</c:v>
                </c:pt>
                <c:pt idx="2">
                  <c:v>80.21138944453558</c:v>
                </c:pt>
                <c:pt idx="3">
                  <c:v>82.7130445739849</c:v>
                </c:pt>
                <c:pt idx="4">
                  <c:v>83.48985064128959</c:v>
                </c:pt>
              </c:numCache>
            </c:numRef>
          </c:val>
        </c:ser>
        <c:ser>
          <c:idx val="3"/>
          <c:order val="3"/>
          <c:tx>
            <c:strRef>
              <c:f>Sheet1!$E$1</c:f>
              <c:strCache>
                <c:ptCount val="1"/>
                <c:pt idx="0">
                  <c:v>Depends/Other</c:v>
                </c:pt>
              </c:strCache>
            </c:strRef>
          </c:tx>
          <c:spPr>
            <a:solidFill>
              <a:srgbClr val="F7D8C0"/>
            </a:solidFill>
          </c:spPr>
          <c:dLbls>
            <c:dLbl>
              <c:idx val="0"/>
              <c:tx>
                <c:rich>
                  <a:bodyPr/>
                  <a:lstStyle/>
                  <a:p>
                    <a:r>
                      <a:rPr lang="en-US" b="1" sz="800">
                        <a:solidFill>
                          <a:srgbClr val="2D3142"/>
                        </a:solidFill>
                      </a:rPr>
                      <a:t>2 </a:t>
                    </a:r>
                    <a:r>
                      <a:rPr lang="en-US" b="1" sz="900">
                        <a:solidFill>
                          <a:srgbClr val="2D3142"/>
                        </a:solidFill>
                      </a:rPr>
                      <a:t>BE</a:t>
                    </a:r>
                  </a:p>
                </c:rich>
              </c:tx>
              <c:showLegendKey val="0"/>
              <c:showVal val="0"/>
              <c:showCatName val="0"/>
              <c:showSerName val="0"/>
              <c:showPercent val="0"/>
              <c:showBubbleSize val="0"/>
            </c:dLbl>
            <c:dLbl>
              <c:idx val="1"/>
              <c:tx>
                <c:rich>
                  <a:bodyPr/>
                  <a:lstStyle/>
                  <a:p>
                    <a:r>
                      <a:rPr lang="en-US" b="1" sz="800">
                        <a:solidFill>
                          <a:srgbClr val="2D3142"/>
                        </a:solidFill>
                      </a:rPr>
                      <a:t>1</a:t>
                    </a:r>
                  </a:p>
                </c:rich>
              </c:tx>
              <c:showLegendKey val="0"/>
              <c:showVal val="0"/>
              <c:showCatName val="0"/>
              <c:showSerName val="0"/>
              <c:showPercent val="0"/>
              <c:showBubbleSize val="0"/>
            </c:dLbl>
            <c:dLbl>
              <c:idx val="2"/>
              <c:tx>
                <c:rich>
                  <a:bodyPr/>
                  <a:lstStyle/>
                  <a:p>
                    <a:r>
                      <a:rPr lang="en-US" b="1" sz="800">
                        <a:solidFill>
                          <a:srgbClr val="2D3142"/>
                        </a:solidFill>
                      </a:rPr>
                      <a:t>2 </a:t>
                    </a:r>
                    <a:r>
                      <a:rPr lang="en-US" b="1" sz="900">
                        <a:solidFill>
                          <a:srgbClr val="2D3142"/>
                        </a:solidFill>
                      </a:rPr>
                      <a:t>BE</a:t>
                    </a:r>
                  </a:p>
                </c:rich>
              </c:tx>
              <c:showLegendKey val="0"/>
              <c:showVal val="0"/>
              <c:showCatName val="0"/>
              <c:showSerName val="0"/>
              <c:showPercent val="0"/>
              <c:showBubbleSize val="0"/>
            </c:dLbl>
            <c:dLbl>
              <c:idx val="3"/>
              <c:tx>
                <c:rich>
                  <a:bodyPr/>
                  <a:lstStyle/>
                  <a:p>
                    <a:r>
                      <a:rPr lang="en-US" b="1" sz="800">
                        <a:solidFill>
                          <a:srgbClr val="2D3142"/>
                        </a:solidFill>
                      </a:rPr>
                      <a:t>7 </a:t>
                    </a:r>
                    <a:r>
                      <a:rPr lang="en-US" b="1" sz="900">
                        <a:solidFill>
                          <a:srgbClr val="2D3142"/>
                        </a:solidFill>
                      </a:rPr>
                      <a:t>ABCE</a:t>
                    </a:r>
                  </a:p>
                </c:rich>
              </c:tx>
              <c:showLegendKey val="0"/>
              <c:showVal val="0"/>
              <c:showCatName val="0"/>
              <c:showSerName val="0"/>
              <c:showPercent val="0"/>
              <c:showBubbleSize val="0"/>
            </c:dLbl>
            <c:dLbl>
              <c:idx val="4"/>
              <c:tx>
                <c:rich>
                  <a:bodyPr/>
                  <a:lstStyle/>
                  <a:p>
                    <a:r>
                      <a:rPr lang="en-US" b="1" sz="800">
                        <a:solidFill>
                          <a:srgbClr val="2D3142"/>
                        </a:solidFill>
                      </a:rPr>
                      <a:t>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1.877128990954917</c:v>
                </c:pt>
                <c:pt idx="1">
                  <c:v>0.7657545341236561</c:v>
                </c:pt>
                <c:pt idx="2">
                  <c:v>2.2121636889821223</c:v>
                </c:pt>
                <c:pt idx="3">
                  <c:v>7.044360991771607</c:v>
                </c:pt>
                <c:pt idx="4">
                  <c:v>0.5588073293065965</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Men</c:v>
                </c:pt>
              </c:strCache>
            </c:strRef>
          </c:tx>
          <c:spPr>
            <a:solidFill>
              <a:srgbClr val="F07B20"/>
            </a:solidFill>
          </c:spPr>
          <c:dLbls>
            <c:dLbl>
              <c:idx val="0"/>
              <c:tx>
                <c:rich>
                  <a:bodyPr/>
                  <a:lstStyle/>
                  <a:p>
                    <a:r>
                      <a:rPr lang="en-US" b="1" sz="800">
                        <a:solidFill>
                          <a:srgbClr val="FFFFFF"/>
                        </a:solidFill>
                      </a:rPr>
                      <a:t>1 </a:t>
                    </a:r>
                    <a:r>
                      <a:rPr lang="en-US" b="1" sz="900">
                        <a:solidFill>
                          <a:srgbClr val="FFFFFF"/>
                        </a:solidFill>
                      </a:rPr>
                      <a:t>Be</a:t>
                    </a:r>
                  </a:p>
                </c:rich>
              </c:tx>
              <c:showLegendKey val="0"/>
              <c:showVal val="0"/>
              <c:showCatName val="0"/>
              <c:showSerName val="0"/>
              <c:showPercent val="0"/>
              <c:showBubbleSize val="0"/>
            </c:dLbl>
            <c:dLbl>
              <c:idx val="1"/>
              <c:tx>
                <c:rich>
                  <a:bodyPr/>
                  <a:lstStyle/>
                  <a:p>
                    <a:r>
                      <a:rPr lang="en-US" b="1" sz="800">
                        <a:solidFill>
                          <a:srgbClr val="FFFFFF"/>
                        </a:solidFill>
                      </a:rPr>
                      <a:t>0</a:t>
                    </a:r>
                  </a:p>
                </c:rich>
              </c:tx>
              <c:showLegendKey val="0"/>
              <c:showVal val="0"/>
              <c:showCatName val="0"/>
              <c:showSerName val="0"/>
              <c:showPercent val="0"/>
              <c:showBubbleSize val="0"/>
            </c:dLbl>
            <c:dLbl>
              <c:idx val="2"/>
              <c:tx>
                <c:rich>
                  <a:bodyPr/>
                  <a:lstStyle/>
                  <a:p>
                    <a:r>
                      <a:rPr lang="en-US" b="1" sz="800">
                        <a:solidFill>
                          <a:srgbClr val="FFFFFF"/>
                        </a:solidFill>
                      </a:rPr>
                      <a:t>1</a:t>
                    </a:r>
                  </a:p>
                </c:rich>
              </c:tx>
              <c:showLegendKey val="0"/>
              <c:showVal val="0"/>
              <c:showCatName val="0"/>
              <c:showSerName val="0"/>
              <c:showPercent val="0"/>
              <c:showBubbleSize val="0"/>
            </c:dLbl>
            <c:dLbl>
              <c:idx val="3"/>
              <c:tx>
                <c:rich>
                  <a:bodyPr/>
                  <a:lstStyle/>
                  <a:p>
                    <a:r>
                      <a:rPr lang="en-US" b="1" sz="800">
                        <a:solidFill>
                          <a:srgbClr val="FFFFFF"/>
                        </a:solidFill>
                      </a:rPr>
                      <a:t>0</a:t>
                    </a:r>
                  </a:p>
                </c:rich>
              </c:tx>
              <c:showLegendKey val="0"/>
              <c:showVal val="0"/>
              <c:showCatName val="0"/>
              <c:showSerName val="0"/>
              <c:showPercent val="0"/>
              <c:showBubbleSize val="0"/>
            </c:dLbl>
            <c:dLbl>
              <c:idx val="4"/>
              <c:tx>
                <c:rich>
                  <a:bodyPr/>
                  <a:lstStyle/>
                  <a:p>
                    <a:r>
                      <a:rPr lang="en-US" b="1" sz="800">
                        <a:solidFill>
                          <a:srgbClr val="FFFFFF"/>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1.0982008258764178</c:v>
                </c:pt>
                <c:pt idx="1">
                  <c:v>0.34919824345253814</c:v>
                </c:pt>
                <c:pt idx="2">
                  <c:v>0.6549655229238959</c:v>
                </c:pt>
                <c:pt idx="3">
                  <c:v>0.47601529365999634</c:v>
                </c:pt>
                <c:pt idx="4">
                  <c:v>0.4776990495102929</c:v>
                </c:pt>
              </c:numCache>
            </c:numRef>
          </c:val>
        </c:ser>
        <c:ser>
          <c:idx val="1"/>
          <c:order val="1"/>
          <c:tx>
            <c:strRef>
              <c:f>Sheet1!$C$1</c:f>
              <c:strCache>
                <c:ptCount val="1"/>
                <c:pt idx="0">
                  <c:v>Women</c:v>
                </c:pt>
              </c:strCache>
            </c:strRef>
          </c:tx>
          <c:spPr>
            <a:solidFill>
              <a:srgbClr val="F0A060"/>
            </a:solidFill>
          </c:spPr>
          <c:dLbls>
            <c:dLbl>
              <c:idx val="0"/>
              <c:tx>
                <c:rich>
                  <a:bodyPr/>
                  <a:lstStyle/>
                  <a:p>
                    <a:r>
                      <a:rPr lang="en-US" b="1" sz="800">
                        <a:solidFill>
                          <a:srgbClr val="FFFFFF"/>
                        </a:solidFill>
                      </a:rPr>
                      <a:t>16 </a:t>
                    </a:r>
                    <a:r>
                      <a:rPr lang="en-US" b="1" sz="900">
                        <a:solidFill>
                          <a:srgbClr val="FFFFFF"/>
                        </a:solidFill>
                      </a:rPr>
                      <a:t>BCD</a:t>
                    </a:r>
                  </a:p>
                </c:rich>
              </c:tx>
              <c:showLegendKey val="0"/>
              <c:showVal val="0"/>
              <c:showCatName val="0"/>
              <c:showSerName val="0"/>
              <c:showPercent val="0"/>
              <c:showBubbleSize val="0"/>
            </c:dLbl>
            <c:dLbl>
              <c:idx val="1"/>
              <c:tx>
                <c:rich>
                  <a:bodyPr/>
                  <a:lstStyle/>
                  <a:p>
                    <a:r>
                      <a:rPr lang="en-US" b="1" sz="800">
                        <a:solidFill>
                          <a:srgbClr val="FFFFFF"/>
                        </a:solidFill>
                      </a:rPr>
                      <a:t>9 </a:t>
                    </a:r>
                    <a:r>
                      <a:rPr lang="en-US" b="1" sz="900">
                        <a:solidFill>
                          <a:srgbClr val="FFFFFF"/>
                        </a:solidFill>
                      </a:rPr>
                      <a:t>D</a:t>
                    </a:r>
                  </a:p>
                </c:rich>
              </c:tx>
              <c:showLegendKey val="0"/>
              <c:showVal val="0"/>
              <c:showCatName val="0"/>
              <c:showSerName val="0"/>
              <c:showPercent val="0"/>
              <c:showBubbleSize val="0"/>
            </c:dLbl>
            <c:dLbl>
              <c:idx val="2"/>
              <c:tx>
                <c:rich>
                  <a:bodyPr/>
                  <a:lstStyle/>
                  <a:p>
                    <a:r>
                      <a:rPr lang="en-US" b="1" sz="800">
                        <a:solidFill>
                          <a:srgbClr val="FFFFFF"/>
                        </a:solidFill>
                      </a:rPr>
                      <a:t>8 </a:t>
                    </a:r>
                    <a:r>
                      <a:rPr lang="en-US" b="1" sz="900">
                        <a:solidFill>
                          <a:srgbClr val="FFFFFF"/>
                        </a:solidFill>
                      </a:rPr>
                      <a:t>D</a:t>
                    </a:r>
                  </a:p>
                </c:rich>
              </c:tx>
              <c:showLegendKey val="0"/>
              <c:showVal val="0"/>
              <c:showCatName val="0"/>
              <c:showSerName val="0"/>
              <c:showPercent val="0"/>
              <c:showBubbleSize val="0"/>
            </c:dLbl>
            <c:dLbl>
              <c:idx val="3"/>
              <c:tx>
                <c:rich>
                  <a:bodyPr/>
                  <a:lstStyle/>
                  <a:p>
                    <a:r>
                      <a:rPr lang="en-US" b="1" sz="800">
                        <a:solidFill>
                          <a:srgbClr val="FFFFFF"/>
                        </a:solidFill>
                      </a:rPr>
                      <a:t>4</a:t>
                    </a:r>
                  </a:p>
                </c:rich>
              </c:tx>
              <c:showLegendKey val="0"/>
              <c:showVal val="0"/>
              <c:showCatName val="0"/>
              <c:showSerName val="0"/>
              <c:showPercent val="0"/>
              <c:showBubbleSize val="0"/>
            </c:dLbl>
            <c:dLbl>
              <c:idx val="4"/>
              <c:tx>
                <c:rich>
                  <a:bodyPr/>
                  <a:lstStyle/>
                  <a:p>
                    <a:r>
                      <a:rPr lang="en-US" b="1" sz="800">
                        <a:solidFill>
                          <a:srgbClr val="FFFFFF"/>
                        </a:solidFill>
                      </a:rPr>
                      <a:t>18 </a:t>
                    </a:r>
                    <a:r>
                      <a:rPr lang="en-US" b="1" sz="900">
                        <a:solidFill>
                          <a:srgbClr val="FFFFFF"/>
                        </a:solidFill>
                      </a:rPr>
                      <a:t>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15.889419470679425</c:v>
                </c:pt>
                <c:pt idx="1">
                  <c:v>8.66721601857095</c:v>
                </c:pt>
                <c:pt idx="2">
                  <c:v>7.586847205281468</c:v>
                </c:pt>
                <c:pt idx="3">
                  <c:v>4.37217201279389</c:v>
                </c:pt>
                <c:pt idx="4">
                  <c:v>17.58975254177466</c:v>
                </c:pt>
              </c:numCache>
            </c:numRef>
          </c:val>
        </c:ser>
        <c:ser>
          <c:idx val="2"/>
          <c:order val="2"/>
          <c:tx>
            <c:strRef>
              <c:f>Sheet1!$D$1</c:f>
              <c:strCache>
                <c:ptCount val="1"/>
                <c:pt idx="0">
                  <c:v>Both</c:v>
                </c:pt>
              </c:strCache>
            </c:strRef>
          </c:tx>
          <c:spPr>
            <a:solidFill>
              <a:srgbClr val="F4BF9A"/>
            </a:solidFill>
          </c:spPr>
          <c:dLbls>
            <c:dLbl>
              <c:idx val="0"/>
              <c:tx>
                <c:rich>
                  <a:bodyPr/>
                  <a:lstStyle/>
                  <a:p>
                    <a:r>
                      <a:rPr lang="en-US" b="1" sz="800">
                        <a:solidFill>
                          <a:srgbClr val="2D3142"/>
                        </a:solidFill>
                      </a:rPr>
                      <a:t>83</a:t>
                    </a:r>
                  </a:p>
                </c:rich>
              </c:tx>
              <c:showLegendKey val="0"/>
              <c:showVal val="0"/>
              <c:showCatName val="0"/>
              <c:showSerName val="0"/>
              <c:showPercent val="0"/>
              <c:showBubbleSize val="0"/>
            </c:dLbl>
            <c:dLbl>
              <c:idx val="1"/>
              <c:tx>
                <c:rich>
                  <a:bodyPr/>
                  <a:lstStyle/>
                  <a:p>
                    <a:r>
                      <a:rPr lang="en-US" b="1" sz="800">
                        <a:solidFill>
                          <a:srgbClr val="2D3142"/>
                        </a:solidFill>
                      </a:rPr>
                      <a:t>90 </a:t>
                    </a:r>
                    <a:r>
                      <a:rPr lang="en-US" b="1" sz="900">
                        <a:solidFill>
                          <a:srgbClr val="2D3142"/>
                        </a:solidFill>
                      </a:rPr>
                      <a:t>AE</a:t>
                    </a:r>
                  </a:p>
                </c:rich>
              </c:tx>
              <c:showLegendKey val="0"/>
              <c:showVal val="0"/>
              <c:showCatName val="0"/>
              <c:showSerName val="0"/>
              <c:showPercent val="0"/>
              <c:showBubbleSize val="0"/>
            </c:dLbl>
            <c:dLbl>
              <c:idx val="2"/>
              <c:tx>
                <c:rich>
                  <a:bodyPr/>
                  <a:lstStyle/>
                  <a:p>
                    <a:r>
                      <a:rPr lang="en-US" b="1" sz="800">
                        <a:solidFill>
                          <a:srgbClr val="2D3142"/>
                        </a:solidFill>
                      </a:rPr>
                      <a:t>91 </a:t>
                    </a:r>
                    <a:r>
                      <a:rPr lang="en-US" b="1" sz="900">
                        <a:solidFill>
                          <a:srgbClr val="2D3142"/>
                        </a:solidFill>
                      </a:rPr>
                      <a:t>AE</a:t>
                    </a:r>
                  </a:p>
                </c:rich>
              </c:tx>
              <c:showLegendKey val="0"/>
              <c:showVal val="0"/>
              <c:showCatName val="0"/>
              <c:showSerName val="0"/>
              <c:showPercent val="0"/>
              <c:showBubbleSize val="0"/>
            </c:dLbl>
            <c:dLbl>
              <c:idx val="3"/>
              <c:tx>
                <c:rich>
                  <a:bodyPr/>
                  <a:lstStyle/>
                  <a:p>
                    <a:r>
                      <a:rPr lang="en-US" b="1" sz="800">
                        <a:solidFill>
                          <a:srgbClr val="2D3142"/>
                        </a:solidFill>
                      </a:rPr>
                      <a:t>93 </a:t>
                    </a:r>
                    <a:r>
                      <a:rPr lang="en-US" b="1" sz="900">
                        <a:solidFill>
                          <a:srgbClr val="2D3142"/>
                        </a:solidFill>
                      </a:rPr>
                      <a:t>ABE</a:t>
                    </a:r>
                  </a:p>
                </c:rich>
              </c:tx>
              <c:showLegendKey val="0"/>
              <c:showVal val="0"/>
              <c:showCatName val="0"/>
              <c:showSerName val="0"/>
              <c:showPercent val="0"/>
              <c:showBubbleSize val="0"/>
            </c:dLbl>
            <c:dLbl>
              <c:idx val="4"/>
              <c:tx>
                <c:rich>
                  <a:bodyPr/>
                  <a:lstStyle/>
                  <a:p>
                    <a:r>
                      <a:rPr lang="en-US" b="1" sz="800">
                        <a:solidFill>
                          <a:srgbClr val="2D3142"/>
                        </a:solidFill>
                      </a:rPr>
                      <a:t>81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82.63047479100727</c:v>
                </c:pt>
                <c:pt idx="1">
                  <c:v>89.69759694772175</c:v>
                </c:pt>
                <c:pt idx="2">
                  <c:v>90.85667929353724</c:v>
                </c:pt>
                <c:pt idx="3">
                  <c:v>92.57795999697545</c:v>
                </c:pt>
                <c:pt idx="4">
                  <c:v>81.47462988406204</c:v>
                </c:pt>
              </c:numCache>
            </c:numRef>
          </c:val>
        </c:ser>
        <c:ser>
          <c:idx val="3"/>
          <c:order val="3"/>
          <c:tx>
            <c:strRef>
              <c:f>Sheet1!$E$1</c:f>
              <c:strCache>
                <c:ptCount val="1"/>
                <c:pt idx="0">
                  <c:v>Depends/Other</c:v>
                </c:pt>
              </c:strCache>
            </c:strRef>
          </c:tx>
          <c:spPr>
            <a:solidFill>
              <a:srgbClr val="F7D8C0"/>
            </a:solidFill>
          </c:spPr>
          <c:dLbls>
            <c:dLbl>
              <c:idx val="0"/>
              <c:tx>
                <c:rich>
                  <a:bodyPr/>
                  <a:lstStyle/>
                  <a:p>
                    <a:r>
                      <a:rPr lang="en-US" b="1" sz="800">
                        <a:solidFill>
                          <a:srgbClr val="2D3142"/>
                        </a:solidFill>
                      </a:rPr>
                      <a:t>0</a:t>
                    </a:r>
                  </a:p>
                </c:rich>
              </c:tx>
              <c:showLegendKey val="0"/>
              <c:showVal val="0"/>
              <c:showCatName val="0"/>
              <c:showSerName val="0"/>
              <c:showPercent val="0"/>
              <c:showBubbleSize val="0"/>
            </c:dLbl>
            <c:dLbl>
              <c:idx val="1"/>
              <c:tx>
                <c:rich>
                  <a:bodyPr/>
                  <a:lstStyle/>
                  <a:p>
                    <a:r>
                      <a:rPr lang="en-US" b="1" sz="800">
                        <a:solidFill>
                          <a:srgbClr val="2D3142"/>
                        </a:solidFill>
                      </a:rPr>
                      <a:t>1</a:t>
                    </a:r>
                  </a:p>
                </c:rich>
              </c:tx>
              <c:showLegendKey val="0"/>
              <c:showVal val="0"/>
              <c:showCatName val="0"/>
              <c:showSerName val="0"/>
              <c:showPercent val="0"/>
              <c:showBubbleSize val="0"/>
            </c:dLbl>
            <c:dLbl>
              <c:idx val="2"/>
              <c:tx>
                <c:rich>
                  <a:bodyPr/>
                  <a:lstStyle/>
                  <a:p>
                    <a:r>
                      <a:rPr lang="en-US" b="1" sz="800">
                        <a:solidFill>
                          <a:srgbClr val="2D3142"/>
                        </a:solidFill>
                      </a:rPr>
                      <a:t>1 </a:t>
                    </a:r>
                    <a:r>
                      <a:rPr lang="en-US" b="1" sz="900">
                        <a:solidFill>
                          <a:srgbClr val="2D3142"/>
                        </a:solidFill>
                      </a:rPr>
                      <a:t>e</a:t>
                    </a:r>
                  </a:p>
                </c:rich>
              </c:tx>
              <c:showLegendKey val="0"/>
              <c:showVal val="0"/>
              <c:showCatName val="0"/>
              <c:showSerName val="0"/>
              <c:showPercent val="0"/>
              <c:showBubbleSize val="0"/>
            </c:dLbl>
            <c:dLbl>
              <c:idx val="3"/>
              <c:tx>
                <c:rich>
                  <a:bodyPr/>
                  <a:lstStyle/>
                  <a:p>
                    <a:r>
                      <a:rPr lang="en-US" b="1" sz="800">
                        <a:solidFill>
                          <a:srgbClr val="2D3142"/>
                        </a:solidFill>
                      </a:rPr>
                      <a:t>3 </a:t>
                    </a:r>
                    <a:r>
                      <a:rPr lang="en-US" b="1" sz="900">
                        <a:solidFill>
                          <a:srgbClr val="2D3142"/>
                        </a:solidFill>
                      </a:rPr>
                      <a:t>ABCE</a:t>
                    </a:r>
                  </a:p>
                </c:rich>
              </c:tx>
              <c:showLegendKey val="0"/>
              <c:showVal val="0"/>
              <c:showCatName val="0"/>
              <c:showSerName val="0"/>
              <c:showPercent val="0"/>
              <c:showBubbleSize val="0"/>
            </c:dLbl>
            <c:dLbl>
              <c:idx val="4"/>
              <c:tx>
                <c:rich>
                  <a:bodyPr/>
                  <a:lstStyle/>
                  <a:p>
                    <a:r>
                      <a:rPr lang="en-US" b="1" sz="800">
                        <a:solidFill>
                          <a:srgbClr val="2D3142"/>
                        </a:solidFill>
                      </a:rPr>
                      <a:t>0</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0.38190491243688424</c:v>
                </c:pt>
                <c:pt idx="1">
                  <c:v>0.8287567526831394</c:v>
                </c:pt>
                <c:pt idx="2">
                  <c:v>0.8871010752624191</c:v>
                </c:pt>
                <c:pt idx="3">
                  <c:v>2.555895961548508</c:v>
                </c:pt>
                <c:pt idx="4">
                  <c:v>0.3464254979289127</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Illegal in all cases</c:v>
                </c:pt>
              </c:strCache>
            </c:strRef>
          </c:tx>
          <c:spPr>
            <a:solidFill>
              <a:srgbClr val="F7D8C0"/>
            </a:solidFill>
          </c:spPr>
          <c:dLbls>
            <c:dLbl>
              <c:idx val="0"/>
              <c:tx>
                <c:rich>
                  <a:bodyPr/>
                  <a:lstStyle/>
                  <a:p>
                    <a:r>
                      <a:rPr lang="en-US" b="1" sz="800">
                        <a:solidFill>
                          <a:srgbClr val="2D3142"/>
                        </a:solidFill>
                      </a:rPr>
                      <a:t>12 </a:t>
                    </a:r>
                    <a:r>
                      <a:rPr lang="en-US" b="1" sz="900">
                        <a:solidFill>
                          <a:srgbClr val="2D3142"/>
                        </a:solidFill>
                      </a:rPr>
                      <a:t>BD</a:t>
                    </a:r>
                  </a:p>
                </c:rich>
              </c:tx>
              <c:showLegendKey val="0"/>
              <c:showVal val="0"/>
              <c:showCatName val="0"/>
              <c:showSerName val="0"/>
              <c:showPercent val="0"/>
              <c:showBubbleSize val="0"/>
            </c:dLbl>
            <c:dLbl>
              <c:idx val="1"/>
              <c:tx>
                <c:rich>
                  <a:bodyPr/>
                  <a:lstStyle/>
                  <a:p>
                    <a:r>
                      <a:rPr lang="en-US" b="1" sz="800">
                        <a:solidFill>
                          <a:srgbClr val="2D3142"/>
                        </a:solidFill>
                      </a:rPr>
                      <a:t>3</a:t>
                    </a:r>
                  </a:p>
                </c:rich>
              </c:tx>
              <c:showLegendKey val="0"/>
              <c:showVal val="0"/>
              <c:showCatName val="0"/>
              <c:showSerName val="0"/>
              <c:showPercent val="0"/>
              <c:showBubbleSize val="0"/>
            </c:dLbl>
            <c:dLbl>
              <c:idx val="2"/>
              <c:tx>
                <c:rich>
                  <a:bodyPr/>
                  <a:lstStyle/>
                  <a:p>
                    <a:r>
                      <a:rPr lang="en-US" b="1" sz="800">
                        <a:solidFill>
                          <a:srgbClr val="2D3142"/>
                        </a:solidFill>
                      </a:rPr>
                      <a:t>12 </a:t>
                    </a:r>
                    <a:r>
                      <a:rPr lang="en-US" b="1" sz="900">
                        <a:solidFill>
                          <a:srgbClr val="2D3142"/>
                        </a:solidFill>
                      </a:rPr>
                      <a:t>BD</a:t>
                    </a:r>
                  </a:p>
                </c:rich>
              </c:tx>
              <c:showLegendKey val="0"/>
              <c:showVal val="0"/>
              <c:showCatName val="0"/>
              <c:showSerName val="0"/>
              <c:showPercent val="0"/>
              <c:showBubbleSize val="0"/>
            </c:dLbl>
            <c:dLbl>
              <c:idx val="3"/>
              <c:tx>
                <c:rich>
                  <a:bodyPr/>
                  <a:lstStyle/>
                  <a:p>
                    <a:r>
                      <a:rPr lang="en-US" b="1" sz="800">
                        <a:solidFill>
                          <a:srgbClr val="2D3142"/>
                        </a:solidFill>
                      </a:rPr>
                      <a:t>6 </a:t>
                    </a:r>
                    <a:r>
                      <a:rPr lang="en-US" b="1" sz="900">
                        <a:solidFill>
                          <a:srgbClr val="2D3142"/>
                        </a:solidFill>
                      </a:rPr>
                      <a:t>B</a:t>
                    </a:r>
                  </a:p>
                </c:rich>
              </c:tx>
              <c:showLegendKey val="0"/>
              <c:showVal val="0"/>
              <c:showCatName val="0"/>
              <c:showSerName val="0"/>
              <c:showPercent val="0"/>
              <c:showBubbleSize val="0"/>
            </c:dLbl>
            <c:dLbl>
              <c:idx val="4"/>
              <c:tx>
                <c:rich>
                  <a:bodyPr/>
                  <a:lstStyle/>
                  <a:p>
                    <a:r>
                      <a:rPr lang="en-US" b="1" sz="800">
                        <a:solidFill>
                          <a:srgbClr val="2D3142"/>
                        </a:solidFill>
                      </a:rPr>
                      <a:t>33 </a:t>
                    </a:r>
                    <a:r>
                      <a:rPr lang="en-US" b="1" sz="900">
                        <a:solidFill>
                          <a:srgbClr val="2D3142"/>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12.2933443035663</c:v>
                </c:pt>
                <c:pt idx="1">
                  <c:v>3.250094698631409</c:v>
                </c:pt>
                <c:pt idx="2">
                  <c:v>11.805705977626046</c:v>
                </c:pt>
                <c:pt idx="3">
                  <c:v>5.562956960618088</c:v>
                </c:pt>
                <c:pt idx="4">
                  <c:v>32.8870294674453</c:v>
                </c:pt>
              </c:numCache>
            </c:numRef>
          </c:val>
        </c:ser>
        <c:ser>
          <c:idx val="1"/>
          <c:order val="1"/>
          <c:tx>
            <c:strRef>
              <c:f>Sheet1!$C$1</c:f>
              <c:strCache>
                <c:ptCount val="1"/>
                <c:pt idx="0">
                  <c:v>Illegal in most cases</c:v>
                </c:pt>
              </c:strCache>
            </c:strRef>
          </c:tx>
          <c:spPr>
            <a:solidFill>
              <a:srgbClr val="F4BF9A"/>
            </a:solidFill>
          </c:spPr>
          <c:dLbls>
            <c:dLbl>
              <c:idx val="0"/>
              <c:tx>
                <c:rich>
                  <a:bodyPr/>
                  <a:lstStyle/>
                  <a:p>
                    <a:r>
                      <a:rPr lang="en-US" b="1" sz="800">
                        <a:solidFill>
                          <a:srgbClr val="2D3142"/>
                        </a:solidFill>
                      </a:rPr>
                      <a:t>29 </a:t>
                    </a:r>
                    <a:r>
                      <a:rPr lang="en-US" b="1" sz="900">
                        <a:solidFill>
                          <a:srgbClr val="2D3142"/>
                        </a:solidFill>
                      </a:rPr>
                      <a:t>BCD</a:t>
                    </a:r>
                  </a:p>
                </c:rich>
              </c:tx>
              <c:showLegendKey val="0"/>
              <c:showVal val="0"/>
              <c:showCatName val="0"/>
              <c:showSerName val="0"/>
              <c:showPercent val="0"/>
              <c:showBubbleSize val="0"/>
            </c:dLbl>
            <c:dLbl>
              <c:idx val="1"/>
              <c:tx>
                <c:rich>
                  <a:bodyPr/>
                  <a:lstStyle/>
                  <a:p>
                    <a:r>
                      <a:rPr lang="en-US" b="1" sz="800">
                        <a:solidFill>
                          <a:srgbClr val="2D3142"/>
                        </a:solidFill>
                      </a:rPr>
                      <a:t>10</a:t>
                    </a:r>
                  </a:p>
                </c:rich>
              </c:tx>
              <c:showLegendKey val="0"/>
              <c:showVal val="0"/>
              <c:showCatName val="0"/>
              <c:showSerName val="0"/>
              <c:showPercent val="0"/>
              <c:showBubbleSize val="0"/>
            </c:dLbl>
            <c:dLbl>
              <c:idx val="2"/>
              <c:tx>
                <c:rich>
                  <a:bodyPr/>
                  <a:lstStyle/>
                  <a:p>
                    <a:r>
                      <a:rPr lang="en-US" b="1" sz="800">
                        <a:solidFill>
                          <a:srgbClr val="2D3142"/>
                        </a:solidFill>
                      </a:rPr>
                      <a:t>21 </a:t>
                    </a:r>
                    <a:r>
                      <a:rPr lang="en-US" b="1" sz="900">
                        <a:solidFill>
                          <a:srgbClr val="2D3142"/>
                        </a:solidFill>
                      </a:rPr>
                      <a:t>BD</a:t>
                    </a:r>
                  </a:p>
                </c:rich>
              </c:tx>
              <c:showLegendKey val="0"/>
              <c:showVal val="0"/>
              <c:showCatName val="0"/>
              <c:showSerName val="0"/>
              <c:showPercent val="0"/>
              <c:showBubbleSize val="0"/>
            </c:dLbl>
            <c:dLbl>
              <c:idx val="3"/>
              <c:tx>
                <c:rich>
                  <a:bodyPr/>
                  <a:lstStyle/>
                  <a:p>
                    <a:r>
                      <a:rPr lang="en-US" b="1" sz="800">
                        <a:solidFill>
                          <a:srgbClr val="2D3142"/>
                        </a:solidFill>
                      </a:rPr>
                      <a:t>18 </a:t>
                    </a:r>
                    <a:r>
                      <a:rPr lang="en-US" b="1" sz="900">
                        <a:solidFill>
                          <a:srgbClr val="2D3142"/>
                        </a:solidFill>
                      </a:rPr>
                      <a:t>B</a:t>
                    </a:r>
                  </a:p>
                </c:rich>
              </c:tx>
              <c:showLegendKey val="0"/>
              <c:showVal val="0"/>
              <c:showCatName val="0"/>
              <c:showSerName val="0"/>
              <c:showPercent val="0"/>
              <c:showBubbleSize val="0"/>
            </c:dLbl>
            <c:dLbl>
              <c:idx val="4"/>
              <c:tx>
                <c:rich>
                  <a:bodyPr/>
                  <a:lstStyle/>
                  <a:p>
                    <a:r>
                      <a:rPr lang="en-US" b="1" sz="800">
                        <a:solidFill>
                          <a:srgbClr val="2D3142"/>
                        </a:solidFill>
                      </a:rPr>
                      <a:t>26 </a:t>
                    </a:r>
                    <a:r>
                      <a:rPr lang="en-US" b="1" sz="900">
                        <a:solidFill>
                          <a:srgbClr val="2D3142"/>
                        </a:solidFill>
                      </a:rPr>
                      <a:t>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28.908771681933228</c:v>
                </c:pt>
                <c:pt idx="1">
                  <c:v>10.081384440488028</c:v>
                </c:pt>
                <c:pt idx="2">
                  <c:v>21.462183326851356</c:v>
                </c:pt>
                <c:pt idx="3">
                  <c:v>18.327953767504567</c:v>
                </c:pt>
                <c:pt idx="4">
                  <c:v>26.481498163915013</c:v>
                </c:pt>
              </c:numCache>
            </c:numRef>
          </c:val>
        </c:ser>
        <c:ser>
          <c:idx val="2"/>
          <c:order val="2"/>
          <c:tx>
            <c:strRef>
              <c:f>Sheet1!$D$1</c:f>
              <c:strCache>
                <c:ptCount val="1"/>
                <c:pt idx="0">
                  <c:v>Legal in most cases</c:v>
                </c:pt>
              </c:strCache>
            </c:strRef>
          </c:tx>
          <c:spPr>
            <a:solidFill>
              <a:srgbClr val="F0A060"/>
            </a:solidFill>
          </c:spPr>
          <c:dLbls>
            <c:dLbl>
              <c:idx val="0"/>
              <c:tx>
                <c:rich>
                  <a:bodyPr/>
                  <a:lstStyle/>
                  <a:p>
                    <a:r>
                      <a:rPr lang="en-US" b="1" sz="800">
                        <a:solidFill>
                          <a:srgbClr val="FFFFFF"/>
                        </a:solidFill>
                      </a:rPr>
                      <a:t>47 </a:t>
                    </a:r>
                    <a:r>
                      <a:rPr lang="en-US" b="1" sz="900">
                        <a:solidFill>
                          <a:srgbClr val="FFFFFF"/>
                        </a:solidFill>
                      </a:rPr>
                      <a:t>E</a:t>
                    </a:r>
                  </a:p>
                </c:rich>
              </c:tx>
              <c:showLegendKey val="0"/>
              <c:showVal val="0"/>
              <c:showCatName val="0"/>
              <c:showSerName val="0"/>
              <c:showPercent val="0"/>
              <c:showBubbleSize val="0"/>
            </c:dLbl>
            <c:dLbl>
              <c:idx val="1"/>
              <c:tx>
                <c:rich>
                  <a:bodyPr/>
                  <a:lstStyle/>
                  <a:p>
                    <a:r>
                      <a:rPr lang="en-US" b="1" sz="800">
                        <a:solidFill>
                          <a:srgbClr val="FFFFFF"/>
                        </a:solidFill>
                      </a:rPr>
                      <a:t>56 </a:t>
                    </a:r>
                    <a:r>
                      <a:rPr lang="en-US" b="1" sz="900">
                        <a:solidFill>
                          <a:srgbClr val="FFFFFF"/>
                        </a:solidFill>
                      </a:rPr>
                      <a:t>ACE</a:t>
                    </a:r>
                  </a:p>
                </c:rich>
              </c:tx>
              <c:showLegendKey val="0"/>
              <c:showVal val="0"/>
              <c:showCatName val="0"/>
              <c:showSerName val="0"/>
              <c:showPercent val="0"/>
              <c:showBubbleSize val="0"/>
            </c:dLbl>
            <c:dLbl>
              <c:idx val="2"/>
              <c:tx>
                <c:rich>
                  <a:bodyPr/>
                  <a:lstStyle/>
                  <a:p>
                    <a:r>
                      <a:rPr lang="en-US" b="1" sz="800">
                        <a:solidFill>
                          <a:srgbClr val="FFFFFF"/>
                        </a:solidFill>
                      </a:rPr>
                      <a:t>47 </a:t>
                    </a:r>
                    <a:r>
                      <a:rPr lang="en-US" b="1" sz="900">
                        <a:solidFill>
                          <a:srgbClr val="FFFFFF"/>
                        </a:solidFill>
                      </a:rPr>
                      <a:t>E</a:t>
                    </a:r>
                  </a:p>
                </c:rich>
              </c:tx>
              <c:showLegendKey val="0"/>
              <c:showVal val="0"/>
              <c:showCatName val="0"/>
              <c:showSerName val="0"/>
              <c:showPercent val="0"/>
              <c:showBubbleSize val="0"/>
            </c:dLbl>
            <c:dLbl>
              <c:idx val="3"/>
              <c:tx>
                <c:rich>
                  <a:bodyPr/>
                  <a:lstStyle/>
                  <a:p>
                    <a:r>
                      <a:rPr lang="en-US" b="1" sz="800">
                        <a:solidFill>
                          <a:srgbClr val="FFFFFF"/>
                        </a:solidFill>
                      </a:rPr>
                      <a:t>55 </a:t>
                    </a:r>
                    <a:r>
                      <a:rPr lang="en-US" b="1" sz="900">
                        <a:solidFill>
                          <a:srgbClr val="FFFFFF"/>
                        </a:solidFill>
                      </a:rPr>
                      <a:t>ACE</a:t>
                    </a:r>
                  </a:p>
                </c:rich>
              </c:tx>
              <c:showLegendKey val="0"/>
              <c:showVal val="0"/>
              <c:showCatName val="0"/>
              <c:showSerName val="0"/>
              <c:showPercent val="0"/>
              <c:showBubbleSize val="0"/>
            </c:dLbl>
            <c:dLbl>
              <c:idx val="4"/>
              <c:tx>
                <c:rich>
                  <a:bodyPr/>
                  <a:lstStyle/>
                  <a:p>
                    <a:r>
                      <a:rPr lang="en-US" b="1" sz="800">
                        <a:solidFill>
                          <a:srgbClr val="FFFFFF"/>
                        </a:solidFill>
                      </a:rPr>
                      <a:t>31</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47.00563381938873</c:v>
                </c:pt>
                <c:pt idx="1">
                  <c:v>56.20863788777144</c:v>
                </c:pt>
                <c:pt idx="2">
                  <c:v>47.29654961824305</c:v>
                </c:pt>
                <c:pt idx="3">
                  <c:v>55.369980110083596</c:v>
                </c:pt>
                <c:pt idx="4">
                  <c:v>31.39169381087858</c:v>
                </c:pt>
              </c:numCache>
            </c:numRef>
          </c:val>
        </c:ser>
        <c:ser>
          <c:idx val="3"/>
          <c:order val="3"/>
          <c:tx>
            <c:strRef>
              <c:f>Sheet1!$E$1</c:f>
              <c:strCache>
                <c:ptCount val="1"/>
                <c:pt idx="0">
                  <c:v>Legal in all cases</c:v>
                </c:pt>
              </c:strCache>
            </c:strRef>
          </c:tx>
          <c:spPr>
            <a:solidFill>
              <a:srgbClr val="F07B20"/>
            </a:solidFill>
          </c:spPr>
          <c:dLbls>
            <c:dLbl>
              <c:idx val="0"/>
              <c:tx>
                <c:rich>
                  <a:bodyPr/>
                  <a:lstStyle/>
                  <a:p>
                    <a:r>
                      <a:rPr lang="en-US" b="1" sz="800">
                        <a:solidFill>
                          <a:srgbClr val="FFFFFF"/>
                        </a:solidFill>
                      </a:rPr>
                      <a:t>9 </a:t>
                    </a:r>
                    <a:r>
                      <a:rPr lang="en-US" b="1" sz="900">
                        <a:solidFill>
                          <a:srgbClr val="FFFFFF"/>
                        </a:solidFill>
                      </a:rPr>
                      <a:t>E</a:t>
                    </a:r>
                  </a:p>
                </c:rich>
              </c:tx>
              <c:showLegendKey val="0"/>
              <c:showVal val="0"/>
              <c:showCatName val="0"/>
              <c:showSerName val="0"/>
              <c:showPercent val="0"/>
              <c:showBubbleSize val="0"/>
            </c:dLbl>
            <c:dLbl>
              <c:idx val="1"/>
              <c:tx>
                <c:rich>
                  <a:bodyPr/>
                  <a:lstStyle/>
                  <a:p>
                    <a:r>
                      <a:rPr lang="en-US" b="1" sz="800">
                        <a:solidFill>
                          <a:srgbClr val="FFFFFF"/>
                        </a:solidFill>
                      </a:rPr>
                      <a:t>17 </a:t>
                    </a:r>
                    <a:r>
                      <a:rPr lang="en-US" b="1" sz="900">
                        <a:solidFill>
                          <a:srgbClr val="FFFFFF"/>
                        </a:solidFill>
                      </a:rPr>
                      <a:t>ADE</a:t>
                    </a:r>
                  </a:p>
                </c:rich>
              </c:tx>
              <c:showLegendKey val="0"/>
              <c:showVal val="0"/>
              <c:showCatName val="0"/>
              <c:showSerName val="0"/>
              <c:showPercent val="0"/>
              <c:showBubbleSize val="0"/>
            </c:dLbl>
            <c:dLbl>
              <c:idx val="2"/>
              <c:tx>
                <c:rich>
                  <a:bodyPr/>
                  <a:lstStyle/>
                  <a:p>
                    <a:r>
                      <a:rPr lang="en-US" b="1" sz="800">
                        <a:solidFill>
                          <a:srgbClr val="FFFFFF"/>
                        </a:solidFill>
                      </a:rPr>
                      <a:t>16 </a:t>
                    </a:r>
                    <a:r>
                      <a:rPr lang="en-US" b="1" sz="900">
                        <a:solidFill>
                          <a:srgbClr val="FFFFFF"/>
                        </a:solidFill>
                      </a:rPr>
                      <a:t>ADE</a:t>
                    </a:r>
                  </a:p>
                </c:rich>
              </c:tx>
              <c:showLegendKey val="0"/>
              <c:showVal val="0"/>
              <c:showCatName val="0"/>
              <c:showSerName val="0"/>
              <c:showPercent val="0"/>
              <c:showBubbleSize val="0"/>
            </c:dLbl>
            <c:dLbl>
              <c:idx val="3"/>
              <c:tx>
                <c:rich>
                  <a:bodyPr/>
                  <a:lstStyle/>
                  <a:p>
                    <a:r>
                      <a:rPr lang="en-US" b="1" sz="800">
                        <a:solidFill>
                          <a:srgbClr val="FFFFFF"/>
                        </a:solidFill>
                      </a:rPr>
                      <a:t>10 </a:t>
                    </a:r>
                    <a:r>
                      <a:rPr lang="en-US" b="1" sz="900">
                        <a:solidFill>
                          <a:srgbClr val="FFFFFF"/>
                        </a:solidFill>
                      </a:rPr>
                      <a:t>E</a:t>
                    </a:r>
                  </a:p>
                </c:rich>
              </c:tx>
              <c:showLegendKey val="0"/>
              <c:showVal val="0"/>
              <c:showCatName val="0"/>
              <c:showSerName val="0"/>
              <c:showPercent val="0"/>
              <c:showBubbleSize val="0"/>
            </c:dLbl>
            <c:dLbl>
              <c:idx val="4"/>
              <c:tx>
                <c:rich>
                  <a:bodyPr/>
                  <a:lstStyle/>
                  <a:p>
                    <a:r>
                      <a:rPr lang="en-US" b="1" sz="800">
                        <a:solidFill>
                          <a:srgbClr val="FFFFFF"/>
                        </a:solidFill>
                      </a:rPr>
                      <a:t>4</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8.653636015737645</c:v>
                </c:pt>
                <c:pt idx="1">
                  <c:v>17.357632536523656</c:v>
                </c:pt>
                <c:pt idx="2">
                  <c:v>15.588704171749274</c:v>
                </c:pt>
                <c:pt idx="3">
                  <c:v>10.231622256355658</c:v>
                </c:pt>
                <c:pt idx="4">
                  <c:v>4.018125778708822</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Strongly oppose</c:v>
                </c:pt>
              </c:strCache>
            </c:strRef>
          </c:tx>
          <c:spPr>
            <a:solidFill>
              <a:srgbClr val="F7D8C0"/>
            </a:solidFill>
          </c:spPr>
          <c:dLbls>
            <c:dLbl>
              <c:idx val="0"/>
              <c:tx>
                <c:rich>
                  <a:bodyPr/>
                  <a:lstStyle/>
                  <a:p>
                    <a:r>
                      <a:rPr lang="en-US" b="1" sz="800">
                        <a:solidFill>
                          <a:srgbClr val="2D3142"/>
                        </a:solidFill>
                      </a:rPr>
                      <a:t>22 </a:t>
                    </a:r>
                    <a:r>
                      <a:rPr lang="en-US" b="1" sz="900">
                        <a:solidFill>
                          <a:srgbClr val="2D3142"/>
                        </a:solidFill>
                      </a:rPr>
                      <a:t>BE</a:t>
                    </a:r>
                  </a:p>
                </c:rich>
              </c:tx>
              <c:showLegendKey val="0"/>
              <c:showVal val="0"/>
              <c:showCatName val="0"/>
              <c:showSerName val="0"/>
              <c:showPercent val="0"/>
              <c:showBubbleSize val="0"/>
            </c:dLbl>
            <c:dLbl>
              <c:idx val="1"/>
              <c:tx>
                <c:rich>
                  <a:bodyPr/>
                  <a:lstStyle/>
                  <a:p>
                    <a:r>
                      <a:rPr lang="en-US" b="1" sz="800">
                        <a:solidFill>
                          <a:srgbClr val="2D3142"/>
                        </a:solidFill>
                      </a:rPr>
                      <a:t>8</a:t>
                    </a:r>
                  </a:p>
                </c:rich>
              </c:tx>
              <c:showLegendKey val="0"/>
              <c:showVal val="0"/>
              <c:showCatName val="0"/>
              <c:showSerName val="0"/>
              <c:showPercent val="0"/>
              <c:showBubbleSize val="0"/>
            </c:dLbl>
            <c:dLbl>
              <c:idx val="2"/>
              <c:tx>
                <c:rich>
                  <a:bodyPr/>
                  <a:lstStyle/>
                  <a:p>
                    <a:r>
                      <a:rPr lang="en-US" b="1" sz="800">
                        <a:solidFill>
                          <a:srgbClr val="2D3142"/>
                        </a:solidFill>
                      </a:rPr>
                      <a:t>37 </a:t>
                    </a:r>
                    <a:r>
                      <a:rPr lang="en-US" b="1" sz="900">
                        <a:solidFill>
                          <a:srgbClr val="2D3142"/>
                        </a:solidFill>
                      </a:rPr>
                      <a:t>ABDE</a:t>
                    </a:r>
                  </a:p>
                </c:rich>
              </c:tx>
              <c:showLegendKey val="0"/>
              <c:showVal val="0"/>
              <c:showCatName val="0"/>
              <c:showSerName val="0"/>
              <c:showPercent val="0"/>
              <c:showBubbleSize val="0"/>
            </c:dLbl>
            <c:dLbl>
              <c:idx val="3"/>
              <c:tx>
                <c:rich>
                  <a:bodyPr/>
                  <a:lstStyle/>
                  <a:p>
                    <a:r>
                      <a:rPr lang="en-US" b="1" sz="800">
                        <a:solidFill>
                          <a:srgbClr val="2D3142"/>
                        </a:solidFill>
                      </a:rPr>
                      <a:t>27 </a:t>
                    </a:r>
                    <a:r>
                      <a:rPr lang="en-US" b="1" sz="900">
                        <a:solidFill>
                          <a:srgbClr val="2D3142"/>
                        </a:solidFill>
                      </a:rPr>
                      <a:t>ABE</a:t>
                    </a:r>
                  </a:p>
                </c:rich>
              </c:tx>
              <c:showLegendKey val="0"/>
              <c:showVal val="0"/>
              <c:showCatName val="0"/>
              <c:showSerName val="0"/>
              <c:showPercent val="0"/>
              <c:showBubbleSize val="0"/>
            </c:dLbl>
            <c:dLbl>
              <c:idx val="4"/>
              <c:tx>
                <c:rich>
                  <a:bodyPr/>
                  <a:lstStyle/>
                  <a:p>
                    <a:r>
                      <a:rPr lang="en-US" b="1" sz="800">
                        <a:solidFill>
                          <a:srgbClr val="2D3142"/>
                        </a:solidFill>
                      </a:rPr>
                      <a:t>14 </a:t>
                    </a:r>
                    <a:r>
                      <a:rPr lang="en-US" b="1" sz="900">
                        <a:solidFill>
                          <a:srgbClr val="2D3142"/>
                        </a:solidFill>
                      </a:rPr>
                      <a:t>B</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Sheet1!$B$2:$B$6</c:f>
              <c:numCache>
                <c:formatCode>0</c:formatCode>
                <c:ptCount val="5"/>
                <c:pt idx="0">
                  <c:v>21.54230812959879</c:v>
                </c:pt>
                <c:pt idx="1">
                  <c:v>8.01183885743446</c:v>
                </c:pt>
                <c:pt idx="2">
                  <c:v>36.79396296204837</c:v>
                </c:pt>
                <c:pt idx="3">
                  <c:v>27.256111797412803</c:v>
                </c:pt>
                <c:pt idx="4">
                  <c:v>13.927773081073644</c:v>
                </c:pt>
              </c:numCache>
            </c:numRef>
          </c:val>
        </c:ser>
        <c:ser>
          <c:idx val="1"/>
          <c:order val="1"/>
          <c:tx>
            <c:strRef>
              <c:f>Sheet1!$C$1</c:f>
              <c:strCache>
                <c:ptCount val="1"/>
                <c:pt idx="0">
                  <c:v>Somewhat oppose</c:v>
                </c:pt>
              </c:strCache>
            </c:strRef>
          </c:tx>
          <c:spPr>
            <a:solidFill>
              <a:srgbClr val="F4BF9A"/>
            </a:solidFill>
          </c:spPr>
          <c:dLbls>
            <c:dLbl>
              <c:idx val="0"/>
              <c:tx>
                <c:rich>
                  <a:bodyPr/>
                  <a:lstStyle/>
                  <a:p>
                    <a:r>
                      <a:rPr lang="en-US" b="1" sz="800">
                        <a:solidFill>
                          <a:srgbClr val="2D3142"/>
                        </a:solidFill>
                      </a:rPr>
                      <a:t>19 </a:t>
                    </a:r>
                    <a:r>
                      <a:rPr lang="en-US" b="1" sz="900">
                        <a:solidFill>
                          <a:srgbClr val="2D3142"/>
                        </a:solidFill>
                      </a:rPr>
                      <a:t>DE</a:t>
                    </a:r>
                  </a:p>
                </c:rich>
              </c:tx>
              <c:showLegendKey val="0"/>
              <c:showVal val="0"/>
              <c:showCatName val="0"/>
              <c:showSerName val="0"/>
              <c:showPercent val="0"/>
              <c:showBubbleSize val="0"/>
            </c:dLbl>
            <c:dLbl>
              <c:idx val="1"/>
              <c:tx>
                <c:rich>
                  <a:bodyPr/>
                  <a:lstStyle/>
                  <a:p>
                    <a:r>
                      <a:rPr lang="en-US" b="1" sz="800">
                        <a:solidFill>
                          <a:srgbClr val="2D3142"/>
                        </a:solidFill>
                      </a:rPr>
                      <a:t>18 </a:t>
                    </a:r>
                    <a:r>
                      <a:rPr lang="en-US" b="1" sz="900">
                        <a:solidFill>
                          <a:srgbClr val="2D3142"/>
                        </a:solidFill>
                      </a:rPr>
                      <a:t>d</a:t>
                    </a:r>
                  </a:p>
                </c:rich>
              </c:tx>
              <c:showLegendKey val="0"/>
              <c:showVal val="0"/>
              <c:showCatName val="0"/>
              <c:showSerName val="0"/>
              <c:showPercent val="0"/>
              <c:showBubbleSize val="0"/>
            </c:dLbl>
            <c:dLbl>
              <c:idx val="2"/>
              <c:tx>
                <c:rich>
                  <a:bodyPr/>
                  <a:lstStyle/>
                  <a:p>
                    <a:r>
                      <a:rPr lang="en-US" b="1" sz="800">
                        <a:solidFill>
                          <a:srgbClr val="2D3142"/>
                        </a:solidFill>
                      </a:rPr>
                      <a:t>19 </a:t>
                    </a:r>
                    <a:r>
                      <a:rPr lang="en-US" b="1" sz="900">
                        <a:solidFill>
                          <a:srgbClr val="2D3142"/>
                        </a:solidFill>
                      </a:rPr>
                      <a:t>DE</a:t>
                    </a:r>
                  </a:p>
                </c:rich>
              </c:tx>
              <c:showLegendKey val="0"/>
              <c:showVal val="0"/>
              <c:showCatName val="0"/>
              <c:showSerName val="0"/>
              <c:showPercent val="0"/>
              <c:showBubbleSize val="0"/>
            </c:dLbl>
            <c:dLbl>
              <c:idx val="3"/>
              <c:tx>
                <c:rich>
                  <a:bodyPr/>
                  <a:lstStyle/>
                  <a:p>
                    <a:r>
                      <a:rPr lang="en-US" b="1" sz="800">
                        <a:solidFill>
                          <a:srgbClr val="2D3142"/>
                        </a:solidFill>
                      </a:rPr>
                      <a:t>15</a:t>
                    </a:r>
                  </a:p>
                </c:rich>
              </c:tx>
              <c:showLegendKey val="0"/>
              <c:showVal val="0"/>
              <c:showCatName val="0"/>
              <c:showSerName val="0"/>
              <c:showPercent val="0"/>
              <c:showBubbleSize val="0"/>
            </c:dLbl>
            <c:dLbl>
              <c:idx val="4"/>
              <c:tx>
                <c:rich>
                  <a:bodyPr/>
                  <a:lstStyle/>
                  <a:p>
                    <a:r>
                      <a:rPr lang="en-US" b="1" sz="800">
                        <a:solidFill>
                          <a:srgbClr val="2D3142"/>
                        </a:solidFill>
                      </a:rPr>
                      <a:t>16</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Sheet1!$C$2:$C$6</c:f>
              <c:numCache>
                <c:formatCode>0</c:formatCode>
                <c:ptCount val="5"/>
                <c:pt idx="0">
                  <c:v>18.737890681949104</c:v>
                </c:pt>
                <c:pt idx="1">
                  <c:v>17.93624061859984</c:v>
                </c:pt>
                <c:pt idx="2">
                  <c:v>19.239152843083872</c:v>
                </c:pt>
                <c:pt idx="3">
                  <c:v>15.27798021805543</c:v>
                </c:pt>
                <c:pt idx="4">
                  <c:v>15.591459643405098</c:v>
                </c:pt>
              </c:numCache>
            </c:numRef>
          </c:val>
        </c:ser>
        <c:ser>
          <c:idx val="2"/>
          <c:order val="2"/>
          <c:tx>
            <c:strRef>
              <c:f>Sheet1!$D$1</c:f>
              <c:strCache>
                <c:ptCount val="1"/>
                <c:pt idx="0">
                  <c:v>Somewhat favor</c:v>
                </c:pt>
              </c:strCache>
            </c:strRef>
          </c:tx>
          <c:spPr>
            <a:solidFill>
              <a:srgbClr val="F0A060"/>
            </a:solidFill>
          </c:spPr>
          <c:dLbls>
            <c:dLbl>
              <c:idx val="0"/>
              <c:tx>
                <c:rich>
                  <a:bodyPr/>
                  <a:lstStyle/>
                  <a:p>
                    <a:r>
                      <a:rPr lang="en-US" b="1" sz="800">
                        <a:solidFill>
                          <a:srgbClr val="FFFFFF"/>
                        </a:solidFill>
                      </a:rPr>
                      <a:t>43 </a:t>
                    </a:r>
                    <a:r>
                      <a:rPr lang="en-US" b="1" sz="900">
                        <a:solidFill>
                          <a:srgbClr val="FFFFFF"/>
                        </a:solidFill>
                      </a:rPr>
                      <a:t>CDE</a:t>
                    </a:r>
                  </a:p>
                </c:rich>
              </c:tx>
              <c:showLegendKey val="0"/>
              <c:showVal val="0"/>
              <c:showCatName val="0"/>
              <c:showSerName val="0"/>
              <c:showPercent val="0"/>
              <c:showBubbleSize val="0"/>
            </c:dLbl>
            <c:dLbl>
              <c:idx val="1"/>
              <c:tx>
                <c:rich>
                  <a:bodyPr/>
                  <a:lstStyle/>
                  <a:p>
                    <a:r>
                      <a:rPr lang="en-US" b="1" sz="800">
                        <a:solidFill>
                          <a:srgbClr val="FFFFFF"/>
                        </a:solidFill>
                      </a:rPr>
                      <a:t>56 </a:t>
                    </a:r>
                    <a:r>
                      <a:rPr lang="en-US" b="1" sz="900">
                        <a:solidFill>
                          <a:srgbClr val="FFFFFF"/>
                        </a:solidFill>
                      </a:rPr>
                      <a:t>ACDE</a:t>
                    </a:r>
                  </a:p>
                </c:rich>
              </c:tx>
              <c:showLegendKey val="0"/>
              <c:showVal val="0"/>
              <c:showCatName val="0"/>
              <c:showSerName val="0"/>
              <c:showPercent val="0"/>
              <c:showBubbleSize val="0"/>
            </c:dLbl>
            <c:dLbl>
              <c:idx val="2"/>
              <c:tx>
                <c:rich>
                  <a:bodyPr/>
                  <a:lstStyle/>
                  <a:p>
                    <a:r>
                      <a:rPr lang="en-US" b="1" sz="800">
                        <a:solidFill>
                          <a:srgbClr val="FFFFFF"/>
                        </a:solidFill>
                      </a:rPr>
                      <a:t>29</a:t>
                    </a:r>
                  </a:p>
                </c:rich>
              </c:tx>
              <c:showLegendKey val="0"/>
              <c:showVal val="0"/>
              <c:showCatName val="0"/>
              <c:showSerName val="0"/>
              <c:showPercent val="0"/>
              <c:showBubbleSize val="0"/>
            </c:dLbl>
            <c:dLbl>
              <c:idx val="3"/>
              <c:tx>
                <c:rich>
                  <a:bodyPr/>
                  <a:lstStyle/>
                  <a:p>
                    <a:r>
                      <a:rPr lang="en-US" b="1" sz="800">
                        <a:solidFill>
                          <a:srgbClr val="FFFFFF"/>
                        </a:solidFill>
                      </a:rPr>
                      <a:t>26</a:t>
                    </a:r>
                  </a:p>
                </c:rich>
              </c:tx>
              <c:showLegendKey val="0"/>
              <c:showVal val="0"/>
              <c:showCatName val="0"/>
              <c:showSerName val="0"/>
              <c:showPercent val="0"/>
              <c:showBubbleSize val="0"/>
            </c:dLbl>
            <c:dLbl>
              <c:idx val="4"/>
              <c:tx>
                <c:rich>
                  <a:bodyPr/>
                  <a:lstStyle/>
                  <a:p>
                    <a:r>
                      <a:rPr lang="en-US" b="1" sz="800">
                        <a:solidFill>
                          <a:srgbClr val="FFFFFF"/>
                        </a:solidFill>
                      </a:rPr>
                      <a:t>35 </a:t>
                    </a:r>
                    <a:r>
                      <a:rPr lang="en-US" b="1" sz="900">
                        <a:solidFill>
                          <a:srgbClr val="FFFFFF"/>
                        </a:solidFill>
                      </a:rPr>
                      <a:t>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Sheet1!$D$2:$D$6</c:f>
              <c:numCache>
                <c:formatCode>0</c:formatCode>
                <c:ptCount val="5"/>
                <c:pt idx="0">
                  <c:v>42.691235066790654</c:v>
                </c:pt>
                <c:pt idx="1">
                  <c:v>56.483052773750295</c:v>
                </c:pt>
                <c:pt idx="2">
                  <c:v>28.94852254061311</c:v>
                </c:pt>
                <c:pt idx="3">
                  <c:v>26.20053511678827</c:v>
                </c:pt>
                <c:pt idx="4">
                  <c:v>35.18389063160961</c:v>
                </c:pt>
              </c:numCache>
            </c:numRef>
          </c:val>
        </c:ser>
        <c:ser>
          <c:idx val="3"/>
          <c:order val="3"/>
          <c:tx>
            <c:strRef>
              <c:f>Sheet1!$E$1</c:f>
              <c:strCache>
                <c:ptCount val="1"/>
                <c:pt idx="0">
                  <c:v>Strongly favor</c:v>
                </c:pt>
              </c:strCache>
            </c:strRef>
          </c:tx>
          <c:spPr>
            <a:solidFill>
              <a:srgbClr val="F07B20"/>
            </a:solidFill>
          </c:spPr>
          <c:dLbls>
            <c:dLbl>
              <c:idx val="0"/>
              <c:tx>
                <c:rich>
                  <a:bodyPr/>
                  <a:lstStyle/>
                  <a:p>
                    <a:r>
                      <a:rPr lang="en-US" b="1" sz="800">
                        <a:solidFill>
                          <a:srgbClr val="FFFFFF"/>
                        </a:solidFill>
                      </a:rPr>
                      <a:t>15 </a:t>
                    </a:r>
                    <a:r>
                      <a:rPr lang="en-US" b="1" sz="900">
                        <a:solidFill>
                          <a:srgbClr val="FFFFFF"/>
                        </a:solidFill>
                      </a:rPr>
                      <a:t>BC</a:t>
                    </a:r>
                  </a:p>
                </c:rich>
              </c:tx>
              <c:showLegendKey val="0"/>
              <c:showVal val="0"/>
              <c:showCatName val="0"/>
              <c:showSerName val="0"/>
              <c:showPercent val="0"/>
              <c:showBubbleSize val="0"/>
            </c:dLbl>
            <c:dLbl>
              <c:idx val="1"/>
              <c:tx>
                <c:rich>
                  <a:bodyPr/>
                  <a:lstStyle/>
                  <a:p>
                    <a:r>
                      <a:rPr lang="en-US" b="1" sz="800">
                        <a:solidFill>
                          <a:srgbClr val="FFFFFF"/>
                        </a:solidFill>
                      </a:rPr>
                      <a:t>11</a:t>
                    </a:r>
                  </a:p>
                </c:rich>
              </c:tx>
              <c:showLegendKey val="0"/>
              <c:showVal val="0"/>
              <c:showCatName val="0"/>
              <c:showSerName val="0"/>
              <c:showPercent val="0"/>
              <c:showBubbleSize val="0"/>
            </c:dLbl>
            <c:dLbl>
              <c:idx val="2"/>
              <c:tx>
                <c:rich>
                  <a:bodyPr/>
                  <a:lstStyle/>
                  <a:p>
                    <a:r>
                      <a:rPr lang="en-US" b="1" sz="800">
                        <a:solidFill>
                          <a:srgbClr val="FFFFFF"/>
                        </a:solidFill>
                      </a:rPr>
                      <a:t>12</a:t>
                    </a:r>
                  </a:p>
                </c:rich>
              </c:tx>
              <c:showLegendKey val="0"/>
              <c:showVal val="0"/>
              <c:showCatName val="0"/>
              <c:showSerName val="0"/>
              <c:showPercent val="0"/>
              <c:showBubbleSize val="0"/>
            </c:dLbl>
            <c:dLbl>
              <c:idx val="3"/>
              <c:tx>
                <c:rich>
                  <a:bodyPr/>
                  <a:lstStyle/>
                  <a:p>
                    <a:r>
                      <a:rPr lang="en-US" b="1" sz="800">
                        <a:solidFill>
                          <a:srgbClr val="FFFFFF"/>
                        </a:solidFill>
                      </a:rPr>
                      <a:t>19 </a:t>
                    </a:r>
                    <a:r>
                      <a:rPr lang="en-US" b="1" sz="900">
                        <a:solidFill>
                          <a:srgbClr val="FFFFFF"/>
                        </a:solidFill>
                      </a:rPr>
                      <a:t>ABC</a:t>
                    </a:r>
                  </a:p>
                </c:rich>
              </c:tx>
              <c:showLegendKey val="0"/>
              <c:showVal val="0"/>
              <c:showCatName val="0"/>
              <c:showSerName val="0"/>
              <c:showPercent val="0"/>
              <c:showBubbleSize val="0"/>
            </c:dLbl>
            <c:dLbl>
              <c:idx val="4"/>
              <c:tx>
                <c:rich>
                  <a:bodyPr/>
                  <a:lstStyle/>
                  <a:p>
                    <a:r>
                      <a:rPr lang="en-US" b="1" sz="800">
                        <a:solidFill>
                          <a:srgbClr val="FFFFFF"/>
                        </a:solidFill>
                      </a:rPr>
                      <a:t>30 </a:t>
                    </a:r>
                    <a:r>
                      <a:rPr lang="en-US" b="1" sz="900">
                        <a:solidFill>
                          <a:srgbClr val="FFFFFF"/>
                        </a:solidFill>
                      </a:rPr>
                      <a:t>ABCD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Hong Kong (A)</c:v>
                </c:pt>
                <c:pt idx="1">
                  <c:v>Japan (B)</c:v>
                </c:pt>
                <c:pt idx="2">
                  <c:v>Korea (C)</c:v>
                </c:pt>
                <c:pt idx="3">
                  <c:v>Taiwan (D)</c:v>
                </c:pt>
                <c:pt idx="4">
                  <c:v>Vietnam (E)</c:v>
                </c:pt>
              </c:strCache>
            </c:strRef>
          </c:cat>
          <c:val>
            <c:numRef>
              <c:f>Sheet1!$E$2:$E$6</c:f>
              <c:numCache>
                <c:formatCode>0</c:formatCode>
                <c:ptCount val="5"/>
                <c:pt idx="0">
                  <c:v>15.192426207006704</c:v>
                </c:pt>
                <c:pt idx="1">
                  <c:v>11.265763547267046</c:v>
                </c:pt>
                <c:pt idx="2">
                  <c:v>11.57877810742503</c:v>
                </c:pt>
                <c:pt idx="3">
                  <c:v>18.506725599748243</c:v>
                </c:pt>
                <c:pt idx="4">
                  <c:v>30.20843540418101</c:v>
                </c:pt>
              </c:numCache>
            </c:numRef>
          </c:val>
        </c:ser>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l"/>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Lbls>
            <c:dLbl>
              <c:idx val="0"/>
              <c:tx>
                <c:rich>
                  <a:bodyPr/>
                  <a:lstStyle/>
                  <a:p>
                    <a:r>
                      <a:rPr lang="en-US" b="1" sz="900">
                        <a:solidFill>
                          <a:srgbClr val="2D3142"/>
                        </a:solidFill>
                      </a:rPr>
                      <a:t>49</a:t>
                    </a:r>
                  </a:p>
                </c:rich>
              </c:tx>
              <c:showLegendKey val="0"/>
              <c:showVal val="0"/>
              <c:showCatName val="0"/>
              <c:showSerName val="0"/>
              <c:showPercent val="0"/>
              <c:showBubbleSize val="0"/>
            </c:dLbl>
            <c:dLbl>
              <c:idx val="1"/>
              <c:tx>
                <c:rich>
                  <a:bodyPr/>
                  <a:lstStyle/>
                  <a:p>
                    <a:r>
                      <a:rPr lang="en-US" b="1" sz="900">
                        <a:solidFill>
                          <a:srgbClr val="2D3142"/>
                        </a:solidFill>
                      </a:rPr>
                      <a:t>51</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Sheet1!$A$2:$A$3</c:f>
              <c:strCache>
                <c:ptCount val="2"/>
                <c:pt idx="0">
                  <c:v>Man</c:v>
                </c:pt>
                <c:pt idx="1">
                  <c:v>Woman</c:v>
                </c:pt>
              </c:strCache>
            </c:strRef>
          </c:cat>
          <c:val>
            <c:numRef>
              <c:f>Sheet1!$B$2:$B$3</c:f>
              <c:numCache>
                <c:formatCode>0</c:formatCode>
                <c:ptCount val="2"/>
                <c:pt idx="0">
                  <c:v>48.55516733112121</c:v>
                </c:pt>
                <c:pt idx="1">
                  <c:v>50.95620972421629</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Very important</c:v>
                </c:pt>
              </c:strCache>
            </c:strRef>
          </c:tx>
          <c:spPr>
            <a:solidFill>
              <a:srgbClr val="F07B20"/>
            </a:solidFill>
          </c:spPr>
          <c:dLbls>
            <c:dLbl>
              <c:idx val="0"/>
              <c:tx>
                <c:rich>
                  <a:bodyPr/>
                  <a:lstStyle/>
                  <a:p>
                    <a:r>
                      <a:rPr lang="en-US" b="1" sz="800">
                        <a:solidFill>
                          <a:srgbClr val="FFFFFF"/>
                        </a:solidFill>
                      </a:rPr>
                      <a:t>12</a:t>
                    </a:r>
                  </a:p>
                </c:rich>
              </c:tx>
              <c:showLegendKey val="0"/>
              <c:showVal val="0"/>
              <c:showCatName val="0"/>
              <c:showSerName val="0"/>
              <c:showPercent val="0"/>
              <c:showBubbleSize val="0"/>
            </c:dLbl>
            <c:dLbl>
              <c:idx val="1"/>
              <c:tx>
                <c:rich>
                  <a:bodyPr/>
                  <a:lstStyle/>
                  <a:p>
                    <a:r>
                      <a:rPr lang="en-US" b="1" sz="800">
                        <a:solidFill>
                          <a:srgbClr val="FFFFFF"/>
                        </a:solidFill>
                      </a:rPr>
                      <a:t>17 </a:t>
                    </a:r>
                    <a:r>
                      <a:rPr lang="en-US" b="1" sz="900">
                        <a:solidFill>
                          <a:srgbClr val="1B5E2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Man</c:v>
                </c:pt>
                <c:pt idx="1">
                  <c:v>Woman</c:v>
                </c:pt>
              </c:strCache>
            </c:strRef>
          </c:cat>
          <c:val>
            <c:numRef>
              <c:f>Sheet1!$B$2:$B$3</c:f>
              <c:numCache>
                <c:formatCode>0</c:formatCode>
                <c:ptCount val="2"/>
                <c:pt idx="0">
                  <c:v>12.05734946644145</c:v>
                </c:pt>
                <c:pt idx="1">
                  <c:v>16.966894969460117</c:v>
                </c:pt>
              </c:numCache>
            </c:numRef>
          </c:val>
        </c:ser>
        <c:ser>
          <c:idx val="1"/>
          <c:order val="1"/>
          <c:tx>
            <c:strRef>
              <c:f>Sheet1!$C$1</c:f>
              <c:strCache>
                <c:ptCount val="1"/>
                <c:pt idx="0">
                  <c:v>Somewhat important</c:v>
                </c:pt>
              </c:strCache>
            </c:strRef>
          </c:tx>
          <c:spPr>
            <a:solidFill>
              <a:srgbClr val="F0A060"/>
            </a:solidFill>
          </c:spPr>
          <c:dLbls>
            <c:dLbl>
              <c:idx val="0"/>
              <c:tx>
                <c:rich>
                  <a:bodyPr/>
                  <a:lstStyle/>
                  <a:p>
                    <a:r>
                      <a:rPr lang="en-US" b="1" sz="800">
                        <a:solidFill>
                          <a:srgbClr val="FFFFFF"/>
                        </a:solidFill>
                      </a:rPr>
                      <a:t>30</a:t>
                    </a:r>
                  </a:p>
                </c:rich>
              </c:tx>
              <c:showLegendKey val="0"/>
              <c:showVal val="0"/>
              <c:showCatName val="0"/>
              <c:showSerName val="0"/>
              <c:showPercent val="0"/>
              <c:showBubbleSize val="0"/>
            </c:dLbl>
            <c:dLbl>
              <c:idx val="1"/>
              <c:tx>
                <c:rich>
                  <a:bodyPr/>
                  <a:lstStyle/>
                  <a:p>
                    <a:r>
                      <a:rPr lang="en-US" b="1" sz="800">
                        <a:solidFill>
                          <a:srgbClr val="FFFFFF"/>
                        </a:solidFill>
                      </a:rPr>
                      <a:t>33 </a:t>
                    </a:r>
                    <a:r>
                      <a:rPr lang="en-US" b="1" sz="900">
                        <a:solidFill>
                          <a:srgbClr val="1B5E2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Man</c:v>
                </c:pt>
                <c:pt idx="1">
                  <c:v>Woman</c:v>
                </c:pt>
              </c:strCache>
            </c:strRef>
          </c:cat>
          <c:val>
            <c:numRef>
              <c:f>Sheet1!$C$2:$C$3</c:f>
              <c:numCache>
                <c:formatCode>0</c:formatCode>
                <c:ptCount val="2"/>
                <c:pt idx="0">
                  <c:v>30.228896840270686</c:v>
                </c:pt>
                <c:pt idx="1">
                  <c:v>33.22702327627567</c:v>
                </c:pt>
              </c:numCache>
            </c:numRef>
          </c:val>
        </c:ser>
        <c:ser>
          <c:idx val="2"/>
          <c:order val="2"/>
          <c:tx>
            <c:strRef>
              <c:f>Sheet1!$D$1</c:f>
              <c:strCache>
                <c:ptCount val="1"/>
                <c:pt idx="0">
                  <c:v>Not very important</c:v>
                </c:pt>
              </c:strCache>
            </c:strRef>
          </c:tx>
          <c:spPr>
            <a:solidFill>
              <a:srgbClr val="F4BF9A"/>
            </a:solidFill>
          </c:spPr>
          <c:dLbls>
            <c:dLbl>
              <c:idx val="0"/>
              <c:tx>
                <c:rich>
                  <a:bodyPr/>
                  <a:lstStyle/>
                  <a:p>
                    <a:r>
                      <a:rPr lang="en-US" b="1" sz="800">
                        <a:solidFill>
                          <a:srgbClr val="2D3142"/>
                        </a:solidFill>
                      </a:rPr>
                      <a:t>36</a:t>
                    </a:r>
                  </a:p>
                </c:rich>
              </c:tx>
              <c:showLegendKey val="0"/>
              <c:showVal val="0"/>
              <c:showCatName val="0"/>
              <c:showSerName val="0"/>
              <c:showPercent val="0"/>
              <c:showBubbleSize val="0"/>
            </c:dLbl>
            <c:dLbl>
              <c:idx val="1"/>
              <c:tx>
                <c:rich>
                  <a:bodyPr/>
                  <a:lstStyle/>
                  <a:p>
                    <a:r>
                      <a:rPr lang="en-US" b="1" sz="800">
                        <a:solidFill>
                          <a:srgbClr val="2D3142"/>
                        </a:solidFill>
                      </a:rPr>
                      <a:t>32 </a:t>
                    </a:r>
                    <a:r>
                      <a:rPr lang="en-US" b="1" sz="900">
                        <a:solidFill>
                          <a:srgbClr val="8E243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Man</c:v>
                </c:pt>
                <c:pt idx="1">
                  <c:v>Woman</c:v>
                </c:pt>
              </c:strCache>
            </c:strRef>
          </c:cat>
          <c:val>
            <c:numRef>
              <c:f>Sheet1!$D$2:$D$3</c:f>
              <c:numCache>
                <c:formatCode>0</c:formatCode>
                <c:ptCount val="2"/>
                <c:pt idx="0">
                  <c:v>35.52878035567451</c:v>
                </c:pt>
                <c:pt idx="1">
                  <c:v>32.3192607052303</c:v>
                </c:pt>
              </c:numCache>
            </c:numRef>
          </c:val>
        </c:ser>
        <c:ser>
          <c:idx val="3"/>
          <c:order val="3"/>
          <c:tx>
            <c:strRef>
              <c:f>Sheet1!$E$1</c:f>
              <c:strCache>
                <c:ptCount val="1"/>
                <c:pt idx="0">
                  <c:v>Not at all important</c:v>
                </c:pt>
              </c:strCache>
            </c:strRef>
          </c:tx>
          <c:spPr>
            <a:solidFill>
              <a:srgbClr val="F7D8C0"/>
            </a:solidFill>
          </c:spPr>
          <c:dLbls>
            <c:dLbl>
              <c:idx val="0"/>
              <c:tx>
                <c:rich>
                  <a:bodyPr/>
                  <a:lstStyle/>
                  <a:p>
                    <a:r>
                      <a:rPr lang="en-US" b="1" sz="800">
                        <a:solidFill>
                          <a:srgbClr val="2D3142"/>
                        </a:solidFill>
                      </a:rPr>
                      <a:t>22</a:t>
                    </a:r>
                  </a:p>
                </c:rich>
              </c:tx>
              <c:showLegendKey val="0"/>
              <c:showVal val="0"/>
              <c:showCatName val="0"/>
              <c:showSerName val="0"/>
              <c:showPercent val="0"/>
              <c:showBubbleSize val="0"/>
            </c:dLbl>
            <c:dLbl>
              <c:idx val="1"/>
              <c:tx>
                <c:rich>
                  <a:bodyPr/>
                  <a:lstStyle/>
                  <a:p>
                    <a:r>
                      <a:rPr lang="en-US" b="1" sz="800">
                        <a:solidFill>
                          <a:srgbClr val="2D3142"/>
                        </a:solidFill>
                      </a:rPr>
                      <a:t>17 </a:t>
                    </a:r>
                    <a:r>
                      <a:rPr lang="en-US" b="1" sz="900">
                        <a:solidFill>
                          <a:srgbClr val="8E2430"/>
                        </a:solidFill>
                      </a:rPr>
                      <a:t>▼</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Sheet1!$A$2:$A$3</c:f>
              <c:strCache>
                <c:ptCount val="2"/>
                <c:pt idx="0">
                  <c:v>Man</c:v>
                </c:pt>
                <c:pt idx="1">
                  <c:v>Woman</c:v>
                </c:pt>
              </c:strCache>
            </c:strRef>
          </c:cat>
          <c:val>
            <c:numRef>
              <c:f>Sheet1!$E$2:$E$3</c:f>
              <c:numCache>
                <c:formatCode>0</c:formatCode>
                <c:ptCount val="2"/>
                <c:pt idx="0">
                  <c:v>21.67249897447666</c:v>
                </c:pt>
                <c:pt idx="1">
                  <c:v>16.745976066009142</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Pt>
            <c:idx val="2"/>
            <c:spPr>
              <a:solidFill>
                <a:srgbClr val="F4BF9A"/>
              </a:solidFill>
            </c:spPr>
          </c:dPt>
          <c:dPt>
            <c:idx val="3"/>
            <c:spPr>
              <a:solidFill>
                <a:srgbClr val="F7D8C0"/>
              </a:solidFill>
            </c:spPr>
          </c:dPt>
          <c:dPt>
            <c:idx val="4"/>
            <c:spPr>
              <a:solidFill>
                <a:srgbClr val="FBF1E9"/>
              </a:solidFill>
            </c:spPr>
          </c:dPt>
          <c:dLbls>
            <c:dLbl>
              <c:idx val="0"/>
              <c:tx>
                <c:rich>
                  <a:bodyPr/>
                  <a:lstStyle/>
                  <a:p>
                    <a:r>
                      <a:rPr lang="en-US" b="1" sz="900">
                        <a:solidFill>
                          <a:srgbClr val="2D3142"/>
                        </a:solidFill>
                      </a:rPr>
                      <a:t>14</a:t>
                    </a:r>
                  </a:p>
                </c:rich>
              </c:tx>
              <c:showLegendKey val="0"/>
              <c:showVal val="0"/>
              <c:showCatName val="0"/>
              <c:showSerName val="0"/>
              <c:showPercent val="0"/>
              <c:showBubbleSize val="0"/>
            </c:dLbl>
            <c:dLbl>
              <c:idx val="1"/>
              <c:tx>
                <c:rich>
                  <a:bodyPr/>
                  <a:lstStyle/>
                  <a:p>
                    <a:r>
                      <a:rPr lang="en-US" b="1" sz="900">
                        <a:solidFill>
                          <a:srgbClr val="2D3142"/>
                        </a:solidFill>
                      </a:rPr>
                      <a:t>17</a:t>
                    </a:r>
                  </a:p>
                </c:rich>
              </c:tx>
              <c:showLegendKey val="0"/>
              <c:showVal val="0"/>
              <c:showCatName val="0"/>
              <c:showSerName val="0"/>
              <c:showPercent val="0"/>
              <c:showBubbleSize val="0"/>
            </c:dLbl>
            <c:dLbl>
              <c:idx val="2"/>
              <c:tx>
                <c:rich>
                  <a:bodyPr/>
                  <a:lstStyle/>
                  <a:p>
                    <a:r>
                      <a:rPr lang="en-US" b="1" sz="900">
                        <a:solidFill>
                          <a:srgbClr val="2D3142"/>
                        </a:solidFill>
                      </a:rPr>
                      <a:t>31</a:t>
                    </a:r>
                  </a:p>
                </c:rich>
              </c:tx>
              <c:showLegendKey val="0"/>
              <c:showVal val="0"/>
              <c:showCatName val="0"/>
              <c:showSerName val="0"/>
              <c:showPercent val="0"/>
              <c:showBubbleSize val="0"/>
            </c:dLbl>
            <c:dLbl>
              <c:idx val="3"/>
              <c:tx>
                <c:rich>
                  <a:bodyPr/>
                  <a:lstStyle/>
                  <a:p>
                    <a:r>
                      <a:rPr lang="en-US" b="1" sz="900">
                        <a:solidFill>
                          <a:srgbClr val="2D3142"/>
                        </a:solidFill>
                      </a:rPr>
                      <a:t>1</a:t>
                    </a:r>
                  </a:p>
                </c:rich>
              </c:tx>
              <c:showLegendKey val="0"/>
              <c:showVal val="0"/>
              <c:showCatName val="0"/>
              <c:showSerName val="0"/>
              <c:showPercent val="0"/>
              <c:showBubbleSize val="0"/>
            </c:dLbl>
            <c:dLbl>
              <c:idx val="4"/>
              <c:tx>
                <c:rich>
                  <a:bodyPr/>
                  <a:lstStyle/>
                  <a:p>
                    <a:r>
                      <a:rPr lang="en-US" b="1" sz="900">
                        <a:solidFill>
                          <a:srgbClr val="2D3142"/>
                        </a:solidFill>
                      </a:rPr>
                      <a:t>36</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Sheet1!$A$2:$A$6</c:f>
              <c:strCache>
                <c:ptCount val="5"/>
                <c:pt idx="0">
                  <c:v>ISCED Level one</c:v>
                </c:pt>
                <c:pt idx="1">
                  <c:v>ISCED Level two</c:v>
                </c:pt>
                <c:pt idx="2">
                  <c:v>ISCED Level three</c:v>
                </c:pt>
                <c:pt idx="3">
                  <c:v>ISCED Level four</c:v>
                </c:pt>
                <c:pt idx="4">
                  <c:v>ISCED Level five or above</c:v>
                </c:pt>
              </c:strCache>
            </c:strRef>
          </c:cat>
          <c:val>
            <c:numRef>
              <c:f>Sheet1!$B$2:$B$6</c:f>
              <c:numCache>
                <c:formatCode>0</c:formatCode>
                <c:ptCount val="5"/>
                <c:pt idx="0">
                  <c:v>13.743931193720742</c:v>
                </c:pt>
                <c:pt idx="1">
                  <c:v>16.937369759268464</c:v>
                </c:pt>
                <c:pt idx="2">
                  <c:v>31.45847177867592</c:v>
                </c:pt>
                <c:pt idx="3">
                  <c:v>1.1918604638063082</c:v>
                </c:pt>
                <c:pt idx="4">
                  <c:v>35.640721855228584</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Very important</c:v>
                </c:pt>
              </c:strCache>
            </c:strRef>
          </c:tx>
          <c:spPr>
            <a:solidFill>
              <a:srgbClr val="F07B20"/>
            </a:solidFill>
          </c:spPr>
          <c:dLbls>
            <c:dLbl>
              <c:idx val="0"/>
              <c:tx>
                <c:rich>
                  <a:bodyPr/>
                  <a:lstStyle/>
                  <a:p>
                    <a:r>
                      <a:rPr lang="en-US" b="1" sz="800">
                        <a:solidFill>
                          <a:srgbClr val="FFFFFF"/>
                        </a:solidFill>
                      </a:rPr>
                      <a:t>29 </a:t>
                    </a:r>
                    <a:r>
                      <a:rPr lang="en-US" b="1" sz="900">
                        <a:solidFill>
                          <a:srgbClr val="FFFFFF"/>
                        </a:solidFill>
                      </a:rPr>
                      <a:t>BCDE</a:t>
                    </a:r>
                  </a:p>
                </c:rich>
              </c:tx>
              <c:showLegendKey val="0"/>
              <c:showVal val="0"/>
              <c:showCatName val="0"/>
              <c:showSerName val="0"/>
              <c:showPercent val="0"/>
              <c:showBubbleSize val="0"/>
            </c:dLbl>
            <c:dLbl>
              <c:idx val="1"/>
              <c:tx>
                <c:rich>
                  <a:bodyPr/>
                  <a:lstStyle/>
                  <a:p>
                    <a:r>
                      <a:rPr lang="en-US" b="1" sz="800">
                        <a:solidFill>
                          <a:srgbClr val="FFFFFF"/>
                        </a:solidFill>
                      </a:rPr>
                      <a:t>16 </a:t>
                    </a:r>
                    <a:r>
                      <a:rPr lang="en-US" b="1" sz="900">
                        <a:solidFill>
                          <a:srgbClr val="FFFFFF"/>
                        </a:solidFill>
                      </a:rPr>
                      <a:t>CDE</a:t>
                    </a:r>
                  </a:p>
                </c:rich>
              </c:tx>
              <c:showLegendKey val="0"/>
              <c:showVal val="0"/>
              <c:showCatName val="0"/>
              <c:showSerName val="0"/>
              <c:showPercent val="0"/>
              <c:showBubbleSize val="0"/>
            </c:dLbl>
            <c:dLbl>
              <c:idx val="2"/>
              <c:tx>
                <c:rich>
                  <a:bodyPr/>
                  <a:lstStyle/>
                  <a:p>
                    <a:r>
                      <a:rPr lang="en-US" b="1" sz="800">
                        <a:solidFill>
                          <a:srgbClr val="FFFFFF"/>
                        </a:solidFill>
                      </a:rPr>
                      <a:t>11</a:t>
                    </a:r>
                  </a:p>
                </c:rich>
              </c:tx>
              <c:showLegendKey val="0"/>
              <c:showVal val="0"/>
              <c:showCatName val="0"/>
              <c:showSerName val="0"/>
              <c:showPercent val="0"/>
              <c:showBubbleSize val="0"/>
            </c:dLbl>
            <c:dLbl>
              <c:idx val="3"/>
              <c:tx>
                <c:rich>
                  <a:bodyPr/>
                  <a:lstStyle/>
                  <a:p>
                    <a:r>
                      <a:rPr lang="en-US" b="1" sz="800">
                        <a:solidFill>
                          <a:srgbClr val="FFFFFF"/>
                        </a:solidFill>
                      </a:rPr>
                      <a:t>9</a:t>
                    </a:r>
                  </a:p>
                </c:rich>
              </c:tx>
              <c:showLegendKey val="0"/>
              <c:showVal val="0"/>
              <c:showCatName val="0"/>
              <c:showSerName val="0"/>
              <c:showPercent val="0"/>
              <c:showBubbleSize val="0"/>
            </c:dLbl>
            <c:dLbl>
              <c:idx val="4"/>
              <c:tx>
                <c:rich>
                  <a:bodyPr/>
                  <a:lstStyle/>
                  <a:p>
                    <a:r>
                      <a:rPr lang="en-US" b="1" sz="800">
                        <a:solidFill>
                          <a:srgbClr val="FFFFFF"/>
                        </a:solidFill>
                      </a:rPr>
                      <a:t>12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ISCED Level one (A)</c:v>
                </c:pt>
                <c:pt idx="1">
                  <c:v>ISCED Level two (B)</c:v>
                </c:pt>
                <c:pt idx="2">
                  <c:v>ISCED Level three (C)</c:v>
                </c:pt>
                <c:pt idx="3">
                  <c:v>ISCED Level four (D)</c:v>
                </c:pt>
                <c:pt idx="4">
                  <c:v>ISCED Level five or above (E)</c:v>
                </c:pt>
              </c:strCache>
            </c:strRef>
          </c:cat>
          <c:val>
            <c:numRef>
              <c:f>Sheet1!$B$2:$B$6</c:f>
              <c:numCache>
                <c:formatCode>0</c:formatCode>
                <c:ptCount val="5"/>
                <c:pt idx="0">
                  <c:v>29.46293051737234</c:v>
                </c:pt>
                <c:pt idx="1">
                  <c:v>15.966939998824786</c:v>
                </c:pt>
                <c:pt idx="2">
                  <c:v>10.942040686977455</c:v>
                </c:pt>
                <c:pt idx="3">
                  <c:v>9.126865193980771</c:v>
                </c:pt>
                <c:pt idx="4">
                  <c:v>11.550933988177125</c:v>
                </c:pt>
              </c:numCache>
            </c:numRef>
          </c:val>
        </c:ser>
        <c:ser>
          <c:idx val="1"/>
          <c:order val="1"/>
          <c:tx>
            <c:strRef>
              <c:f>Sheet1!$C$1</c:f>
              <c:strCache>
                <c:ptCount val="1"/>
                <c:pt idx="0">
                  <c:v>Somewhat important</c:v>
                </c:pt>
              </c:strCache>
            </c:strRef>
          </c:tx>
          <c:spPr>
            <a:solidFill>
              <a:srgbClr val="F0A060"/>
            </a:solidFill>
          </c:spPr>
          <c:dLbls>
            <c:dLbl>
              <c:idx val="0"/>
              <c:tx>
                <c:rich>
                  <a:bodyPr/>
                  <a:lstStyle/>
                  <a:p>
                    <a:r>
                      <a:rPr lang="en-US" b="1" sz="800">
                        <a:solidFill>
                          <a:srgbClr val="FFFFFF"/>
                        </a:solidFill>
                      </a:rPr>
                      <a:t>25</a:t>
                    </a:r>
                  </a:p>
                </c:rich>
              </c:tx>
              <c:showLegendKey val="0"/>
              <c:showVal val="0"/>
              <c:showCatName val="0"/>
              <c:showSerName val="0"/>
              <c:showPercent val="0"/>
              <c:showBubbleSize val="0"/>
            </c:dLbl>
            <c:dLbl>
              <c:idx val="1"/>
              <c:tx>
                <c:rich>
                  <a:bodyPr/>
                  <a:lstStyle/>
                  <a:p>
                    <a:r>
                      <a:rPr lang="en-US" b="1" sz="800">
                        <a:solidFill>
                          <a:srgbClr val="FFFFFF"/>
                        </a:solidFill>
                      </a:rPr>
                      <a:t>36 </a:t>
                    </a:r>
                    <a:r>
                      <a:rPr lang="en-US" b="1" sz="900">
                        <a:solidFill>
                          <a:srgbClr val="FFFFFF"/>
                        </a:solidFill>
                      </a:rPr>
                      <a:t>AEc</a:t>
                    </a:r>
                  </a:p>
                </c:rich>
              </c:tx>
              <c:showLegendKey val="0"/>
              <c:showVal val="0"/>
              <c:showCatName val="0"/>
              <c:showSerName val="0"/>
              <c:showPercent val="0"/>
              <c:showBubbleSize val="0"/>
            </c:dLbl>
            <c:dLbl>
              <c:idx val="2"/>
              <c:tx>
                <c:rich>
                  <a:bodyPr/>
                  <a:lstStyle/>
                  <a:p>
                    <a:r>
                      <a:rPr lang="en-US" b="1" sz="800">
                        <a:solidFill>
                          <a:srgbClr val="FFFFFF"/>
                        </a:solidFill>
                      </a:rPr>
                      <a:t>33 </a:t>
                    </a:r>
                    <a:r>
                      <a:rPr lang="en-US" b="1" sz="900">
                        <a:solidFill>
                          <a:srgbClr val="FFFFFF"/>
                        </a:solidFill>
                      </a:rPr>
                      <a:t>A</a:t>
                    </a:r>
                  </a:p>
                </c:rich>
              </c:tx>
              <c:showLegendKey val="0"/>
              <c:showVal val="0"/>
              <c:showCatName val="0"/>
              <c:showSerName val="0"/>
              <c:showPercent val="0"/>
              <c:showBubbleSize val="0"/>
            </c:dLbl>
            <c:dLbl>
              <c:idx val="3"/>
              <c:tx>
                <c:rich>
                  <a:bodyPr/>
                  <a:lstStyle/>
                  <a:p>
                    <a:r>
                      <a:rPr lang="en-US" b="1" sz="800">
                        <a:solidFill>
                          <a:srgbClr val="FFFFFF"/>
                        </a:solidFill>
                      </a:rPr>
                      <a:t>32 </a:t>
                    </a:r>
                    <a:r>
                      <a:rPr lang="en-US" b="1" sz="900">
                        <a:solidFill>
                          <a:srgbClr val="FFFFFF"/>
                        </a:solidFill>
                      </a:rPr>
                      <a:t>a</a:t>
                    </a:r>
                  </a:p>
                </c:rich>
              </c:tx>
              <c:showLegendKey val="0"/>
              <c:showVal val="0"/>
              <c:showCatName val="0"/>
              <c:showSerName val="0"/>
              <c:showPercent val="0"/>
              <c:showBubbleSize val="0"/>
            </c:dLbl>
            <c:dLbl>
              <c:idx val="4"/>
              <c:tx>
                <c:rich>
                  <a:bodyPr/>
                  <a:lstStyle/>
                  <a:p>
                    <a:r>
                      <a:rPr lang="en-US" b="1" sz="800">
                        <a:solidFill>
                          <a:srgbClr val="FFFFFF"/>
                        </a:solidFill>
                      </a:rPr>
                      <a:t>31 </a:t>
                    </a:r>
                    <a:r>
                      <a:rPr lang="en-US" b="1" sz="900">
                        <a:solidFill>
                          <a:srgbClr val="FFFFFF"/>
                        </a:solidFill>
                      </a:rPr>
                      <a:t>A</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ISCED Level one (A)</c:v>
                </c:pt>
                <c:pt idx="1">
                  <c:v>ISCED Level two (B)</c:v>
                </c:pt>
                <c:pt idx="2">
                  <c:v>ISCED Level three (C)</c:v>
                </c:pt>
                <c:pt idx="3">
                  <c:v>ISCED Level four (D)</c:v>
                </c:pt>
                <c:pt idx="4">
                  <c:v>ISCED Level five or above (E)</c:v>
                </c:pt>
              </c:strCache>
            </c:strRef>
          </c:cat>
          <c:val>
            <c:numRef>
              <c:f>Sheet1!$C$2:$C$6</c:f>
              <c:numCache>
                <c:formatCode>0</c:formatCode>
                <c:ptCount val="5"/>
                <c:pt idx="0">
                  <c:v>25.18926451169446</c:v>
                </c:pt>
                <c:pt idx="1">
                  <c:v>36.33010975678214</c:v>
                </c:pt>
                <c:pt idx="2">
                  <c:v>33.026573951216456</c:v>
                </c:pt>
                <c:pt idx="3">
                  <c:v>31.62792807953499</c:v>
                </c:pt>
                <c:pt idx="4">
                  <c:v>31.108501199777322</c:v>
                </c:pt>
              </c:numCache>
            </c:numRef>
          </c:val>
        </c:ser>
        <c:ser>
          <c:idx val="2"/>
          <c:order val="2"/>
          <c:tx>
            <c:strRef>
              <c:f>Sheet1!$D$1</c:f>
              <c:strCache>
                <c:ptCount val="1"/>
                <c:pt idx="0">
                  <c:v>Not very important</c:v>
                </c:pt>
              </c:strCache>
            </c:strRef>
          </c:tx>
          <c:spPr>
            <a:solidFill>
              <a:srgbClr val="F4BF9A"/>
            </a:solidFill>
          </c:spPr>
          <c:dLbls>
            <c:dLbl>
              <c:idx val="0"/>
              <c:tx>
                <c:rich>
                  <a:bodyPr/>
                  <a:lstStyle/>
                  <a:p>
                    <a:r>
                      <a:rPr lang="en-US" b="1" sz="800">
                        <a:solidFill>
                          <a:srgbClr val="2D3142"/>
                        </a:solidFill>
                      </a:rPr>
                      <a:t>29</a:t>
                    </a:r>
                  </a:p>
                </c:rich>
              </c:tx>
              <c:showLegendKey val="0"/>
              <c:showVal val="0"/>
              <c:showCatName val="0"/>
              <c:showSerName val="0"/>
              <c:showPercent val="0"/>
              <c:showBubbleSize val="0"/>
            </c:dLbl>
            <c:dLbl>
              <c:idx val="1"/>
              <c:tx>
                <c:rich>
                  <a:bodyPr/>
                  <a:lstStyle/>
                  <a:p>
                    <a:r>
                      <a:rPr lang="en-US" b="1" sz="800">
                        <a:solidFill>
                          <a:srgbClr val="2D3142"/>
                        </a:solidFill>
                      </a:rPr>
                      <a:t>32</a:t>
                    </a:r>
                  </a:p>
                </c:rich>
              </c:tx>
              <c:showLegendKey val="0"/>
              <c:showVal val="0"/>
              <c:showCatName val="0"/>
              <c:showSerName val="0"/>
              <c:showPercent val="0"/>
              <c:showBubbleSize val="0"/>
            </c:dLbl>
            <c:dLbl>
              <c:idx val="2"/>
              <c:tx>
                <c:rich>
                  <a:bodyPr/>
                  <a:lstStyle/>
                  <a:p>
                    <a:r>
                      <a:rPr lang="en-US" b="1" sz="800">
                        <a:solidFill>
                          <a:srgbClr val="2D3142"/>
                        </a:solidFill>
                      </a:rPr>
                      <a:t>33 </a:t>
                    </a:r>
                    <a:r>
                      <a:rPr lang="en-US" b="1" sz="900">
                        <a:solidFill>
                          <a:srgbClr val="2D3142"/>
                        </a:solidFill>
                      </a:rPr>
                      <a:t>A</a:t>
                    </a:r>
                  </a:p>
                </c:rich>
              </c:tx>
              <c:showLegendKey val="0"/>
              <c:showVal val="0"/>
              <c:showCatName val="0"/>
              <c:showSerName val="0"/>
              <c:showPercent val="0"/>
              <c:showBubbleSize val="0"/>
            </c:dLbl>
            <c:dLbl>
              <c:idx val="3"/>
              <c:tx>
                <c:rich>
                  <a:bodyPr/>
                  <a:lstStyle/>
                  <a:p>
                    <a:r>
                      <a:rPr lang="en-US" b="1" sz="800">
                        <a:solidFill>
                          <a:srgbClr val="2D3142"/>
                        </a:solidFill>
                      </a:rPr>
                      <a:t>36 </a:t>
                    </a:r>
                    <a:r>
                      <a:rPr lang="en-US" b="1" sz="900">
                        <a:solidFill>
                          <a:srgbClr val="2D3142"/>
                        </a:solidFill>
                      </a:rPr>
                      <a:t>A</a:t>
                    </a:r>
                  </a:p>
                </c:rich>
              </c:tx>
              <c:showLegendKey val="0"/>
              <c:showVal val="0"/>
              <c:showCatName val="0"/>
              <c:showSerName val="0"/>
              <c:showPercent val="0"/>
              <c:showBubbleSize val="0"/>
            </c:dLbl>
            <c:dLbl>
              <c:idx val="4"/>
              <c:tx>
                <c:rich>
                  <a:bodyPr/>
                  <a:lstStyle/>
                  <a:p>
                    <a:r>
                      <a:rPr lang="en-US" b="1" sz="800">
                        <a:solidFill>
                          <a:srgbClr val="2D3142"/>
                        </a:solidFill>
                      </a:rPr>
                      <a:t>37 </a:t>
                    </a:r>
                    <a:r>
                      <a:rPr lang="en-US" b="1" sz="900">
                        <a:solidFill>
                          <a:srgbClr val="2D3142"/>
                        </a:solidFill>
                      </a:rPr>
                      <a:t>ABC</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ISCED Level one (A)</c:v>
                </c:pt>
                <c:pt idx="1">
                  <c:v>ISCED Level two (B)</c:v>
                </c:pt>
                <c:pt idx="2">
                  <c:v>ISCED Level three (C)</c:v>
                </c:pt>
                <c:pt idx="3">
                  <c:v>ISCED Level four (D)</c:v>
                </c:pt>
                <c:pt idx="4">
                  <c:v>ISCED Level five or above (E)</c:v>
                </c:pt>
              </c:strCache>
            </c:strRef>
          </c:cat>
          <c:val>
            <c:numRef>
              <c:f>Sheet1!$D$2:$D$6</c:f>
              <c:numCache>
                <c:formatCode>0</c:formatCode>
                <c:ptCount val="5"/>
                <c:pt idx="0">
                  <c:v>28.600082581720777</c:v>
                </c:pt>
                <c:pt idx="1">
                  <c:v>32.10287457231878</c:v>
                </c:pt>
                <c:pt idx="2">
                  <c:v>33.39236739582464</c:v>
                </c:pt>
                <c:pt idx="3">
                  <c:v>35.879993039877924</c:v>
                </c:pt>
                <c:pt idx="4">
                  <c:v>37.39278944933286</c:v>
                </c:pt>
              </c:numCache>
            </c:numRef>
          </c:val>
        </c:ser>
        <c:ser>
          <c:idx val="3"/>
          <c:order val="3"/>
          <c:tx>
            <c:strRef>
              <c:f>Sheet1!$E$1</c:f>
              <c:strCache>
                <c:ptCount val="1"/>
                <c:pt idx="0">
                  <c:v>Not at all important</c:v>
                </c:pt>
              </c:strCache>
            </c:strRef>
          </c:tx>
          <c:spPr>
            <a:solidFill>
              <a:srgbClr val="F7D8C0"/>
            </a:solidFill>
          </c:spPr>
          <c:dLbls>
            <c:dLbl>
              <c:idx val="0"/>
              <c:tx>
                <c:rich>
                  <a:bodyPr/>
                  <a:lstStyle/>
                  <a:p>
                    <a:r>
                      <a:rPr lang="en-US" b="1" sz="800">
                        <a:solidFill>
                          <a:srgbClr val="2D3142"/>
                        </a:solidFill>
                      </a:rPr>
                      <a:t>15</a:t>
                    </a:r>
                  </a:p>
                </c:rich>
              </c:tx>
              <c:showLegendKey val="0"/>
              <c:showVal val="0"/>
              <c:showCatName val="0"/>
              <c:showSerName val="0"/>
              <c:showPercent val="0"/>
              <c:showBubbleSize val="0"/>
            </c:dLbl>
            <c:dLbl>
              <c:idx val="1"/>
              <c:tx>
                <c:rich>
                  <a:bodyPr/>
                  <a:lstStyle/>
                  <a:p>
                    <a:r>
                      <a:rPr lang="en-US" b="1" sz="800">
                        <a:solidFill>
                          <a:srgbClr val="2D3142"/>
                        </a:solidFill>
                      </a:rPr>
                      <a:t>15</a:t>
                    </a:r>
                  </a:p>
                </c:rich>
              </c:tx>
              <c:showLegendKey val="0"/>
              <c:showVal val="0"/>
              <c:showCatName val="0"/>
              <c:showSerName val="0"/>
              <c:showPercent val="0"/>
              <c:showBubbleSize val="0"/>
            </c:dLbl>
            <c:dLbl>
              <c:idx val="2"/>
              <c:tx>
                <c:rich>
                  <a:bodyPr/>
                  <a:lstStyle/>
                  <a:p>
                    <a:r>
                      <a:rPr lang="en-US" b="1" sz="800">
                        <a:solidFill>
                          <a:srgbClr val="2D3142"/>
                        </a:solidFill>
                      </a:rPr>
                      <a:t>22 </a:t>
                    </a:r>
                    <a:r>
                      <a:rPr lang="en-US" b="1" sz="900">
                        <a:solidFill>
                          <a:srgbClr val="2D3142"/>
                        </a:solidFill>
                      </a:rPr>
                      <a:t>ABE</a:t>
                    </a:r>
                  </a:p>
                </c:rich>
              </c:tx>
              <c:showLegendKey val="0"/>
              <c:showVal val="0"/>
              <c:showCatName val="0"/>
              <c:showSerName val="0"/>
              <c:showPercent val="0"/>
              <c:showBubbleSize val="0"/>
            </c:dLbl>
            <c:dLbl>
              <c:idx val="3"/>
              <c:tx>
                <c:rich>
                  <a:bodyPr/>
                  <a:lstStyle/>
                  <a:p>
                    <a:r>
                      <a:rPr lang="en-US" b="1" sz="800">
                        <a:solidFill>
                          <a:srgbClr val="2D3142"/>
                        </a:solidFill>
                      </a:rPr>
                      <a:t>23 </a:t>
                    </a:r>
                    <a:r>
                      <a:rPr lang="en-US" b="1" sz="900">
                        <a:solidFill>
                          <a:srgbClr val="2D3142"/>
                        </a:solidFill>
                      </a:rPr>
                      <a:t>AB</a:t>
                    </a:r>
                  </a:p>
                </c:rich>
              </c:tx>
              <c:showLegendKey val="0"/>
              <c:showVal val="0"/>
              <c:showCatName val="0"/>
              <c:showSerName val="0"/>
              <c:showPercent val="0"/>
              <c:showBubbleSize val="0"/>
            </c:dLbl>
            <c:dLbl>
              <c:idx val="4"/>
              <c:tx>
                <c:rich>
                  <a:bodyPr/>
                  <a:lstStyle/>
                  <a:p>
                    <a:r>
                      <a:rPr lang="en-US" b="1" sz="800">
                        <a:solidFill>
                          <a:srgbClr val="2D3142"/>
                        </a:solidFill>
                      </a:rPr>
                      <a:t>20 </a:t>
                    </a:r>
                    <a:r>
                      <a:rPr lang="en-US" b="1" sz="900">
                        <a:solidFill>
                          <a:srgbClr val="2D3142"/>
                        </a:solidFill>
                      </a:rPr>
                      <a:t>AB</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Sheet1!$A$2:$A$6</c:f>
              <c:strCache>
                <c:ptCount val="5"/>
                <c:pt idx="0">
                  <c:v>ISCED Level one (A)</c:v>
                </c:pt>
                <c:pt idx="1">
                  <c:v>ISCED Level two (B)</c:v>
                </c:pt>
                <c:pt idx="2">
                  <c:v>ISCED Level three (C)</c:v>
                </c:pt>
                <c:pt idx="3">
                  <c:v>ISCED Level four (D)</c:v>
                </c:pt>
                <c:pt idx="4">
                  <c:v>ISCED Level five or above (E)</c:v>
                </c:pt>
              </c:strCache>
            </c:strRef>
          </c:cat>
          <c:val>
            <c:numRef>
              <c:f>Sheet1!$E$2:$E$6</c:f>
              <c:numCache>
                <c:formatCode>0</c:formatCode>
                <c:ptCount val="5"/>
                <c:pt idx="0">
                  <c:v>14.848237281926163</c:v>
                </c:pt>
                <c:pt idx="1">
                  <c:v>14.778036823971</c:v>
                </c:pt>
                <c:pt idx="2">
                  <c:v>22.070196489962836</c:v>
                </c:pt>
                <c:pt idx="3">
                  <c:v>23.365213686606314</c:v>
                </c:pt>
                <c:pt idx="4">
                  <c:v>19.790842331353545</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F07B20"/>
              </a:solidFill>
            </c:spPr>
          </c:dPt>
          <c:dPt>
            <c:idx val="1"/>
            <c:spPr>
              <a:solidFill>
                <a:srgbClr val="F0A060"/>
              </a:solidFill>
            </c:spPr>
          </c:dPt>
          <c:dPt>
            <c:idx val="2"/>
            <c:spPr>
              <a:solidFill>
                <a:srgbClr val="F4BF9A"/>
              </a:solidFill>
            </c:spPr>
          </c:dPt>
          <c:dPt>
            <c:idx val="3"/>
            <c:spPr>
              <a:solidFill>
                <a:srgbClr val="F7D8C0"/>
              </a:solidFill>
            </c:spPr>
          </c:dPt>
          <c:dPt>
            <c:idx val="4"/>
            <c:spPr>
              <a:solidFill>
                <a:srgbClr val="FBF1E9"/>
              </a:solidFill>
            </c:spPr>
          </c:dPt>
          <c:dPt>
            <c:idx val="5"/>
            <c:spPr>
              <a:solidFill>
                <a:srgbClr val="A99C85"/>
              </a:solidFill>
            </c:spPr>
          </c:dPt>
          <c:dLbls>
            <c:dLbl>
              <c:idx val="0"/>
              <c:tx>
                <c:rich>
                  <a:bodyPr/>
                  <a:lstStyle/>
                  <a:p>
                    <a:r>
                      <a:rPr lang="en-US" b="1" sz="900">
                        <a:solidFill>
                          <a:srgbClr val="2D3142"/>
                        </a:solidFill>
                      </a:rPr>
                      <a:t>57</a:t>
                    </a:r>
                  </a:p>
                </c:rich>
              </c:tx>
              <c:showLegendKey val="0"/>
              <c:showVal val="0"/>
              <c:showCatName val="0"/>
              <c:showSerName val="0"/>
              <c:showPercent val="0"/>
              <c:showBubbleSize val="0"/>
            </c:dLbl>
            <c:dLbl>
              <c:idx val="1"/>
              <c:tx>
                <c:rich>
                  <a:bodyPr/>
                  <a:lstStyle/>
                  <a:p>
                    <a:r>
                      <a:rPr lang="en-US" b="1" sz="900">
                        <a:solidFill>
                          <a:srgbClr val="2D3142"/>
                        </a:solidFill>
                      </a:rPr>
                      <a:t>6</a:t>
                    </a:r>
                  </a:p>
                </c:rich>
              </c:tx>
              <c:showLegendKey val="0"/>
              <c:showVal val="0"/>
              <c:showCatName val="0"/>
              <c:showSerName val="0"/>
              <c:showPercent val="0"/>
              <c:showBubbleSize val="0"/>
            </c:dLbl>
            <c:dLbl>
              <c:idx val="2"/>
              <c:tx>
                <c:rich>
                  <a:bodyPr/>
                  <a:lstStyle/>
                  <a:p>
                    <a:r>
                      <a:rPr lang="en-US" b="1" sz="900">
                        <a:solidFill>
                          <a:srgbClr val="2D3142"/>
                        </a:solidFill>
                      </a:rPr>
                      <a:t>1</a:t>
                    </a:r>
                  </a:p>
                </c:rich>
              </c:tx>
              <c:showLegendKey val="0"/>
              <c:showVal val="0"/>
              <c:showCatName val="0"/>
              <c:showSerName val="0"/>
              <c:showPercent val="0"/>
              <c:showBubbleSize val="0"/>
            </c:dLbl>
            <c:dLbl>
              <c:idx val="3"/>
              <c:tx>
                <c:rich>
                  <a:bodyPr/>
                  <a:lstStyle/>
                  <a:p>
                    <a:r>
                      <a:rPr lang="en-US" b="1" sz="900">
                        <a:solidFill>
                          <a:srgbClr val="2D3142"/>
                        </a:solidFill>
                      </a:rPr>
                      <a:t>28</a:t>
                    </a:r>
                  </a:p>
                </c:rich>
              </c:tx>
              <c:showLegendKey val="0"/>
              <c:showVal val="0"/>
              <c:showCatName val="0"/>
              <c:showSerName val="0"/>
              <c:showPercent val="0"/>
              <c:showBubbleSize val="0"/>
            </c:dLbl>
            <c:dLbl>
              <c:idx val="4"/>
              <c:tx>
                <c:rich>
                  <a:bodyPr/>
                  <a:lstStyle/>
                  <a:p>
                    <a:r>
                      <a:rPr lang="en-US" b="1" sz="900">
                        <a:solidFill>
                          <a:srgbClr val="2D3142"/>
                        </a:solidFill>
                      </a:rPr>
                      <a:t>7</a:t>
                    </a:r>
                  </a:p>
                </c:rich>
              </c:tx>
              <c:showLegendKey val="0"/>
              <c:showVal val="0"/>
              <c:showCatName val="0"/>
              <c:showSerName val="0"/>
              <c:showPercent val="0"/>
              <c:showBubbleSize val="0"/>
            </c:dLbl>
            <c:dLbl>
              <c:idx val="5"/>
              <c:tx>
                <c:rich>
                  <a:bodyPr/>
                  <a:lstStyle/>
                  <a:p>
                    <a:r>
                      <a:rPr lang="en-US" b="1" sz="900">
                        <a:solidFill>
                          <a:srgbClr val="2D3142"/>
                        </a:solidFill>
                      </a:rPr>
                      <a:t>0</a:t>
                    </a:r>
                  </a:p>
                </c:rich>
              </c:tx>
              <c:showLegendKey val="0"/>
              <c:showVal val="0"/>
              <c:showCatName val="0"/>
              <c:showSerName val="0"/>
              <c:showPercent val="0"/>
              <c:showBubbleSize val="0"/>
            </c:dLbl>
            <c:numFmt formatCode="0" sourceLinked="0"/>
            <c:showLegendKey val="0"/>
            <c:showVal val="0"/>
            <c:showCatName val="0"/>
            <c:showSerName val="0"/>
            <c:showPercent val="0"/>
            <c:showBubbleSize val="0"/>
            <c:showLeaderLines val="1"/>
          </c:dLbls>
          <c:cat>
            <c:strRef>
              <c:f>Sheet1!$A$2:$A$7</c:f>
              <c:strCache>
                <c:ptCount val="6"/>
                <c:pt idx="0">
                  <c:v>Married</c:v>
                </c:pt>
                <c:pt idx="1">
                  <c:v>Divorced</c:v>
                </c:pt>
                <c:pt idx="2">
                  <c:v>Separated</c:v>
                </c:pt>
                <c:pt idx="3">
                  <c:v>Unmarried/Single</c:v>
                </c:pt>
                <c:pt idx="4">
                  <c:v>Widow/Widower</c:v>
                </c:pt>
                <c:pt idx="5">
                  <c:v>Living with a partner</c:v>
                </c:pt>
              </c:strCache>
            </c:strRef>
          </c:cat>
          <c:val>
            <c:numRef>
              <c:f>Sheet1!$B$2:$B$7</c:f>
              <c:numCache>
                <c:formatCode>0</c:formatCode>
                <c:ptCount val="6"/>
                <c:pt idx="0">
                  <c:v>57.36792218180757</c:v>
                </c:pt>
                <c:pt idx="1">
                  <c:v>6.093791400588026</c:v>
                </c:pt>
                <c:pt idx="2">
                  <c:v>0.9408387320070497</c:v>
                </c:pt>
                <c:pt idx="3">
                  <c:v>27.95321789869845</c:v>
                </c:pt>
                <c:pt idx="4">
                  <c:v>6.5152637931744435</c:v>
                </c:pt>
                <c:pt idx="5">
                  <c:v>0.17650631986664056</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percentStacked"/>
        <c:ser>
          <c:idx val="0"/>
          <c:order val="0"/>
          <c:tx>
            <c:strRef>
              <c:f>Sheet1!$B$1</c:f>
              <c:strCache>
                <c:ptCount val="1"/>
                <c:pt idx="0">
                  <c:v>Very important</c:v>
                </c:pt>
              </c:strCache>
            </c:strRef>
          </c:tx>
          <c:spPr>
            <a:solidFill>
              <a:srgbClr val="F07B20"/>
            </a:solidFill>
          </c:spPr>
          <c:dLbls>
            <c:dLbl>
              <c:idx val="0"/>
              <c:tx>
                <c:rich>
                  <a:bodyPr/>
                  <a:lstStyle/>
                  <a:p>
                    <a:r>
                      <a:rPr lang="en-US" b="1" sz="800">
                        <a:solidFill>
                          <a:srgbClr val="FFFFFF"/>
                        </a:solidFill>
                      </a:rPr>
                      <a:t>16 </a:t>
                    </a:r>
                    <a:r>
                      <a:rPr lang="en-US" b="1" sz="900">
                        <a:solidFill>
                          <a:srgbClr val="FFFFFF"/>
                        </a:solidFill>
                      </a:rPr>
                      <a:t>D</a:t>
                    </a:r>
                  </a:p>
                </c:rich>
              </c:tx>
              <c:showLegendKey val="0"/>
              <c:showVal val="0"/>
              <c:showCatName val="0"/>
              <c:showSerName val="0"/>
              <c:showPercent val="0"/>
              <c:showBubbleSize val="0"/>
            </c:dLbl>
            <c:dLbl>
              <c:idx val="1"/>
              <c:tx>
                <c:rich>
                  <a:bodyPr/>
                  <a:lstStyle/>
                  <a:p>
                    <a:r>
                      <a:rPr lang="en-US" b="1" sz="800">
                        <a:solidFill>
                          <a:srgbClr val="FFFFFF"/>
                        </a:solidFill>
                      </a:rPr>
                      <a:t>14 </a:t>
                    </a:r>
                    <a:r>
                      <a:rPr lang="en-US" b="1" sz="900">
                        <a:solidFill>
                          <a:srgbClr val="FFFFFF"/>
                        </a:solidFill>
                      </a:rPr>
                      <a:t>D</a:t>
                    </a:r>
                  </a:p>
                </c:rich>
              </c:tx>
              <c:showLegendKey val="0"/>
              <c:showVal val="0"/>
              <c:showCatName val="0"/>
              <c:showSerName val="0"/>
              <c:showPercent val="0"/>
              <c:showBubbleSize val="0"/>
            </c:dLbl>
            <c:dLbl>
              <c:idx val="2"/>
              <c:tx>
                <c:rich>
                  <a:bodyPr/>
                  <a:lstStyle/>
                  <a:p>
                    <a:r>
                      <a:rPr lang="en-US" b="1" sz="800">
                        <a:solidFill>
                          <a:srgbClr val="FFFFFF"/>
                        </a:solidFill>
                      </a:rPr>
                      <a:t>20 </a:t>
                    </a:r>
                    <a:r>
                      <a:rPr lang="en-US" b="1" sz="900">
                        <a:solidFill>
                          <a:srgbClr val="FFFFFF"/>
                        </a:solidFill>
                      </a:rPr>
                      <a:t>D</a:t>
                    </a:r>
                  </a:p>
                </c:rich>
              </c:tx>
              <c:showLegendKey val="0"/>
              <c:showVal val="0"/>
              <c:showCatName val="0"/>
              <c:showSerName val="0"/>
              <c:showPercent val="0"/>
              <c:showBubbleSize val="0"/>
            </c:dLbl>
            <c:dLbl>
              <c:idx val="3"/>
              <c:tx>
                <c:rich>
                  <a:bodyPr/>
                  <a:lstStyle/>
                  <a:p>
                    <a:r>
                      <a:rPr lang="en-US" b="1" sz="800">
                        <a:solidFill>
                          <a:srgbClr val="FFFFFF"/>
                        </a:solidFill>
                      </a:rPr>
                      <a:t>9</a:t>
                    </a:r>
                  </a:p>
                </c:rich>
              </c:tx>
              <c:showLegendKey val="0"/>
              <c:showVal val="0"/>
              <c:showCatName val="0"/>
              <c:showSerName val="0"/>
              <c:showPercent val="0"/>
              <c:showBubbleSize val="0"/>
            </c:dLbl>
            <c:dLbl>
              <c:idx val="4"/>
              <c:tx>
                <c:rich>
                  <a:bodyPr/>
                  <a:lstStyle/>
                  <a:p>
                    <a:r>
                      <a:rPr lang="en-US" b="1" sz="800">
                        <a:solidFill>
                          <a:srgbClr val="FFFFFF"/>
                        </a:solidFill>
                      </a:rPr>
                      <a:t>24 </a:t>
                    </a:r>
                    <a:r>
                      <a:rPr lang="en-US" b="1" sz="900">
                        <a:solidFill>
                          <a:srgbClr val="FFFFFF"/>
                        </a:solidFill>
                      </a:rPr>
                      <a:t>ABD</a:t>
                    </a:r>
                  </a:p>
                </c:rich>
              </c:tx>
              <c:showLegendKey val="0"/>
              <c:showVal val="0"/>
              <c:showCatName val="0"/>
              <c:showSerName val="0"/>
              <c:showPercent val="0"/>
              <c:showBubbleSize val="0"/>
            </c:dLbl>
            <c:dLbl>
              <c:idx val="5"/>
              <c:tx>
                <c:rich>
                  <a:bodyPr/>
                  <a:lstStyle/>
                  <a:p>
                    <a:r>
                      <a:rPr lang="en-US" b="1" sz="800">
                        <a:solidFill>
                          <a:srgbClr val="FFFFFF"/>
                        </a:solidFill>
                      </a:rPr>
                      <a:t>47 </a:t>
                    </a:r>
                    <a:r>
                      <a:rPr lang="en-US" b="1" sz="900">
                        <a:solidFill>
                          <a:srgbClr val="FFFFFF"/>
                        </a:solidFill>
                      </a:rPr>
                      <a:t>ABD</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Married (A)</c:v>
                </c:pt>
                <c:pt idx="1">
                  <c:v>Divorced (B)</c:v>
                </c:pt>
                <c:pt idx="2">
                  <c:v>Separated (C)</c:v>
                </c:pt>
                <c:pt idx="3">
                  <c:v>Unmarried/Single (D)</c:v>
                </c:pt>
                <c:pt idx="4">
                  <c:v>Widow/Widower (E)</c:v>
                </c:pt>
                <c:pt idx="5">
                  <c:v>Living with a partner (F)</c:v>
                </c:pt>
              </c:strCache>
            </c:strRef>
          </c:cat>
          <c:val>
            <c:numRef>
              <c:f>Sheet1!$B$2:$B$7</c:f>
              <c:numCache>
                <c:formatCode>0</c:formatCode>
                <c:ptCount val="6"/>
                <c:pt idx="0">
                  <c:v>16.06990883060189</c:v>
                </c:pt>
                <c:pt idx="1">
                  <c:v>14.221880452997645</c:v>
                </c:pt>
                <c:pt idx="2">
                  <c:v>19.608145357137225</c:v>
                </c:pt>
                <c:pt idx="3">
                  <c:v>8.751427928577934</c:v>
                </c:pt>
                <c:pt idx="4">
                  <c:v>24.428623990301364</c:v>
                </c:pt>
                <c:pt idx="5">
                  <c:v>46.547240355939536</c:v>
                </c:pt>
              </c:numCache>
            </c:numRef>
          </c:val>
        </c:ser>
        <c:ser>
          <c:idx val="1"/>
          <c:order val="1"/>
          <c:tx>
            <c:strRef>
              <c:f>Sheet1!$C$1</c:f>
              <c:strCache>
                <c:ptCount val="1"/>
                <c:pt idx="0">
                  <c:v>Somewhat important</c:v>
                </c:pt>
              </c:strCache>
            </c:strRef>
          </c:tx>
          <c:spPr>
            <a:solidFill>
              <a:srgbClr val="F0A060"/>
            </a:solidFill>
          </c:spPr>
          <c:dLbls>
            <c:dLbl>
              <c:idx val="0"/>
              <c:tx>
                <c:rich>
                  <a:bodyPr/>
                  <a:lstStyle/>
                  <a:p>
                    <a:r>
                      <a:rPr lang="en-US" b="1" sz="800">
                        <a:solidFill>
                          <a:srgbClr val="FFFFFF"/>
                        </a:solidFill>
                      </a:rPr>
                      <a:t>33 </a:t>
                    </a:r>
                    <a:r>
                      <a:rPr lang="en-US" b="1" sz="900">
                        <a:solidFill>
                          <a:srgbClr val="FFFFFF"/>
                        </a:solidFill>
                      </a:rPr>
                      <a:t>Df</a:t>
                    </a:r>
                  </a:p>
                </c:rich>
              </c:tx>
              <c:showLegendKey val="0"/>
              <c:showVal val="0"/>
              <c:showCatName val="0"/>
              <c:showSerName val="0"/>
              <c:showPercent val="0"/>
              <c:showBubbleSize val="0"/>
            </c:dLbl>
            <c:dLbl>
              <c:idx val="1"/>
              <c:tx>
                <c:rich>
                  <a:bodyPr/>
                  <a:lstStyle/>
                  <a:p>
                    <a:r>
                      <a:rPr lang="en-US" b="1" sz="800">
                        <a:solidFill>
                          <a:srgbClr val="FFFFFF"/>
                        </a:solidFill>
                      </a:rPr>
                      <a:t>33 </a:t>
                    </a:r>
                    <a:r>
                      <a:rPr lang="en-US" b="1" sz="900">
                        <a:solidFill>
                          <a:srgbClr val="FFFFFF"/>
                        </a:solidFill>
                      </a:rPr>
                      <a:t>df</a:t>
                    </a:r>
                  </a:p>
                </c:rich>
              </c:tx>
              <c:showLegendKey val="0"/>
              <c:showVal val="0"/>
              <c:showCatName val="0"/>
              <c:showSerName val="0"/>
              <c:showPercent val="0"/>
              <c:showBubbleSize val="0"/>
            </c:dLbl>
            <c:dLbl>
              <c:idx val="2"/>
              <c:tx>
                <c:rich>
                  <a:bodyPr/>
                  <a:lstStyle/>
                  <a:p>
                    <a:r>
                      <a:rPr lang="en-US" b="1" sz="800">
                        <a:solidFill>
                          <a:srgbClr val="FFFFFF"/>
                        </a:solidFill>
                      </a:rPr>
                      <a:t>32</a:t>
                    </a:r>
                  </a:p>
                </c:rich>
              </c:tx>
              <c:showLegendKey val="0"/>
              <c:showVal val="0"/>
              <c:showCatName val="0"/>
              <c:showSerName val="0"/>
              <c:showPercent val="0"/>
              <c:showBubbleSize val="0"/>
            </c:dLbl>
            <c:dLbl>
              <c:idx val="3"/>
              <c:tx>
                <c:rich>
                  <a:bodyPr/>
                  <a:lstStyle/>
                  <a:p>
                    <a:r>
                      <a:rPr lang="en-US" b="1" sz="800">
                        <a:solidFill>
                          <a:srgbClr val="FFFFFF"/>
                        </a:solidFill>
                      </a:rPr>
                      <a:t>28</a:t>
                    </a:r>
                  </a:p>
                </c:rich>
              </c:tx>
              <c:showLegendKey val="0"/>
              <c:showVal val="0"/>
              <c:showCatName val="0"/>
              <c:showSerName val="0"/>
              <c:showPercent val="0"/>
              <c:showBubbleSize val="0"/>
            </c:dLbl>
            <c:dLbl>
              <c:idx val="4"/>
              <c:tx>
                <c:rich>
                  <a:bodyPr/>
                  <a:lstStyle/>
                  <a:p>
                    <a:r>
                      <a:rPr lang="en-US" b="1" sz="800">
                        <a:solidFill>
                          <a:srgbClr val="FFFFFF"/>
                        </a:solidFill>
                      </a:rPr>
                      <a:t>40 </a:t>
                    </a:r>
                    <a:r>
                      <a:rPr lang="en-US" b="1" sz="900">
                        <a:solidFill>
                          <a:srgbClr val="FFFFFF"/>
                        </a:solidFill>
                      </a:rPr>
                      <a:t>ABDF</a:t>
                    </a:r>
                  </a:p>
                </c:rich>
              </c:tx>
              <c:showLegendKey val="0"/>
              <c:showVal val="0"/>
              <c:showCatName val="0"/>
              <c:showSerName val="0"/>
              <c:showPercent val="0"/>
              <c:showBubbleSize val="0"/>
            </c:dLbl>
            <c:dLbl>
              <c:idx val="5"/>
              <c:tx>
                <c:rich>
                  <a:bodyPr/>
                  <a:lstStyle/>
                  <a:p>
                    <a:r>
                      <a:rPr lang="en-US" b="1" sz="800">
                        <a:solidFill>
                          <a:srgbClr val="FFFFFF"/>
                        </a:solidFill>
                      </a:rPr>
                      <a:t>2</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Married (A)</c:v>
                </c:pt>
                <c:pt idx="1">
                  <c:v>Divorced (B)</c:v>
                </c:pt>
                <c:pt idx="2">
                  <c:v>Separated (C)</c:v>
                </c:pt>
                <c:pt idx="3">
                  <c:v>Unmarried/Single (D)</c:v>
                </c:pt>
                <c:pt idx="4">
                  <c:v>Widow/Widower (E)</c:v>
                </c:pt>
                <c:pt idx="5">
                  <c:v>Living with a partner (F)</c:v>
                </c:pt>
              </c:strCache>
            </c:strRef>
          </c:cat>
          <c:val>
            <c:numRef>
              <c:f>Sheet1!$C$2:$C$7</c:f>
              <c:numCache>
                <c:formatCode>0</c:formatCode>
                <c:ptCount val="6"/>
                <c:pt idx="0">
                  <c:v>32.887941045058646</c:v>
                </c:pt>
                <c:pt idx="1">
                  <c:v>32.730527993330746</c:v>
                </c:pt>
                <c:pt idx="2">
                  <c:v>31.76813281270939</c:v>
                </c:pt>
                <c:pt idx="3">
                  <c:v>27.69686817860052</c:v>
                </c:pt>
                <c:pt idx="4">
                  <c:v>40.22137303447725</c:v>
                </c:pt>
                <c:pt idx="5">
                  <c:v>2.4091537462958423</c:v>
                </c:pt>
              </c:numCache>
            </c:numRef>
          </c:val>
        </c:ser>
        <c:ser>
          <c:idx val="2"/>
          <c:order val="2"/>
          <c:tx>
            <c:strRef>
              <c:f>Sheet1!$D$1</c:f>
              <c:strCache>
                <c:ptCount val="1"/>
                <c:pt idx="0">
                  <c:v>Not very important</c:v>
                </c:pt>
              </c:strCache>
            </c:strRef>
          </c:tx>
          <c:spPr>
            <a:solidFill>
              <a:srgbClr val="F4BF9A"/>
            </a:solidFill>
          </c:spPr>
          <c:dLbls>
            <c:dLbl>
              <c:idx val="0"/>
              <c:tx>
                <c:rich>
                  <a:bodyPr/>
                  <a:lstStyle/>
                  <a:p>
                    <a:r>
                      <a:rPr lang="en-US" b="1" sz="800">
                        <a:solidFill>
                          <a:srgbClr val="2D3142"/>
                        </a:solidFill>
                      </a:rPr>
                      <a:t>33 </a:t>
                    </a:r>
                    <a:r>
                      <a:rPr lang="en-US" b="1" sz="900">
                        <a:solidFill>
                          <a:srgbClr val="2D3142"/>
                        </a:solidFill>
                      </a:rPr>
                      <a:t>E</a:t>
                    </a:r>
                  </a:p>
                </c:rich>
              </c:tx>
              <c:showLegendKey val="0"/>
              <c:showVal val="0"/>
              <c:showCatName val="0"/>
              <c:showSerName val="0"/>
              <c:showPercent val="0"/>
              <c:showBubbleSize val="0"/>
            </c:dLbl>
            <c:dLbl>
              <c:idx val="1"/>
              <c:tx>
                <c:rich>
                  <a:bodyPr/>
                  <a:lstStyle/>
                  <a:p>
                    <a:r>
                      <a:rPr lang="en-US" b="1" sz="800">
                        <a:solidFill>
                          <a:srgbClr val="2D3142"/>
                        </a:solidFill>
                      </a:rPr>
                      <a:t>30</a:t>
                    </a:r>
                  </a:p>
                </c:rich>
              </c:tx>
              <c:showLegendKey val="0"/>
              <c:showVal val="0"/>
              <c:showCatName val="0"/>
              <c:showSerName val="0"/>
              <c:showPercent val="0"/>
              <c:showBubbleSize val="0"/>
            </c:dLbl>
            <c:dLbl>
              <c:idx val="2"/>
              <c:tx>
                <c:rich>
                  <a:bodyPr/>
                  <a:lstStyle/>
                  <a:p>
                    <a:r>
                      <a:rPr lang="en-US" b="1" sz="800">
                        <a:solidFill>
                          <a:srgbClr val="2D3142"/>
                        </a:solidFill>
                      </a:rPr>
                      <a:t>36 </a:t>
                    </a:r>
                    <a:r>
                      <a:rPr lang="en-US" b="1" sz="900">
                        <a:solidFill>
                          <a:srgbClr val="2D3142"/>
                        </a:solidFill>
                      </a:rPr>
                      <a:t>e</a:t>
                    </a:r>
                  </a:p>
                </c:rich>
              </c:tx>
              <c:showLegendKey val="0"/>
              <c:showVal val="0"/>
              <c:showCatName val="0"/>
              <c:showSerName val="0"/>
              <c:showPercent val="0"/>
              <c:showBubbleSize val="0"/>
            </c:dLbl>
            <c:dLbl>
              <c:idx val="3"/>
              <c:tx>
                <c:rich>
                  <a:bodyPr/>
                  <a:lstStyle/>
                  <a:p>
                    <a:r>
                      <a:rPr lang="en-US" b="1" sz="800">
                        <a:solidFill>
                          <a:srgbClr val="2D3142"/>
                        </a:solidFill>
                      </a:rPr>
                      <a:t>40 </a:t>
                    </a:r>
                    <a:r>
                      <a:rPr lang="en-US" b="1" sz="900">
                        <a:solidFill>
                          <a:srgbClr val="2D3142"/>
                        </a:solidFill>
                      </a:rPr>
                      <a:t>ABE</a:t>
                    </a:r>
                  </a:p>
                </c:rich>
              </c:tx>
              <c:showLegendKey val="0"/>
              <c:showVal val="0"/>
              <c:showCatName val="0"/>
              <c:showSerName val="0"/>
              <c:showPercent val="0"/>
              <c:showBubbleSize val="0"/>
            </c:dLbl>
            <c:dLbl>
              <c:idx val="4"/>
              <c:tx>
                <c:rich>
                  <a:bodyPr/>
                  <a:lstStyle/>
                  <a:p>
                    <a:r>
                      <a:rPr lang="en-US" b="1" sz="800">
                        <a:solidFill>
                          <a:srgbClr val="2D3142"/>
                        </a:solidFill>
                      </a:rPr>
                      <a:t>25</a:t>
                    </a:r>
                  </a:p>
                </c:rich>
              </c:tx>
              <c:showLegendKey val="0"/>
              <c:showVal val="0"/>
              <c:showCatName val="0"/>
              <c:showSerName val="0"/>
              <c:showPercent val="0"/>
              <c:showBubbleSize val="0"/>
            </c:dLbl>
            <c:dLbl>
              <c:idx val="5"/>
              <c:tx>
                <c:rich>
                  <a:bodyPr/>
                  <a:lstStyle/>
                  <a:p>
                    <a:r>
                      <a:rPr lang="en-US" b="1" sz="800">
                        <a:solidFill>
                          <a:srgbClr val="2D3142"/>
                        </a:solidFill>
                      </a:rPr>
                      <a:t>27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Married (A)</c:v>
                </c:pt>
                <c:pt idx="1">
                  <c:v>Divorced (B)</c:v>
                </c:pt>
                <c:pt idx="2">
                  <c:v>Separated (C)</c:v>
                </c:pt>
                <c:pt idx="3">
                  <c:v>Unmarried/Single (D)</c:v>
                </c:pt>
                <c:pt idx="4">
                  <c:v>Widow/Widower (E)</c:v>
                </c:pt>
                <c:pt idx="5">
                  <c:v>Living with a partner (F)</c:v>
                </c:pt>
              </c:strCache>
            </c:strRef>
          </c:cat>
          <c:val>
            <c:numRef>
              <c:f>Sheet1!$D$2:$D$7</c:f>
              <c:numCache>
                <c:formatCode>0</c:formatCode>
                <c:ptCount val="6"/>
                <c:pt idx="0">
                  <c:v>32.519375811782794</c:v>
                </c:pt>
                <c:pt idx="1">
                  <c:v>30.072410906986878</c:v>
                </c:pt>
                <c:pt idx="2">
                  <c:v>36.471764310615406</c:v>
                </c:pt>
                <c:pt idx="3">
                  <c:v>39.650837227464834</c:v>
                </c:pt>
                <c:pt idx="4">
                  <c:v>24.84965787164756</c:v>
                </c:pt>
                <c:pt idx="5">
                  <c:v>26.94698099453689</c:v>
                </c:pt>
              </c:numCache>
            </c:numRef>
          </c:val>
        </c:ser>
        <c:ser>
          <c:idx val="3"/>
          <c:order val="3"/>
          <c:tx>
            <c:strRef>
              <c:f>Sheet1!$E$1</c:f>
              <c:strCache>
                <c:ptCount val="1"/>
                <c:pt idx="0">
                  <c:v>Not at all important</c:v>
                </c:pt>
              </c:strCache>
            </c:strRef>
          </c:tx>
          <c:spPr>
            <a:solidFill>
              <a:srgbClr val="F7D8C0"/>
            </a:solidFill>
          </c:spPr>
          <c:dLbls>
            <c:dLbl>
              <c:idx val="0"/>
              <c:tx>
                <c:rich>
                  <a:bodyPr/>
                  <a:lstStyle/>
                  <a:p>
                    <a:r>
                      <a:rPr lang="en-US" b="1" sz="800">
                        <a:solidFill>
                          <a:srgbClr val="2D3142"/>
                        </a:solidFill>
                      </a:rPr>
                      <a:t>18 </a:t>
                    </a:r>
                    <a:r>
                      <a:rPr lang="en-US" b="1" sz="900">
                        <a:solidFill>
                          <a:srgbClr val="2D3142"/>
                        </a:solidFill>
                      </a:rPr>
                      <a:t>E</a:t>
                    </a:r>
                  </a:p>
                </c:rich>
              </c:tx>
              <c:showLegendKey val="0"/>
              <c:showVal val="0"/>
              <c:showCatName val="0"/>
              <c:showSerName val="0"/>
              <c:showPercent val="0"/>
              <c:showBubbleSize val="0"/>
            </c:dLbl>
            <c:dLbl>
              <c:idx val="1"/>
              <c:tx>
                <c:rich>
                  <a:bodyPr/>
                  <a:lstStyle/>
                  <a:p>
                    <a:r>
                      <a:rPr lang="en-US" b="1" sz="800">
                        <a:solidFill>
                          <a:srgbClr val="2D3142"/>
                        </a:solidFill>
                      </a:rPr>
                      <a:t>22 </a:t>
                    </a:r>
                    <a:r>
                      <a:rPr lang="en-US" b="1" sz="900">
                        <a:solidFill>
                          <a:srgbClr val="2D3142"/>
                        </a:solidFill>
                      </a:rPr>
                      <a:t>Eac</a:t>
                    </a:r>
                  </a:p>
                </c:rich>
              </c:tx>
              <c:showLegendKey val="0"/>
              <c:showVal val="0"/>
              <c:showCatName val="0"/>
              <c:showSerName val="0"/>
              <c:showPercent val="0"/>
              <c:showBubbleSize val="0"/>
            </c:dLbl>
            <c:dLbl>
              <c:idx val="2"/>
              <c:tx>
                <c:rich>
                  <a:bodyPr/>
                  <a:lstStyle/>
                  <a:p>
                    <a:r>
                      <a:rPr lang="en-US" b="1" sz="800">
                        <a:solidFill>
                          <a:srgbClr val="2D3142"/>
                        </a:solidFill>
                      </a:rPr>
                      <a:t>12</a:t>
                    </a:r>
                  </a:p>
                </c:rich>
              </c:tx>
              <c:showLegendKey val="0"/>
              <c:showVal val="0"/>
              <c:showCatName val="0"/>
              <c:showSerName val="0"/>
              <c:showPercent val="0"/>
              <c:showBubbleSize val="0"/>
            </c:dLbl>
            <c:dLbl>
              <c:idx val="3"/>
              <c:tx>
                <c:rich>
                  <a:bodyPr/>
                  <a:lstStyle/>
                  <a:p>
                    <a:r>
                      <a:rPr lang="en-US" b="1" sz="800">
                        <a:solidFill>
                          <a:srgbClr val="2D3142"/>
                        </a:solidFill>
                      </a:rPr>
                      <a:t>24 </a:t>
                    </a:r>
                    <a:r>
                      <a:rPr lang="en-US" b="1" sz="900">
                        <a:solidFill>
                          <a:srgbClr val="2D3142"/>
                        </a:solidFill>
                      </a:rPr>
                      <a:t>ACE</a:t>
                    </a:r>
                  </a:p>
                </c:rich>
              </c:tx>
              <c:showLegendKey val="0"/>
              <c:showVal val="0"/>
              <c:showCatName val="0"/>
              <c:showSerName val="0"/>
              <c:showPercent val="0"/>
              <c:showBubbleSize val="0"/>
            </c:dLbl>
            <c:dLbl>
              <c:idx val="4"/>
              <c:tx>
                <c:rich>
                  <a:bodyPr/>
                  <a:lstStyle/>
                  <a:p>
                    <a:r>
                      <a:rPr lang="en-US" b="1" sz="800">
                        <a:solidFill>
                          <a:srgbClr val="2D3142"/>
                        </a:solidFill>
                      </a:rPr>
                      <a:t>10</a:t>
                    </a:r>
                  </a:p>
                </c:rich>
              </c:tx>
              <c:showLegendKey val="0"/>
              <c:showVal val="0"/>
              <c:showCatName val="0"/>
              <c:showSerName val="0"/>
              <c:showPercent val="0"/>
              <c:showBubbleSize val="0"/>
            </c:dLbl>
            <c:dLbl>
              <c:idx val="5"/>
              <c:tx>
                <c:rich>
                  <a:bodyPr/>
                  <a:lstStyle/>
                  <a:p>
                    <a:r>
                      <a:rPr lang="en-US" b="1" sz="800">
                        <a:solidFill>
                          <a:srgbClr val="2D3142"/>
                        </a:solidFill>
                      </a:rPr>
                      <a:t>17</a:t>
                    </a:r>
                  </a:p>
                </c:rich>
              </c:tx>
              <c:showLegendKey val="0"/>
              <c:showVal val="0"/>
              <c:showCatName val="0"/>
              <c:showSerName val="0"/>
              <c:showPercent val="0"/>
              <c:showBubbleSize val="0"/>
            </c:dLbl>
            <c:numFmt formatCode="0" sourceLinked="0"/>
            <c:dLblPos val="ctr"/>
            <c:showLegendKey val="0"/>
            <c:showVal val="0"/>
            <c:showCatName val="0"/>
            <c:showSerName val="0"/>
            <c:showPercent val="0"/>
            <c:showBubbleSize val="0"/>
            <c:showLeaderLines val="1"/>
          </c:dLbls>
          <c:cat>
            <c:strRef>
              <c:f>Sheet1!$A$2:$A$7</c:f>
              <c:strCache>
                <c:ptCount val="6"/>
                <c:pt idx="0">
                  <c:v>Married (A)</c:v>
                </c:pt>
                <c:pt idx="1">
                  <c:v>Divorced (B)</c:v>
                </c:pt>
                <c:pt idx="2">
                  <c:v>Separated (C)</c:v>
                </c:pt>
                <c:pt idx="3">
                  <c:v>Unmarried/Single (D)</c:v>
                </c:pt>
                <c:pt idx="4">
                  <c:v>Widow/Widower (E)</c:v>
                </c:pt>
                <c:pt idx="5">
                  <c:v>Living with a partner (F)</c:v>
                </c:pt>
              </c:strCache>
            </c:strRef>
          </c:cat>
          <c:val>
            <c:numRef>
              <c:f>Sheet1!$E$2:$E$7</c:f>
              <c:numCache>
                <c:formatCode>0</c:formatCode>
                <c:ptCount val="6"/>
                <c:pt idx="0">
                  <c:v>17.765361183947288</c:v>
                </c:pt>
                <c:pt idx="1">
                  <c:v>21.626326572087358</c:v>
                </c:pt>
                <c:pt idx="2">
                  <c:v>12.151957519538024</c:v>
                </c:pt>
                <c:pt idx="3">
                  <c:v>23.72657569607345</c:v>
                </c:pt>
                <c:pt idx="4">
                  <c:v>9.973347890242312</c:v>
                </c:pt>
                <c:pt idx="5">
                  <c:v>17.01393313342885</c:v>
                </c:pt>
              </c:numCache>
            </c:numRef>
          </c:val>
        </c:ser>
        <c:gapWidth val="65"/>
        <c:overlap val="10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2D3142"/>
                </a:solidFill>
                <a:latin typeface="Calibri"/>
              </a:defRPr>
            </a:pPr>
          </a:p>
        </c:txPr>
        <c:crossAx val="-2113994440"/>
        <c:crosses val="autoZero"/>
        <c:auto val="1"/>
        <c:lblAlgn val="ctr"/>
        <c:lblOffset val="100"/>
        <c:noMultiLvlLbl val="0"/>
      </c:catAx>
      <c:valAx>
        <c:axId val="-2113994440"/>
        <c:scaling/>
        <c:axPos val="b"/>
        <c:numFmt formatCode="0" sourceLinked="0"/>
        <c:majorTickMark val="out"/>
        <c:minorTickMark val="none"/>
        <c:tickLblPos val="nextTo"/>
        <c:crossAx val="-2068027336"/>
        <c:crosses val="autoZero"/>
        <c:delete val="1"/>
      </c:valAx>
    </c:plotArea>
    <c:legend>
      <c:legendPos val="b"/>
      <c:overlay val="0"/>
      <c:txPr>
        <a:bodyPr/>
        <a:lstStyle/>
        <a:p>
          <a:pPr>
            <a:defRPr sz="900">
              <a:latin typeface="Calibri"/>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chart" Target="../charts/char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chart" Target="../charts/char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 Id="rId3" Type="http://schemas.openxmlformats.org/officeDocument/2006/relationships/chart" Target="../charts/char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 Id="rId3" Type="http://schemas.openxmlformats.org/officeDocument/2006/relationships/chart" Target="../charts/chart20.xml"/><Relationship Id="rId4" Type="http://schemas.openxmlformats.org/officeDocument/2006/relationships/chart" Target="../charts/chart21.xml"/><Relationship Id="rId5" Type="http://schemas.openxmlformats.org/officeDocument/2006/relationships/chart" Target="../charts/chart22.xml"/><Relationship Id="rId6" Type="http://schemas.openxmlformats.org/officeDocument/2006/relationships/chart" Target="../charts/char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9.xml"/><Relationship Id="rId3" Type="http://schemas.openxmlformats.org/officeDocument/2006/relationships/chart" Target="../charts/char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1.xml"/><Relationship Id="rId3" Type="http://schemas.openxmlformats.org/officeDocument/2006/relationships/chart" Target="../charts/char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3.xml"/><Relationship Id="rId3" Type="http://schemas.openxmlformats.org/officeDocument/2006/relationships/chart" Target="../charts/char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5.xml"/><Relationship Id="rId3" Type="http://schemas.openxmlformats.org/officeDocument/2006/relationships/chart" Target="../charts/char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7.xml"/><Relationship Id="rId3" Type="http://schemas.openxmlformats.org/officeDocument/2006/relationships/chart" Target="../charts/chart3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9.xml"/><Relationship Id="rId3" Type="http://schemas.openxmlformats.org/officeDocument/2006/relationships/chart" Target="../charts/chart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Oval 1"/>
          <p:cNvSpPr/>
          <p:nvPr/>
        </p:nvSpPr>
        <p:spPr>
          <a:xfrm>
            <a:off x="8686800" y="-1371600"/>
            <a:ext cx="4572000" cy="4572000"/>
          </a:xfrm>
          <a:prstGeom prst="ellipse">
            <a:avLst/>
          </a:prstGeom>
          <a:solidFill>
            <a:srgbClr val="F9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457200"/>
            <a:ext cx="2743200" cy="2743200"/>
          </a:xfrm>
          <a:prstGeom prst="ellipse">
            <a:avLst/>
          </a:prstGeom>
          <a:noFill/>
          <a:ln w="25400">
            <a:solidFill>
              <a:srgbClr val="F0A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1828800"/>
            <a:ext cx="731520" cy="731520"/>
          </a:xfrm>
          <a:prstGeom prst="ellipse">
            <a:avLst/>
          </a:prstGeom>
          <a:solidFill>
            <a:srgbClr val="A3B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ver_Title"/>
          <p:cNvSpPr txBox="1"/>
          <p:nvPr/>
        </p:nvSpPr>
        <p:spPr>
          <a:xfrm>
            <a:off x="1097280" y="2560320"/>
            <a:ext cx="6309360" cy="1371600"/>
          </a:xfrm>
          <a:prstGeom prst="rect">
            <a:avLst/>
          </a:prstGeom>
          <a:noFill/>
        </p:spPr>
        <p:txBody>
          <a:bodyPr wrap="square">
            <a:spAutoFit/>
          </a:bodyPr>
          <a:lstStyle/>
          <a:p>
            <a:pPr>
              <a:defRPr sz="4800" b="1">
                <a:solidFill>
                  <a:srgbClr val="2D3142"/>
                </a:solidFill>
                <a:latin typeface="Calibri Light"/>
              </a:defRPr>
            </a:pPr>
            <a:r>
              <a:t>Religion &amp; Spirituality in East Asia</a:t>
            </a:r>
          </a:p>
        </p:txBody>
      </p:sp>
      <p:sp>
        <p:nvSpPr>
          <p:cNvPr id="6" name="Cover_Subtitle"/>
          <p:cNvSpPr txBox="1"/>
          <p:nvPr/>
        </p:nvSpPr>
        <p:spPr>
          <a:xfrm>
            <a:off x="1143000" y="5486400"/>
            <a:ext cx="8229600" cy="914400"/>
          </a:xfrm>
          <a:prstGeom prst="rect">
            <a:avLst/>
          </a:prstGeom>
          <a:noFill/>
        </p:spPr>
        <p:txBody>
          <a:bodyPr wrap="square">
            <a:spAutoFit/>
          </a:bodyPr>
          <a:lstStyle/>
          <a:p>
            <a:pPr>
              <a:defRPr sz="2000">
                <a:solidFill>
                  <a:srgbClr val="888888"/>
                </a:solidFill>
                <a:latin typeface="Calibri"/>
              </a:defRPr>
            </a:pPr>
            <a:r>
              <a:t>Pew Research Center  |  2024</a:t>
            </a:r>
          </a:p>
        </p:txBody>
      </p:sp>
      <p:sp>
        <p:nvSpPr>
          <p:cNvPr id="7" name="Rectangle 6"/>
          <p:cNvSpPr/>
          <p:nvPr/>
        </p:nvSpPr>
        <p:spPr>
          <a:xfrm>
            <a:off x="1143000" y="5943600"/>
            <a:ext cx="1828800" cy="45720"/>
          </a:xfrm>
          <a:prstGeom prst="rect">
            <a:avLst/>
          </a:prstGeom>
          <a:solidFill>
            <a:srgbClr val="E1BA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F9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xec_Title"/>
          <p:cNvSpPr txBox="1"/>
          <p:nvPr/>
        </p:nvSpPr>
        <p:spPr>
          <a:xfrm>
            <a:off x="457200" y="182880"/>
            <a:ext cx="10972800" cy="548640"/>
          </a:xfrm>
          <a:prstGeom prst="rect">
            <a:avLst/>
          </a:prstGeom>
          <a:noFill/>
        </p:spPr>
        <p:txBody>
          <a:bodyPr wrap="none">
            <a:spAutoFit/>
          </a:bodyPr>
          <a:lstStyle/>
          <a:p>
            <a:pPr>
              <a:defRPr sz="3200" b="1">
                <a:solidFill>
                  <a:srgbClr val="2D3142"/>
                </a:solidFill>
                <a:latin typeface="Calibri Light"/>
              </a:defRPr>
            </a:pPr>
            <a:r>
              <a:t>Executive Summary</a:t>
            </a:r>
          </a:p>
        </p:txBody>
      </p:sp>
      <p:sp>
        <p:nvSpPr>
          <p:cNvPr id="4" name="Rectangle 3"/>
          <p:cNvSpPr/>
          <p:nvPr/>
        </p:nvSpPr>
        <p:spPr>
          <a:xfrm>
            <a:off x="457200" y="150876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08760"/>
            <a:ext cx="91440" cy="670560"/>
          </a:xfrm>
          <a:prstGeom prst="rect">
            <a:avLst/>
          </a:prstGeom>
          <a:solidFill>
            <a:srgbClr val="F0A060"/>
          </a:solidFill>
          <a:ln>
            <a:solidFill>
              <a:srgbClr val="F0A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08760"/>
            <a:ext cx="10957255" cy="670560"/>
          </a:xfrm>
          <a:prstGeom prst="rect">
            <a:avLst/>
          </a:prstGeom>
          <a:noFill/>
        </p:spPr>
        <p:txBody>
          <a:bodyPr wrap="square" anchor="ctr">
            <a:spAutoFit/>
          </a:bodyPr>
          <a:lstStyle/>
          <a:p>
            <a:pPr algn="l">
              <a:lnSpc>
                <a:spcPct val="110000"/>
              </a:lnSpc>
            </a:pPr>
            <a:r>
              <a:rPr b="1" sz="1200">
                <a:solidFill>
                  <a:srgbClr val="F0A060"/>
                </a:solidFill>
                <a:latin typeface="Calibri"/>
              </a:rPr>
              <a:t>Ritual Over Doctrine</a:t>
            </a:r>
            <a:r>
              <a:rPr b="0" sz="1100">
                <a:solidFill>
                  <a:srgbClr val="333333"/>
                </a:solidFill>
                <a:latin typeface="Calibri"/>
              </a:rPr>
              <a:t> — Religion across Asia functions primarily as cultural practice and ancestor veneration rather than institutional affiliation, with majorities holding no formal religious identity yet maintaining active spiritual engagement through offerings, prayer, and belief in unseen forces.</a:t>
            </a:r>
          </a:p>
        </p:txBody>
      </p:sp>
      <p:sp>
        <p:nvSpPr>
          <p:cNvPr id="7" name="Rectangle 6"/>
          <p:cNvSpPr/>
          <p:nvPr/>
        </p:nvSpPr>
        <p:spPr>
          <a:xfrm>
            <a:off x="457200" y="231648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16480"/>
            <a:ext cx="91440" cy="670560"/>
          </a:xfrm>
          <a:prstGeom prst="rect">
            <a:avLst/>
          </a:prstGeom>
          <a:solidFill>
            <a:srgbClr val="F0A060"/>
          </a:solidFill>
          <a:ln>
            <a:solidFill>
              <a:srgbClr val="F0A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6480"/>
            <a:ext cx="10957255" cy="670560"/>
          </a:xfrm>
          <a:prstGeom prst="rect">
            <a:avLst/>
          </a:prstGeom>
          <a:noFill/>
        </p:spPr>
        <p:txBody>
          <a:bodyPr wrap="square" anchor="ctr">
            <a:spAutoFit/>
          </a:bodyPr>
          <a:lstStyle/>
          <a:p>
            <a:pPr algn="l">
              <a:lnSpc>
                <a:spcPct val="110000"/>
              </a:lnSpc>
            </a:pPr>
            <a:r>
              <a:rPr b="1" sz="1200">
                <a:solidFill>
                  <a:srgbClr val="F0A060"/>
                </a:solidFill>
                <a:latin typeface="Calibri"/>
              </a:rPr>
              <a:t>Vietnam's Exceptionalism</a:t>
            </a:r>
            <a:r>
              <a:rPr b="0" sz="1100">
                <a:solidFill>
                  <a:srgbClr val="333333"/>
                </a:solidFill>
                <a:latin typeface="Calibri"/>
              </a:rPr>
              <a:t> — Vietnam demonstrates the highest intensity across nearly all measures—ancestral offerings (96% burn incense), home altars (95%), and satisfaction with country (71%)—suggesting spirituality and civic contentment are mutually reinforcing rather than oppositional.</a:t>
            </a:r>
          </a:p>
        </p:txBody>
      </p:sp>
      <p:sp>
        <p:nvSpPr>
          <p:cNvPr id="10" name="Rectangle 9"/>
          <p:cNvSpPr/>
          <p:nvPr/>
        </p:nvSpPr>
        <p:spPr>
          <a:xfrm>
            <a:off x="457200" y="312420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124200"/>
            <a:ext cx="91440" cy="670560"/>
          </a:xfrm>
          <a:prstGeom prst="rect">
            <a:avLst/>
          </a:prstGeom>
          <a:solidFill>
            <a:srgbClr val="F0A060"/>
          </a:solidFill>
          <a:ln>
            <a:solidFill>
              <a:srgbClr val="F0A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124200"/>
            <a:ext cx="10957255" cy="670560"/>
          </a:xfrm>
          <a:prstGeom prst="rect">
            <a:avLst/>
          </a:prstGeom>
          <a:noFill/>
        </p:spPr>
        <p:txBody>
          <a:bodyPr wrap="square" anchor="ctr">
            <a:spAutoFit/>
          </a:bodyPr>
          <a:lstStyle/>
          <a:p>
            <a:pPr algn="l">
              <a:lnSpc>
                <a:spcPct val="110000"/>
              </a:lnSpc>
            </a:pPr>
            <a:r>
              <a:rPr b="1" sz="1200">
                <a:solidFill>
                  <a:srgbClr val="F0A060"/>
                </a:solidFill>
                <a:latin typeface="Calibri"/>
              </a:rPr>
              <a:t>Taiwan's Syncretism Premium</a:t>
            </a:r>
            <a:r>
              <a:rPr b="0" sz="1100">
                <a:solidFill>
                  <a:srgbClr val="333333"/>
                </a:solidFill>
                <a:latin typeface="Calibri"/>
              </a:rPr>
              <a:t> — Taiwan leads in belief in karma (87%), deities (86%), and gravesite visits, reflecting a deeply embedded folk religion infrastructure that coexists with low formal affiliation, pointing to opportunity in ritual-adjacent consumer categories.</a:t>
            </a:r>
          </a:p>
        </p:txBody>
      </p:sp>
      <p:sp>
        <p:nvSpPr>
          <p:cNvPr id="13" name="Rectangle 12"/>
          <p:cNvSpPr/>
          <p:nvPr/>
        </p:nvSpPr>
        <p:spPr>
          <a:xfrm>
            <a:off x="457200" y="393192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31920"/>
            <a:ext cx="91440" cy="670560"/>
          </a:xfrm>
          <a:prstGeom prst="rect">
            <a:avLst/>
          </a:prstGeom>
          <a:solidFill>
            <a:srgbClr val="F0A060"/>
          </a:solidFill>
          <a:ln>
            <a:solidFill>
              <a:srgbClr val="F0A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931920"/>
            <a:ext cx="10957255" cy="670560"/>
          </a:xfrm>
          <a:prstGeom prst="rect">
            <a:avLst/>
          </a:prstGeom>
          <a:noFill/>
        </p:spPr>
        <p:txBody>
          <a:bodyPr wrap="square" anchor="ctr">
            <a:spAutoFit/>
          </a:bodyPr>
          <a:lstStyle/>
          <a:p>
            <a:pPr algn="l">
              <a:lnSpc>
                <a:spcPct val="110000"/>
              </a:lnSpc>
            </a:pPr>
            <a:r>
              <a:rPr b="1" sz="1200">
                <a:solidFill>
                  <a:srgbClr val="F0A060"/>
                </a:solidFill>
                <a:latin typeface="Calibri"/>
              </a:rPr>
              <a:t>Japan's Quiet Spirituality</a:t>
            </a:r>
            <a:r>
              <a:rPr b="0" sz="1100">
                <a:solidFill>
                  <a:srgbClr val="333333"/>
                </a:solidFill>
                <a:latin typeface="Calibri"/>
              </a:rPr>
              <a:t> — Despite 42% claiming no religion, Japan shows high engagement in shrine visits (46%), ancestor offerings (79% burn incense), and home altars (51%), revealing a cultural spirituality that operates outside Western religious frameworks.</a:t>
            </a:r>
          </a:p>
        </p:txBody>
      </p:sp>
      <p:sp>
        <p:nvSpPr>
          <p:cNvPr id="16" name="Rectangle 15"/>
          <p:cNvSpPr/>
          <p:nvPr/>
        </p:nvSpPr>
        <p:spPr>
          <a:xfrm>
            <a:off x="457200" y="473964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739640"/>
            <a:ext cx="91440" cy="670560"/>
          </a:xfrm>
          <a:prstGeom prst="rect">
            <a:avLst/>
          </a:prstGeom>
          <a:solidFill>
            <a:srgbClr val="F0A060"/>
          </a:solidFill>
          <a:ln>
            <a:solidFill>
              <a:srgbClr val="F0A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739640"/>
            <a:ext cx="10957255" cy="670560"/>
          </a:xfrm>
          <a:prstGeom prst="rect">
            <a:avLst/>
          </a:prstGeom>
          <a:noFill/>
        </p:spPr>
        <p:txBody>
          <a:bodyPr wrap="square" anchor="ctr">
            <a:spAutoFit/>
          </a:bodyPr>
          <a:lstStyle/>
          <a:p>
            <a:pPr algn="l">
              <a:lnSpc>
                <a:spcPct val="110000"/>
              </a:lnSpc>
            </a:pPr>
            <a:r>
              <a:rPr b="1" sz="1200">
                <a:solidFill>
                  <a:srgbClr val="F0A060"/>
                </a:solidFill>
                <a:latin typeface="Calibri"/>
              </a:rPr>
              <a:t>Gender and Education Gaps</a:t>
            </a:r>
            <a:r>
              <a:rPr b="0" sz="1100">
                <a:solidFill>
                  <a:srgbClr val="333333"/>
                </a:solidFill>
                <a:latin typeface="Calibri"/>
              </a:rPr>
              <a:t> — Women are 40% more likely than men to rate religion as very important, while lower education cohorts show double the religious salience of university-educated groups, indicating spirituality fills different functional needs across demographic strata.</a:t>
            </a:r>
          </a:p>
        </p:txBody>
      </p:sp>
      <p:sp>
        <p:nvSpPr>
          <p:cNvPr id="19" name="Rectangle 18"/>
          <p:cNvSpPr/>
          <p:nvPr/>
        </p:nvSpPr>
        <p:spPr>
          <a:xfrm>
            <a:off x="457200" y="5547360"/>
            <a:ext cx="11277295" cy="670560"/>
          </a:xfrm>
          <a:prstGeom prst="rect">
            <a:avLst/>
          </a:prstGeom>
          <a:solidFill>
            <a:srgbClr val="F8F9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547360"/>
            <a:ext cx="91440" cy="670560"/>
          </a:xfrm>
          <a:prstGeom prst="rect">
            <a:avLst/>
          </a:prstGeom>
          <a:solidFill>
            <a:srgbClr val="F0A060"/>
          </a:solidFill>
          <a:ln>
            <a:solidFill>
              <a:srgbClr val="F0A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547360"/>
            <a:ext cx="10957255" cy="670560"/>
          </a:xfrm>
          <a:prstGeom prst="rect">
            <a:avLst/>
          </a:prstGeom>
          <a:noFill/>
        </p:spPr>
        <p:txBody>
          <a:bodyPr wrap="square" anchor="ctr">
            <a:spAutoFit/>
          </a:bodyPr>
          <a:lstStyle/>
          <a:p>
            <a:pPr algn="l">
              <a:lnSpc>
                <a:spcPct val="110000"/>
              </a:lnSpc>
            </a:pPr>
            <a:r>
              <a:rPr b="1" sz="1200">
                <a:solidFill>
                  <a:srgbClr val="F0A060"/>
                </a:solidFill>
                <a:latin typeface="Calibri"/>
              </a:rPr>
              <a:t>Tolerance with Boundaries</a:t>
            </a:r>
            <a:r>
              <a:rPr b="0" sz="1100">
                <a:solidFill>
                  <a:srgbClr val="333333"/>
                </a:solidFill>
                <a:latin typeface="Calibri"/>
              </a:rPr>
              <a:t> — Majorities reject religious leaders in politics and proselytizing (except Hong Kong and Vietnam), yet support freedom to criticize government, signaling a preference for spirituality as private practice rather than public ideology.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F9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886200" y="1371600"/>
            <a:ext cx="457200" cy="457200"/>
          </a:xfrm>
          <a:prstGeom prst="ellipse">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_Label"/>
          <p:cNvSpPr txBox="1"/>
          <p:nvPr/>
        </p:nvSpPr>
        <p:spPr>
          <a:xfrm>
            <a:off x="4754880" y="2560320"/>
            <a:ext cx="6858000" cy="457200"/>
          </a:xfrm>
          <a:prstGeom prst="rect">
            <a:avLst/>
          </a:prstGeom>
          <a:noFill/>
        </p:spPr>
        <p:txBody>
          <a:bodyPr wrap="none">
            <a:spAutoFit/>
          </a:bodyPr>
          <a:lstStyle/>
          <a:p>
            <a:pPr>
              <a:defRPr sz="1600" b="1">
                <a:solidFill>
                  <a:srgbClr val="F0A060"/>
                </a:solidFill>
                <a:latin typeface="Calibri"/>
              </a:defRPr>
            </a:pPr>
            <a:r>
              <a:t>SECTION 01</a:t>
            </a:r>
          </a:p>
        </p:txBody>
      </p:sp>
      <p:sp>
        <p:nvSpPr>
          <p:cNvPr id="5" name="Section_Title"/>
          <p:cNvSpPr txBox="1"/>
          <p:nvPr/>
        </p:nvSpPr>
        <p:spPr>
          <a:xfrm>
            <a:off x="4709160" y="2926080"/>
            <a:ext cx="6858000" cy="914400"/>
          </a:xfrm>
          <a:prstGeom prst="rect">
            <a:avLst/>
          </a:prstGeom>
          <a:noFill/>
        </p:spPr>
        <p:txBody>
          <a:bodyPr wrap="square">
            <a:spAutoFit/>
          </a:bodyPr>
          <a:lstStyle/>
          <a:p>
            <a:pPr>
              <a:defRPr sz="3800" b="1">
                <a:solidFill>
                  <a:srgbClr val="2D3142"/>
                </a:solidFill>
                <a:latin typeface="Calibri Light"/>
              </a:defRPr>
            </a:pPr>
            <a:r>
              <a:t>Religious Identity &amp; Beliefs</a:t>
            </a:r>
          </a:p>
        </p:txBody>
      </p:sp>
      <p:sp>
        <p:nvSpPr>
          <p:cNvPr id="6" name="Section_Subtitle"/>
          <p:cNvSpPr txBox="1"/>
          <p:nvPr/>
        </p:nvSpPr>
        <p:spPr>
          <a:xfrm>
            <a:off x="4754880" y="4937760"/>
            <a:ext cx="6858000" cy="731520"/>
          </a:xfrm>
          <a:prstGeom prst="rect">
            <a:avLst/>
          </a:prstGeom>
          <a:noFill/>
        </p:spPr>
        <p:txBody>
          <a:bodyPr wrap="square">
            <a:spAutoFit/>
          </a:bodyPr>
          <a:lstStyle/>
          <a:p>
            <a:pPr>
              <a:defRPr sz="2000">
                <a:solidFill>
                  <a:srgbClr val="888888"/>
                </a:solidFill>
                <a:latin typeface="Calibri"/>
              </a:defRPr>
            </a:pPr>
            <a:r>
              <a:t>Who people are and what they believe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Religious Affiliation: Current and Childhood</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Kong=2,012 | Japan=1,742 | Korea=2,104 | Taiwan=2,277 | Vietnam=2,255  |  QCHREL. Thinking about when you were a child, in what religion were you ...   ·   Base (asked): Total=10,390 | Hong Kong (A)=2,012 | Japan (B)=1,742 | Korea (C)=2,104 | Taiwan (D)=2,277 | Vietnam (E)=2,255  |  QCURREL. What is your religion, if any?   ·   Significance testing (HIGH% / LOW%): Letters (A, B, C...) indicate significantly higher than corresponding group.   ·   Significance testing (HIGH% / LOW%): ▲/▼ (or ↑/↓) indicates significantly higher/lower than the preceding group (Order: Hong Kong → Japan → Korea → Taiwan → Vietnam).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Religion raised in as a child</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Current religion</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Importance of Religion &amp; Belief in God</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Religion holds moderate personal importance but belief in God is surprisingly high (54–71% except Korea), revealing a gap between institutional disaffiliation and private spirituality that brands can address through meaning-making rather than doctrine.</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Q9. How important is religion in your life, if at all?   ·   Base (asked): Total=10,390 | Hong Kong (A)=2,012 | Japan (B)=1,742 | Korea (C)=2,104 | Taiwan (D)=2,277 | Vietnam (E)=2,255  |  Q10. Do you believe in god, or not?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7223760" cy="256032"/>
          </a:xfrm>
          <a:prstGeom prst="rect">
            <a:avLst/>
          </a:prstGeom>
          <a:noFill/>
        </p:spPr>
        <p:txBody>
          <a:bodyPr wrap="square" anchor="t">
            <a:spAutoFit/>
          </a:bodyPr>
          <a:lstStyle/>
          <a:p>
            <a:pPr algn="l"/>
            <a:r>
              <a:rPr sz="1000" b="1">
                <a:solidFill>
                  <a:srgbClr val="2D3142"/>
                </a:solidFill>
                <a:latin typeface="Calibri"/>
              </a:rPr>
              <a:t>Q9. How important is religion in your life?</a:t>
            </a:r>
          </a:p>
        </p:txBody>
      </p:sp>
      <p:graphicFrame>
        <p:nvGraphicFramePr>
          <p:cNvPr id="9" name="Chart 8"/>
          <p:cNvGraphicFramePr>
            <a:graphicFrameLocks noGrp="1"/>
          </p:cNvGraphicFramePr>
          <p:nvPr/>
        </p:nvGraphicFramePr>
        <p:xfrm>
          <a:off x="457200" y="1764792"/>
          <a:ext cx="7223760" cy="4453128"/>
        </p:xfrm>
        <a:graphic>
          <a:graphicData uri="http://schemas.openxmlformats.org/drawingml/2006/chart">
            <c:chart xmlns:c="http://schemas.openxmlformats.org/drawingml/2006/chart" r:id="rId2"/>
          </a:graphicData>
        </a:graphic>
      </p:graphicFrame>
      <p:sp>
        <p:nvSpPr>
          <p:cNvPr id="10" name="TextBox 9"/>
          <p:cNvSpPr txBox="1"/>
          <p:nvPr/>
        </p:nvSpPr>
        <p:spPr>
          <a:xfrm>
            <a:off x="7818120" y="1508760"/>
            <a:ext cx="3916375" cy="256032"/>
          </a:xfrm>
          <a:prstGeom prst="rect">
            <a:avLst/>
          </a:prstGeom>
          <a:noFill/>
        </p:spPr>
        <p:txBody>
          <a:bodyPr wrap="square" anchor="t">
            <a:spAutoFit/>
          </a:bodyPr>
          <a:lstStyle/>
          <a:p>
            <a:pPr algn="l"/>
            <a:r>
              <a:rPr sz="1000" b="1">
                <a:solidFill>
                  <a:srgbClr val="2D3142"/>
                </a:solidFill>
                <a:latin typeface="Calibri"/>
              </a:rPr>
              <a:t>Q10. Do you believe in god?</a:t>
            </a:r>
          </a:p>
        </p:txBody>
      </p:sp>
      <p:graphicFrame>
        <p:nvGraphicFramePr>
          <p:cNvPr id="11" name="Chart 10"/>
          <p:cNvGraphicFramePr>
            <a:graphicFrameLocks noGrp="1"/>
          </p:cNvGraphicFramePr>
          <p:nvPr/>
        </p:nvGraphicFramePr>
        <p:xfrm>
          <a:off x="7818120" y="1764792"/>
          <a:ext cx="3916375"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Belief in Unseen Beings &amp; Spiritual Worldview</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Belief in unseen beings is near-universal in Taiwan (85%) and Hong Kong (69%), yet Korea and Vietnam show lower rates despite high ritual practice, indicating spirituality is functionally diverse—protection-seeking in some markets, ancestor-focused in others.</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Q11. Do you think that there are unseen beings in the world, like deitie...   ·   Base (asked): Total=10,390 | Hong Kong (A)=2,012 | Japan (B)=1,742 | Korea (C)=2,104 | Taiwan (D)=2,277 | Vietnam (E)=2,255  |  Q12. Which statement comes closer to your view even if neither is exactl...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3657600" cy="256032"/>
          </a:xfrm>
          <a:prstGeom prst="rect">
            <a:avLst/>
          </a:prstGeom>
          <a:noFill/>
        </p:spPr>
        <p:txBody>
          <a:bodyPr wrap="square" anchor="t">
            <a:spAutoFit/>
          </a:bodyPr>
          <a:lstStyle/>
          <a:p>
            <a:pPr algn="l"/>
            <a:r>
              <a:rPr sz="1000" b="1">
                <a:solidFill>
                  <a:srgbClr val="2D3142"/>
                </a:solidFill>
                <a:latin typeface="Calibri"/>
              </a:rPr>
              <a:t>Q11. Unseen beings like deities or spirits exist</a:t>
            </a:r>
          </a:p>
        </p:txBody>
      </p:sp>
      <p:graphicFrame>
        <p:nvGraphicFramePr>
          <p:cNvPr id="9" name="Chart 8"/>
          <p:cNvGraphicFramePr>
            <a:graphicFrameLocks noGrp="1"/>
          </p:cNvGraphicFramePr>
          <p:nvPr/>
        </p:nvGraphicFramePr>
        <p:xfrm>
          <a:off x="457200" y="1764792"/>
          <a:ext cx="3657600" cy="4453128"/>
        </p:xfrm>
        <a:graphic>
          <a:graphicData uri="http://schemas.openxmlformats.org/drawingml/2006/chart">
            <c:chart xmlns:c="http://schemas.openxmlformats.org/drawingml/2006/chart" r:id="rId2"/>
          </a:graphicData>
        </a:graphic>
      </p:graphicFrame>
      <p:sp>
        <p:nvSpPr>
          <p:cNvPr id="10" name="TextBox 9"/>
          <p:cNvSpPr txBox="1"/>
          <p:nvPr/>
        </p:nvSpPr>
        <p:spPr>
          <a:xfrm>
            <a:off x="4251960" y="1508760"/>
            <a:ext cx="7315200" cy="256032"/>
          </a:xfrm>
          <a:prstGeom prst="rect">
            <a:avLst/>
          </a:prstGeom>
          <a:noFill/>
        </p:spPr>
        <p:txBody>
          <a:bodyPr wrap="square" anchor="t">
            <a:spAutoFit/>
          </a:bodyPr>
          <a:lstStyle/>
          <a:p>
            <a:pPr algn="l"/>
            <a:r>
              <a:rPr sz="1000" b="1">
                <a:solidFill>
                  <a:srgbClr val="2D3142"/>
                </a:solidFill>
                <a:latin typeface="Calibri"/>
              </a:rPr>
              <a:t>Q12. Spiritual worldview</a:t>
            </a:r>
          </a:p>
        </p:txBody>
      </p:sp>
      <p:graphicFrame>
        <p:nvGraphicFramePr>
          <p:cNvPr id="11" name="Chart 10"/>
          <p:cNvGraphicFramePr>
            <a:graphicFrameLocks noGrp="1"/>
          </p:cNvGraphicFramePr>
          <p:nvPr/>
        </p:nvGraphicFramePr>
        <p:xfrm>
          <a:off x="4251960" y="1764792"/>
          <a:ext cx="7315200"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Beliefs in Spiritual Concepts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Fate and karma dominate belief systems (60–87%) far more than rebirth or nirvana, suggesting consumers seek explanatory frameworks for life outcomes rather than soteriological narratives, with Taiwan showing the most comprehensive spiritual worldview.</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Q27. Do you think each of the following things exists, or not?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Q27. Do you think each of the following exists?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F9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886200" y="1371600"/>
            <a:ext cx="457200" cy="457200"/>
          </a:xfrm>
          <a:prstGeom prst="ellipse">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_Label"/>
          <p:cNvSpPr txBox="1"/>
          <p:nvPr/>
        </p:nvSpPr>
        <p:spPr>
          <a:xfrm>
            <a:off x="4754880" y="2560320"/>
            <a:ext cx="6858000" cy="457200"/>
          </a:xfrm>
          <a:prstGeom prst="rect">
            <a:avLst/>
          </a:prstGeom>
          <a:noFill/>
        </p:spPr>
        <p:txBody>
          <a:bodyPr wrap="none">
            <a:spAutoFit/>
          </a:bodyPr>
          <a:lstStyle/>
          <a:p>
            <a:pPr>
              <a:defRPr sz="1600" b="1">
                <a:solidFill>
                  <a:srgbClr val="F0A060"/>
                </a:solidFill>
                <a:latin typeface="Calibri"/>
              </a:defRPr>
            </a:pPr>
            <a:r>
              <a:t>SECTION 02</a:t>
            </a:r>
          </a:p>
        </p:txBody>
      </p:sp>
      <p:sp>
        <p:nvSpPr>
          <p:cNvPr id="5" name="Section_Title"/>
          <p:cNvSpPr txBox="1"/>
          <p:nvPr/>
        </p:nvSpPr>
        <p:spPr>
          <a:xfrm>
            <a:off x="4709160" y="2926080"/>
            <a:ext cx="6858000" cy="914400"/>
          </a:xfrm>
          <a:prstGeom prst="rect">
            <a:avLst/>
          </a:prstGeom>
          <a:noFill/>
        </p:spPr>
        <p:txBody>
          <a:bodyPr wrap="square">
            <a:spAutoFit/>
          </a:bodyPr>
          <a:lstStyle/>
          <a:p>
            <a:pPr>
              <a:defRPr sz="3800" b="1">
                <a:solidFill>
                  <a:srgbClr val="2D3142"/>
                </a:solidFill>
                <a:latin typeface="Calibri Light"/>
              </a:defRPr>
            </a:pPr>
            <a:r>
              <a:t>Spiritual Practices &amp; Behaviors</a:t>
            </a:r>
          </a:p>
        </p:txBody>
      </p:sp>
      <p:sp>
        <p:nvSpPr>
          <p:cNvPr id="6" name="Section_Subtitle"/>
          <p:cNvSpPr txBox="1"/>
          <p:nvPr/>
        </p:nvSpPr>
        <p:spPr>
          <a:xfrm>
            <a:off x="4754880" y="4937760"/>
            <a:ext cx="6858000" cy="731520"/>
          </a:xfrm>
          <a:prstGeom prst="rect">
            <a:avLst/>
          </a:prstGeom>
          <a:noFill/>
        </p:spPr>
        <p:txBody>
          <a:bodyPr wrap="square">
            <a:spAutoFit/>
          </a:bodyPr>
          <a:lstStyle/>
          <a:p>
            <a:pPr>
              <a:defRPr sz="2000">
                <a:solidFill>
                  <a:srgbClr val="888888"/>
                </a:solidFill>
                <a:latin typeface="Calibri"/>
              </a:defRPr>
            </a:pPr>
            <a:r>
              <a:t>How faith manifests in daily life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Prayer Frequency &amp; Home Altars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Prayer frequency is moderate but home altars are ubiquitous in Vietnam (95%) and Taiwan (49%), indicating spirituality is domesticated and routine rather than congregational, creating opportunity for home-centered ritual products and services.</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Q28. How often do you pray, if at all?   ·   Base (asked): Total=10,390 | Hong Kong (A)=2,012 | Japan (B)=1,742 | Korea (C)=2,104 | Taiwan (D)=2,277 | Vietnam (E)=2,255  |  Q29. Is there an altar in your home, or not?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7315200" cy="256032"/>
          </a:xfrm>
          <a:prstGeom prst="rect">
            <a:avLst/>
          </a:prstGeom>
          <a:noFill/>
        </p:spPr>
        <p:txBody>
          <a:bodyPr wrap="square" anchor="t">
            <a:spAutoFit/>
          </a:bodyPr>
          <a:lstStyle/>
          <a:p>
            <a:pPr algn="l"/>
            <a:r>
              <a:rPr sz="1000" b="1">
                <a:solidFill>
                  <a:srgbClr val="2D3142"/>
                </a:solidFill>
                <a:latin typeface="Calibri"/>
              </a:rPr>
              <a:t>Q28. How often do you pray?</a:t>
            </a:r>
          </a:p>
        </p:txBody>
      </p:sp>
      <p:graphicFrame>
        <p:nvGraphicFramePr>
          <p:cNvPr id="9" name="Chart 8"/>
          <p:cNvGraphicFramePr>
            <a:graphicFrameLocks noGrp="1"/>
          </p:cNvGraphicFramePr>
          <p:nvPr/>
        </p:nvGraphicFramePr>
        <p:xfrm>
          <a:off x="457200" y="1764792"/>
          <a:ext cx="7315200" cy="4453128"/>
        </p:xfrm>
        <a:graphic>
          <a:graphicData uri="http://schemas.openxmlformats.org/drawingml/2006/chart">
            <c:chart xmlns:c="http://schemas.openxmlformats.org/drawingml/2006/chart" r:id="rId2"/>
          </a:graphicData>
        </a:graphic>
      </p:graphicFrame>
      <p:sp>
        <p:nvSpPr>
          <p:cNvPr id="10" name="TextBox 9"/>
          <p:cNvSpPr txBox="1"/>
          <p:nvPr/>
        </p:nvSpPr>
        <p:spPr>
          <a:xfrm>
            <a:off x="7909560" y="1508760"/>
            <a:ext cx="3657600" cy="256032"/>
          </a:xfrm>
          <a:prstGeom prst="rect">
            <a:avLst/>
          </a:prstGeom>
          <a:noFill/>
        </p:spPr>
        <p:txBody>
          <a:bodyPr wrap="square" anchor="t">
            <a:spAutoFit/>
          </a:bodyPr>
          <a:lstStyle/>
          <a:p>
            <a:pPr algn="l"/>
            <a:r>
              <a:rPr sz="1000" b="1">
                <a:solidFill>
                  <a:srgbClr val="2D3142"/>
                </a:solidFill>
                <a:latin typeface="Calibri"/>
              </a:rPr>
              <a:t>Q29. Is there an altar in your home?</a:t>
            </a:r>
          </a:p>
        </p:txBody>
      </p:sp>
      <p:graphicFrame>
        <p:nvGraphicFramePr>
          <p:cNvPr id="11" name="Chart 10"/>
          <p:cNvGraphicFramePr>
            <a:graphicFrameLocks noGrp="1"/>
          </p:cNvGraphicFramePr>
          <p:nvPr/>
        </p:nvGraphicFramePr>
        <p:xfrm>
          <a:off x="7909560" y="1764792"/>
          <a:ext cx="3657600"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Meditation, Fortune-Telling &amp; Religious Attendance</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Korea leads meditation practice (59%) while fortune-telling peaks there as well (38%), suggesting spiritual pragmatism—using practices instrumentally for guidance—while church attendance among Christians is highest in Vietnam (80% weekly), pointing to intensity over breadth.</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Q31. Do you ever practice meditation, or not?   ·   Base (asked): Total=10,390 | Hong Kong (A)=2,012 | Japan (B)=1,742 | Korea (C)=2,104 | Taiwan (D)=2,277 | Vietnam (E)=2,255  |  Q33. In the past 12 months, have you had your fortune told, or not?   ·   Base (asked): Total=1,599 | Hong Kong (A)=473 | Japan (B)=34 | Korea (C)=697 | Taiwan (D)=162 | Vietnam (E)=233  |  QATTEND. Aside from weddings and funerals, how often, if at all, do you ...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Q31. Practice meditation</a:t>
            </a:r>
          </a:p>
        </p:txBody>
      </p:sp>
      <p:graphicFrame>
        <p:nvGraphicFramePr>
          <p:cNvPr id="9" name="Chart 8"/>
          <p:cNvGraphicFramePr>
            <a:graphicFrameLocks noGrp="1"/>
          </p:cNvGraphicFramePr>
          <p:nvPr/>
        </p:nvGraphicFramePr>
        <p:xfrm>
          <a:off x="457200" y="1764792"/>
          <a:ext cx="5570067" cy="2029967"/>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Q33. Had fortune told (past 12 mo.)</a:t>
            </a:r>
          </a:p>
        </p:txBody>
      </p:sp>
      <p:graphicFrame>
        <p:nvGraphicFramePr>
          <p:cNvPr id="11" name="Chart 10"/>
          <p:cNvGraphicFramePr>
            <a:graphicFrameLocks noGrp="1"/>
          </p:cNvGraphicFramePr>
          <p:nvPr/>
        </p:nvGraphicFramePr>
        <p:xfrm>
          <a:off x="6164427" y="1764792"/>
          <a:ext cx="5570067" cy="2029967"/>
        </p:xfrm>
        <a:graphic>
          <a:graphicData uri="http://schemas.openxmlformats.org/drawingml/2006/chart">
            <c:chart xmlns:c="http://schemas.openxmlformats.org/drawingml/2006/chart" r:id="rId3"/>
          </a:graphicData>
        </a:graphic>
      </p:graphicFrame>
      <p:sp>
        <p:nvSpPr>
          <p:cNvPr id="12" name="TextBox 11"/>
          <p:cNvSpPr txBox="1"/>
          <p:nvPr/>
        </p:nvSpPr>
        <p:spPr>
          <a:xfrm>
            <a:off x="457200" y="3931920"/>
            <a:ext cx="11277295" cy="256032"/>
          </a:xfrm>
          <a:prstGeom prst="rect">
            <a:avLst/>
          </a:prstGeom>
          <a:noFill/>
        </p:spPr>
        <p:txBody>
          <a:bodyPr wrap="square" anchor="t">
            <a:spAutoFit/>
          </a:bodyPr>
          <a:lstStyle/>
          <a:p>
            <a:pPr algn="l"/>
            <a:r>
              <a:rPr sz="1000" b="1">
                <a:solidFill>
                  <a:srgbClr val="2D3142"/>
                </a:solidFill>
                <a:latin typeface="Calibri"/>
              </a:rPr>
              <a:t>QATTEND. Church attendance</a:t>
            </a:r>
          </a:p>
        </p:txBody>
      </p:sp>
      <p:graphicFrame>
        <p:nvGraphicFramePr>
          <p:cNvPr id="13" name="Table 12"/>
          <p:cNvGraphicFramePr>
            <a:graphicFrameLocks noGrp="1"/>
          </p:cNvGraphicFramePr>
          <p:nvPr/>
        </p:nvGraphicFramePr>
        <p:xfrm>
          <a:off x="457200" y="4187952"/>
          <a:ext cx="11277293" cy="2029967"/>
        </p:xfrm>
        <a:graphic>
          <a:graphicData uri="http://schemas.openxmlformats.org/drawingml/2006/table">
            <a:tbl>
              <a:tblPr firstRow="1" bandRow="1">
                <a:tableStyleId>{5C22544A-7EE6-4342-B048-85BDC9FD1C3A}</a:tableStyleId>
              </a:tblPr>
              <a:tblGrid>
                <a:gridCol w="3947053"/>
                <a:gridCol w="1466048"/>
                <a:gridCol w="1466048"/>
                <a:gridCol w="1466048"/>
                <a:gridCol w="1466048"/>
                <a:gridCol w="1466048"/>
              </a:tblGrid>
              <a:tr h="289995">
                <a:tc>
                  <a:txBody>
                    <a:bodyPr/>
                    <a:lstStyle/>
                    <a:p>
                      <a:pPr algn="l"/>
                    </a:p>
                  </a:txBody>
                  <a:tcPr>
                    <a:solidFill>
                      <a:srgbClr val="2D3142"/>
                    </a:solidFill>
                    <a:lnB w="6350">
                      <a:solidFill>
                        <a:srgbClr val="E0E0E0"/>
                      </a:solidFill>
                    </a:lnB>
                  </a:tcPr>
                </a:tc>
                <a:tc>
                  <a:txBody>
                    <a:bodyPr/>
                    <a:lstStyle/>
                    <a:p>
                      <a:pPr algn="ctr"/>
                      <a:r>
                        <a:rPr sz="900" b="1">
                          <a:solidFill>
                            <a:srgbClr val="FFFFFF"/>
                          </a:solidFill>
                          <a:latin typeface="Calibri"/>
                        </a:rPr>
                        <a:t>Hong Kong (A)</a:t>
                      </a:r>
                    </a:p>
                  </a:txBody>
                  <a:tcPr>
                    <a:solidFill>
                      <a:srgbClr val="2D3142"/>
                    </a:solidFill>
                    <a:lnB w="6350">
                      <a:solidFill>
                        <a:srgbClr val="E0E0E0"/>
                      </a:solidFill>
                    </a:lnB>
                  </a:tcPr>
                </a:tc>
                <a:tc>
                  <a:txBody>
                    <a:bodyPr/>
                    <a:lstStyle/>
                    <a:p>
                      <a:pPr algn="ctr"/>
                      <a:r>
                        <a:rPr sz="900" b="1">
                          <a:solidFill>
                            <a:srgbClr val="FFFFFF"/>
                          </a:solidFill>
                          <a:latin typeface="Calibri"/>
                        </a:rPr>
                        <a:t>Japan (B)</a:t>
                      </a:r>
                    </a:p>
                  </a:txBody>
                  <a:tcPr>
                    <a:solidFill>
                      <a:srgbClr val="2D3142"/>
                    </a:solidFill>
                    <a:lnB w="6350">
                      <a:solidFill>
                        <a:srgbClr val="E0E0E0"/>
                      </a:solidFill>
                    </a:lnB>
                  </a:tcPr>
                </a:tc>
                <a:tc>
                  <a:txBody>
                    <a:bodyPr/>
                    <a:lstStyle/>
                    <a:p>
                      <a:pPr algn="ctr"/>
                      <a:r>
                        <a:rPr sz="900" b="1">
                          <a:solidFill>
                            <a:srgbClr val="FFFFFF"/>
                          </a:solidFill>
                          <a:latin typeface="Calibri"/>
                        </a:rPr>
                        <a:t>Korea (C)</a:t>
                      </a:r>
                    </a:p>
                  </a:txBody>
                  <a:tcPr>
                    <a:solidFill>
                      <a:srgbClr val="2D3142"/>
                    </a:solidFill>
                    <a:lnB w="6350">
                      <a:solidFill>
                        <a:srgbClr val="E0E0E0"/>
                      </a:solidFill>
                    </a:lnB>
                  </a:tcPr>
                </a:tc>
                <a:tc>
                  <a:txBody>
                    <a:bodyPr/>
                    <a:lstStyle/>
                    <a:p>
                      <a:pPr algn="ctr"/>
                      <a:r>
                        <a:rPr sz="900" b="1">
                          <a:solidFill>
                            <a:srgbClr val="FFFFFF"/>
                          </a:solidFill>
                          <a:latin typeface="Calibri"/>
                        </a:rPr>
                        <a:t>Taiwan (D)</a:t>
                      </a:r>
                    </a:p>
                  </a:txBody>
                  <a:tcPr>
                    <a:solidFill>
                      <a:srgbClr val="2D3142"/>
                    </a:solidFill>
                    <a:lnB w="6350">
                      <a:solidFill>
                        <a:srgbClr val="E0E0E0"/>
                      </a:solidFill>
                    </a:lnB>
                  </a:tcPr>
                </a:tc>
                <a:tc>
                  <a:txBody>
                    <a:bodyPr/>
                    <a:lstStyle/>
                    <a:p>
                      <a:pPr algn="ctr"/>
                      <a:r>
                        <a:rPr sz="900" b="1">
                          <a:solidFill>
                            <a:srgbClr val="FFFFFF"/>
                          </a:solidFill>
                          <a:latin typeface="Calibri"/>
                        </a:rPr>
                        <a:t>Vietnam (E)</a:t>
                      </a:r>
                    </a:p>
                  </a:txBody>
                  <a:tcPr>
                    <a:solidFill>
                      <a:srgbClr val="2D3142"/>
                    </a:solidFill>
                    <a:lnB w="6350">
                      <a:solidFill>
                        <a:srgbClr val="E0E0E0"/>
                      </a:solidFill>
                    </a:lnB>
                  </a:tcPr>
                </a:tc>
              </a:tr>
              <a:tr h="289995">
                <a:tc>
                  <a:txBody>
                    <a:bodyPr/>
                    <a:lstStyle/>
                    <a:p>
                      <a:pPr algn="l"/>
                      <a:r>
                        <a:rPr sz="900" b="1">
                          <a:solidFill>
                            <a:srgbClr val="2D3142"/>
                          </a:solidFill>
                          <a:latin typeface="Calibri"/>
                        </a:rPr>
                        <a:t>Base (asked)</a:t>
                      </a:r>
                    </a:p>
                  </a:txBody>
                  <a:tcPr>
                    <a:solidFill>
                      <a:srgbClr val="F9EAE5"/>
                    </a:solidFill>
                    <a:lnB w="6350">
                      <a:solidFill>
                        <a:srgbClr val="E0E0E0"/>
                      </a:solidFill>
                    </a:lnB>
                  </a:tcPr>
                </a:tc>
                <a:tc>
                  <a:txBody>
                    <a:bodyPr/>
                    <a:lstStyle/>
                    <a:p>
                      <a:pPr algn="ctr"/>
                      <a:r>
                        <a:rPr sz="900" b="1">
                          <a:solidFill>
                            <a:srgbClr val="2D3142"/>
                          </a:solidFill>
                          <a:latin typeface="Calibri"/>
                        </a:rPr>
                        <a:t>473</a:t>
                      </a:r>
                    </a:p>
                  </a:txBody>
                  <a:tcPr>
                    <a:solidFill>
                      <a:srgbClr val="F9EAE5"/>
                    </a:solidFill>
                    <a:lnB w="6350">
                      <a:solidFill>
                        <a:srgbClr val="E0E0E0"/>
                      </a:solidFill>
                    </a:lnB>
                  </a:tcPr>
                </a:tc>
                <a:tc>
                  <a:txBody>
                    <a:bodyPr/>
                    <a:lstStyle/>
                    <a:p>
                      <a:pPr algn="ctr"/>
                      <a:r>
                        <a:rPr sz="900" b="1">
                          <a:solidFill>
                            <a:srgbClr val="2D3142"/>
                          </a:solidFill>
                          <a:latin typeface="Calibri"/>
                        </a:rPr>
                        <a:t>34</a:t>
                      </a:r>
                    </a:p>
                  </a:txBody>
                  <a:tcPr>
                    <a:solidFill>
                      <a:srgbClr val="F9EAE5"/>
                    </a:solidFill>
                    <a:lnB w="6350">
                      <a:solidFill>
                        <a:srgbClr val="E0E0E0"/>
                      </a:solidFill>
                    </a:lnB>
                  </a:tcPr>
                </a:tc>
                <a:tc>
                  <a:txBody>
                    <a:bodyPr/>
                    <a:lstStyle/>
                    <a:p>
                      <a:pPr algn="ctr"/>
                      <a:r>
                        <a:rPr sz="900" b="1">
                          <a:solidFill>
                            <a:srgbClr val="2D3142"/>
                          </a:solidFill>
                          <a:latin typeface="Calibri"/>
                        </a:rPr>
                        <a:t>697</a:t>
                      </a:r>
                    </a:p>
                  </a:txBody>
                  <a:tcPr>
                    <a:solidFill>
                      <a:srgbClr val="F9EAE5"/>
                    </a:solidFill>
                    <a:lnB w="6350">
                      <a:solidFill>
                        <a:srgbClr val="E0E0E0"/>
                      </a:solidFill>
                    </a:lnB>
                  </a:tcPr>
                </a:tc>
                <a:tc>
                  <a:txBody>
                    <a:bodyPr/>
                    <a:lstStyle/>
                    <a:p>
                      <a:pPr algn="ctr"/>
                      <a:r>
                        <a:rPr sz="900" b="1">
                          <a:solidFill>
                            <a:srgbClr val="2D3142"/>
                          </a:solidFill>
                          <a:latin typeface="Calibri"/>
                        </a:rPr>
                        <a:t>162</a:t>
                      </a:r>
                    </a:p>
                  </a:txBody>
                  <a:tcPr>
                    <a:solidFill>
                      <a:srgbClr val="F9EAE5"/>
                    </a:solidFill>
                    <a:lnB w="6350">
                      <a:solidFill>
                        <a:srgbClr val="E0E0E0"/>
                      </a:solidFill>
                    </a:lnB>
                  </a:tcPr>
                </a:tc>
                <a:tc>
                  <a:txBody>
                    <a:bodyPr/>
                    <a:lstStyle/>
                    <a:p>
                      <a:pPr algn="ctr"/>
                      <a:r>
                        <a:rPr sz="900" b="1">
                          <a:solidFill>
                            <a:srgbClr val="2D3142"/>
                          </a:solidFill>
                          <a:latin typeface="Calibri"/>
                        </a:rPr>
                        <a:t>233</a:t>
                      </a:r>
                    </a:p>
                  </a:txBody>
                  <a:tcPr>
                    <a:solidFill>
                      <a:srgbClr val="F9EAE5"/>
                    </a:solidFill>
                    <a:lnB w="6350">
                      <a:solidFill>
                        <a:srgbClr val="E0E0E0"/>
                      </a:solidFill>
                    </a:lnB>
                  </a:tcPr>
                </a:tc>
              </a:tr>
              <a:tr h="289995">
                <a:tc>
                  <a:txBody>
                    <a:bodyPr/>
                    <a:lstStyle/>
                    <a:p>
                      <a:pPr algn="l"/>
                      <a:r>
                        <a:rPr sz="900" b="1">
                          <a:solidFill>
                            <a:srgbClr val="2D3142"/>
                          </a:solidFill>
                          <a:latin typeface="Calibri"/>
                        </a:rPr>
                        <a:t>Everyweek</a:t>
                      </a:r>
                    </a:p>
                  </a:txBody>
                  <a:tcPr>
                    <a:solidFill>
                      <a:srgbClr val="FFFFFF"/>
                    </a:solidFill>
                    <a:lnB w="6350">
                      <a:solidFill>
                        <a:srgbClr val="E0E0E0"/>
                      </a:solidFill>
                    </a:lnB>
                  </a:tcPr>
                </a:tc>
                <a:tc>
                  <a:txBody>
                    <a:bodyPr/>
                    <a:lstStyle/>
                    <a:p>
                      <a:pPr algn="ctr"/>
                      <a:r>
                        <a:rPr sz="900" b="0">
                          <a:solidFill>
                            <a:srgbClr val="2D3142"/>
                          </a:solidFill>
                          <a:latin typeface="Calibri"/>
                        </a:rPr>
                        <a:t>46</a:t>
                      </a:r>
                      <a:r>
                        <a:rPr sz="900" b="1">
                          <a:solidFill>
                            <a:srgbClr val="2D3142"/>
                          </a:solidFill>
                        </a:rPr>
                        <a:t> B</a:t>
                      </a:r>
                    </a:p>
                  </a:txBody>
                  <a:tcPr>
                    <a:solidFill>
                      <a:srgbClr val="FFFFFF"/>
                    </a:solidFill>
                    <a:lnB w="6350">
                      <a:solidFill>
                        <a:srgbClr val="E0E0E0"/>
                      </a:solidFill>
                    </a:lnB>
                  </a:tcPr>
                </a:tc>
                <a:tc>
                  <a:txBody>
                    <a:bodyPr/>
                    <a:lstStyle/>
                    <a:p>
                      <a:pPr algn="ctr"/>
                      <a:r>
                        <a:rPr sz="900" b="0">
                          <a:solidFill>
                            <a:srgbClr val="2D3142"/>
                          </a:solidFill>
                          <a:latin typeface="Calibri"/>
                        </a:rPr>
                        <a:t>24</a:t>
                      </a:r>
                    </a:p>
                  </a:txBody>
                  <a:tcPr>
                    <a:solidFill>
                      <a:srgbClr val="FFFFFF"/>
                    </a:solidFill>
                    <a:lnB w="6350">
                      <a:solidFill>
                        <a:srgbClr val="E0E0E0"/>
                      </a:solidFill>
                    </a:lnB>
                  </a:tcPr>
                </a:tc>
                <a:tc>
                  <a:txBody>
                    <a:bodyPr/>
                    <a:lstStyle/>
                    <a:p>
                      <a:pPr algn="ctr"/>
                      <a:r>
                        <a:rPr sz="900" b="0">
                          <a:solidFill>
                            <a:srgbClr val="2D3142"/>
                          </a:solidFill>
                          <a:latin typeface="Calibri"/>
                        </a:rPr>
                        <a:t>63</a:t>
                      </a:r>
                      <a:r>
                        <a:rPr sz="900" b="1">
                          <a:solidFill>
                            <a:srgbClr val="2D3142"/>
                          </a:solidFill>
                        </a:rPr>
                        <a:t> ABD</a:t>
                      </a:r>
                    </a:p>
                  </a:txBody>
                  <a:tcPr>
                    <a:solidFill>
                      <a:srgbClr val="FFFFFF"/>
                    </a:solidFill>
                    <a:lnB w="6350">
                      <a:solidFill>
                        <a:srgbClr val="E0E0E0"/>
                      </a:solidFill>
                    </a:lnB>
                  </a:tcPr>
                </a:tc>
                <a:tc>
                  <a:txBody>
                    <a:bodyPr/>
                    <a:lstStyle/>
                    <a:p>
                      <a:pPr algn="ctr"/>
                      <a:r>
                        <a:rPr sz="900" b="0">
                          <a:solidFill>
                            <a:srgbClr val="2D3142"/>
                          </a:solidFill>
                          <a:latin typeface="Calibri"/>
                        </a:rPr>
                        <a:t>46</a:t>
                      </a:r>
                      <a:r>
                        <a:rPr sz="900" b="1">
                          <a:solidFill>
                            <a:srgbClr val="2D3142"/>
                          </a:solidFill>
                        </a:rPr>
                        <a:t> b</a:t>
                      </a:r>
                    </a:p>
                  </a:txBody>
                  <a:tcPr>
                    <a:solidFill>
                      <a:srgbClr val="FFFFFF"/>
                    </a:solidFill>
                    <a:lnB w="6350">
                      <a:solidFill>
                        <a:srgbClr val="E0E0E0"/>
                      </a:solidFill>
                    </a:lnB>
                  </a:tcPr>
                </a:tc>
                <a:tc>
                  <a:txBody>
                    <a:bodyPr/>
                    <a:lstStyle/>
                    <a:p>
                      <a:pPr algn="ctr"/>
                      <a:r>
                        <a:rPr sz="900" b="0">
                          <a:solidFill>
                            <a:srgbClr val="2D3142"/>
                          </a:solidFill>
                          <a:latin typeface="Calibri"/>
                        </a:rPr>
                        <a:t>80</a:t>
                      </a:r>
                      <a:r>
                        <a:rPr sz="900" b="1">
                          <a:solidFill>
                            <a:srgbClr val="2D3142"/>
                          </a:solidFill>
                        </a:rPr>
                        <a:t> ABCD</a:t>
                      </a:r>
                    </a:p>
                  </a:txBody>
                  <a:tcPr>
                    <a:solidFill>
                      <a:srgbClr val="FFFFFF"/>
                    </a:solidFill>
                    <a:lnB w="6350">
                      <a:solidFill>
                        <a:srgbClr val="E0E0E0"/>
                      </a:solidFill>
                    </a:lnB>
                  </a:tcPr>
                </a:tc>
              </a:tr>
              <a:tr h="289995">
                <a:tc>
                  <a:txBody>
                    <a:bodyPr/>
                    <a:lstStyle/>
                    <a:p>
                      <a:pPr algn="l"/>
                      <a:r>
                        <a:rPr sz="900" b="1">
                          <a:solidFill>
                            <a:srgbClr val="2D3142"/>
                          </a:solidFill>
                          <a:latin typeface="Calibri"/>
                        </a:rPr>
                        <a:t>Once or twice a month</a:t>
                      </a:r>
                    </a:p>
                  </a:txBody>
                  <a:tcPr>
                    <a:solidFill>
                      <a:srgbClr val="FAF9F6"/>
                    </a:solidFill>
                    <a:lnB w="6350">
                      <a:solidFill>
                        <a:srgbClr val="E0E0E0"/>
                      </a:solidFill>
                    </a:lnB>
                  </a:tcPr>
                </a:tc>
                <a:tc>
                  <a:txBody>
                    <a:bodyPr/>
                    <a:lstStyle/>
                    <a:p>
                      <a:pPr algn="ctr"/>
                      <a:r>
                        <a:rPr sz="900" b="0">
                          <a:solidFill>
                            <a:srgbClr val="2D3142"/>
                          </a:solidFill>
                          <a:latin typeface="Calibri"/>
                        </a:rPr>
                        <a:t>11</a:t>
                      </a:r>
                    </a:p>
                  </a:txBody>
                  <a:tcPr>
                    <a:solidFill>
                      <a:srgbClr val="FAF9F6"/>
                    </a:solidFill>
                    <a:lnB w="6350">
                      <a:solidFill>
                        <a:srgbClr val="E0E0E0"/>
                      </a:solidFill>
                    </a:lnB>
                  </a:tcPr>
                </a:tc>
                <a:tc>
                  <a:txBody>
                    <a:bodyPr/>
                    <a:lstStyle/>
                    <a:p>
                      <a:pPr algn="ctr"/>
                      <a:r>
                        <a:rPr sz="900" b="0">
                          <a:solidFill>
                            <a:srgbClr val="2D3142"/>
                          </a:solidFill>
                          <a:latin typeface="Calibri"/>
                        </a:rPr>
                        <a:t>6</a:t>
                      </a:r>
                    </a:p>
                  </a:txBody>
                  <a:tcPr>
                    <a:solidFill>
                      <a:srgbClr val="FAF9F6"/>
                    </a:solidFill>
                    <a:lnB w="6350">
                      <a:solidFill>
                        <a:srgbClr val="E0E0E0"/>
                      </a:solidFill>
                    </a:lnB>
                  </a:tcPr>
                </a:tc>
                <a:tc>
                  <a:txBody>
                    <a:bodyPr/>
                    <a:lstStyle/>
                    <a:p>
                      <a:pPr algn="ctr"/>
                      <a:r>
                        <a:rPr sz="900" b="0">
                          <a:solidFill>
                            <a:srgbClr val="2D3142"/>
                          </a:solidFill>
                          <a:latin typeface="Calibri"/>
                        </a:rPr>
                        <a:t>10</a:t>
                      </a:r>
                    </a:p>
                  </a:txBody>
                  <a:tcPr>
                    <a:solidFill>
                      <a:srgbClr val="FAF9F6"/>
                    </a:solidFill>
                    <a:lnB w="6350">
                      <a:solidFill>
                        <a:srgbClr val="E0E0E0"/>
                      </a:solidFill>
                    </a:lnB>
                  </a:tcPr>
                </a:tc>
                <a:tc>
                  <a:txBody>
                    <a:bodyPr/>
                    <a:lstStyle/>
                    <a:p>
                      <a:pPr algn="ctr"/>
                      <a:r>
                        <a:rPr sz="900" b="0">
                          <a:solidFill>
                            <a:srgbClr val="2D3142"/>
                          </a:solidFill>
                          <a:latin typeface="Calibri"/>
                        </a:rPr>
                        <a:t>12</a:t>
                      </a:r>
                    </a:p>
                  </a:txBody>
                  <a:tcPr>
                    <a:solidFill>
                      <a:srgbClr val="FAF9F6"/>
                    </a:solidFill>
                    <a:lnB w="6350">
                      <a:solidFill>
                        <a:srgbClr val="E0E0E0"/>
                      </a:solidFill>
                    </a:lnB>
                  </a:tcPr>
                </a:tc>
                <a:tc>
                  <a:txBody>
                    <a:bodyPr/>
                    <a:lstStyle/>
                    <a:p>
                      <a:pPr algn="ctr"/>
                      <a:r>
                        <a:rPr sz="900" b="0">
                          <a:solidFill>
                            <a:srgbClr val="2D3142"/>
                          </a:solidFill>
                          <a:latin typeface="Calibri"/>
                        </a:rPr>
                        <a:t>9</a:t>
                      </a:r>
                    </a:p>
                  </a:txBody>
                  <a:tcPr>
                    <a:solidFill>
                      <a:srgbClr val="FAF9F6"/>
                    </a:solidFill>
                    <a:lnB w="6350">
                      <a:solidFill>
                        <a:srgbClr val="E0E0E0"/>
                      </a:solidFill>
                    </a:lnB>
                  </a:tcPr>
                </a:tc>
              </a:tr>
              <a:tr h="289995">
                <a:tc>
                  <a:txBody>
                    <a:bodyPr/>
                    <a:lstStyle/>
                    <a:p>
                      <a:pPr algn="l"/>
                      <a:r>
                        <a:rPr sz="900" b="1">
                          <a:solidFill>
                            <a:srgbClr val="2D3142"/>
                          </a:solidFill>
                          <a:latin typeface="Calibri"/>
                        </a:rPr>
                        <a:t>A few times a year</a:t>
                      </a:r>
                    </a:p>
                  </a:txBody>
                  <a:tcPr>
                    <a:solidFill>
                      <a:srgbClr val="FFFFFF"/>
                    </a:solidFill>
                    <a:lnB w="6350">
                      <a:solidFill>
                        <a:srgbClr val="E0E0E0"/>
                      </a:solidFill>
                    </a:lnB>
                  </a:tcPr>
                </a:tc>
                <a:tc>
                  <a:txBody>
                    <a:bodyPr/>
                    <a:lstStyle/>
                    <a:p>
                      <a:pPr algn="ctr"/>
                      <a:r>
                        <a:rPr sz="900" b="0">
                          <a:solidFill>
                            <a:srgbClr val="2D3142"/>
                          </a:solidFill>
                          <a:latin typeface="Calibri"/>
                        </a:rPr>
                        <a:t>13</a:t>
                      </a:r>
                      <a:r>
                        <a:rPr sz="900" b="1">
                          <a:solidFill>
                            <a:srgbClr val="2D3142"/>
                          </a:solidFill>
                        </a:rPr>
                        <a:t> E</a:t>
                      </a:r>
                    </a:p>
                  </a:txBody>
                  <a:tcPr>
                    <a:solidFill>
                      <a:srgbClr val="FFFFFF"/>
                    </a:solidFill>
                    <a:lnB w="6350">
                      <a:solidFill>
                        <a:srgbClr val="E0E0E0"/>
                      </a:solidFill>
                    </a:lnB>
                  </a:tcPr>
                </a:tc>
                <a:tc>
                  <a:txBody>
                    <a:bodyPr/>
                    <a:lstStyle/>
                    <a:p>
                      <a:pPr algn="ctr"/>
                      <a:r>
                        <a:rPr sz="900" b="0">
                          <a:solidFill>
                            <a:srgbClr val="2D3142"/>
                          </a:solidFill>
                          <a:latin typeface="Calibri"/>
                        </a:rPr>
                        <a:t>10</a:t>
                      </a:r>
                    </a:p>
                  </a:txBody>
                  <a:tcPr>
                    <a:solidFill>
                      <a:srgbClr val="FFFFFF"/>
                    </a:solidFill>
                    <a:lnB w="6350">
                      <a:solidFill>
                        <a:srgbClr val="E0E0E0"/>
                      </a:solidFill>
                    </a:lnB>
                  </a:tcPr>
                </a:tc>
                <a:tc>
                  <a:txBody>
                    <a:bodyPr/>
                    <a:lstStyle/>
                    <a:p>
                      <a:pPr algn="ctr"/>
                      <a:r>
                        <a:rPr sz="900" b="0">
                          <a:solidFill>
                            <a:srgbClr val="2D3142"/>
                          </a:solidFill>
                          <a:latin typeface="Calibri"/>
                        </a:rPr>
                        <a:t>11</a:t>
                      </a:r>
                      <a:r>
                        <a:rPr sz="900" b="1">
                          <a:solidFill>
                            <a:srgbClr val="2D3142"/>
                          </a:solidFill>
                        </a:rPr>
                        <a:t> e</a:t>
                      </a:r>
                    </a:p>
                  </a:txBody>
                  <a:tcPr>
                    <a:solidFill>
                      <a:srgbClr val="FFFFFF"/>
                    </a:solidFill>
                    <a:lnB w="6350">
                      <a:solidFill>
                        <a:srgbClr val="E0E0E0"/>
                      </a:solidFill>
                    </a:lnB>
                  </a:tcPr>
                </a:tc>
                <a:tc>
                  <a:txBody>
                    <a:bodyPr/>
                    <a:lstStyle/>
                    <a:p>
                      <a:pPr algn="ctr"/>
                      <a:r>
                        <a:rPr sz="900" b="0">
                          <a:solidFill>
                            <a:srgbClr val="2D3142"/>
                          </a:solidFill>
                          <a:latin typeface="Calibri"/>
                        </a:rPr>
                        <a:t>17</a:t>
                      </a:r>
                      <a:r>
                        <a:rPr sz="900" b="1">
                          <a:solidFill>
                            <a:srgbClr val="2D3142"/>
                          </a:solidFill>
                        </a:rPr>
                        <a:t> E</a:t>
                      </a:r>
                    </a:p>
                  </a:txBody>
                  <a:tcPr>
                    <a:solidFill>
                      <a:srgbClr val="FFFFFF"/>
                    </a:solidFill>
                    <a:lnB w="6350">
                      <a:solidFill>
                        <a:srgbClr val="E0E0E0"/>
                      </a:solidFill>
                    </a:lnB>
                  </a:tcPr>
                </a:tc>
                <a:tc>
                  <a:txBody>
                    <a:bodyPr/>
                    <a:lstStyle/>
                    <a:p>
                      <a:pPr algn="ctr"/>
                      <a:r>
                        <a:rPr sz="900" b="0">
                          <a:solidFill>
                            <a:srgbClr val="2D3142"/>
                          </a:solidFill>
                          <a:latin typeface="Calibri"/>
                        </a:rPr>
                        <a:t>6</a:t>
                      </a:r>
                    </a:p>
                  </a:txBody>
                  <a:tcPr>
                    <a:solidFill>
                      <a:srgbClr val="FFFFFF"/>
                    </a:solidFill>
                    <a:lnB w="6350">
                      <a:solidFill>
                        <a:srgbClr val="E0E0E0"/>
                      </a:solidFill>
                    </a:lnB>
                  </a:tcPr>
                </a:tc>
              </a:tr>
              <a:tr h="289995">
                <a:tc>
                  <a:txBody>
                    <a:bodyPr/>
                    <a:lstStyle/>
                    <a:p>
                      <a:pPr algn="l"/>
                      <a:r>
                        <a:rPr sz="900" b="1">
                          <a:solidFill>
                            <a:srgbClr val="2D3142"/>
                          </a:solidFill>
                          <a:latin typeface="Calibri"/>
                        </a:rPr>
                        <a:t>Less often than that or</a:t>
                      </a:r>
                    </a:p>
                  </a:txBody>
                  <a:tcPr>
                    <a:solidFill>
                      <a:srgbClr val="FAF9F6"/>
                    </a:solidFill>
                    <a:lnB w="6350">
                      <a:solidFill>
                        <a:srgbClr val="E0E0E0"/>
                      </a:solidFill>
                    </a:lnB>
                  </a:tcPr>
                </a:tc>
                <a:tc>
                  <a:txBody>
                    <a:bodyPr/>
                    <a:lstStyle/>
                    <a:p>
                      <a:pPr algn="ctr"/>
                      <a:r>
                        <a:rPr sz="900" b="0">
                          <a:solidFill>
                            <a:srgbClr val="2D3142"/>
                          </a:solidFill>
                          <a:latin typeface="Calibri"/>
                        </a:rPr>
                        <a:t>18</a:t>
                      </a:r>
                      <a:r>
                        <a:rPr sz="900" b="1">
                          <a:solidFill>
                            <a:srgbClr val="2D3142"/>
                          </a:solidFill>
                        </a:rPr>
                        <a:t> CE</a:t>
                      </a:r>
                    </a:p>
                  </a:txBody>
                  <a:tcPr>
                    <a:solidFill>
                      <a:srgbClr val="FAF9F6"/>
                    </a:solidFill>
                    <a:lnB w="6350">
                      <a:solidFill>
                        <a:srgbClr val="E0E0E0"/>
                      </a:solidFill>
                    </a:lnB>
                  </a:tcPr>
                </a:tc>
                <a:tc>
                  <a:txBody>
                    <a:bodyPr/>
                    <a:lstStyle/>
                    <a:p>
                      <a:pPr algn="ctr"/>
                      <a:r>
                        <a:rPr sz="900" b="0">
                          <a:solidFill>
                            <a:srgbClr val="2D3142"/>
                          </a:solidFill>
                          <a:latin typeface="Calibri"/>
                        </a:rPr>
                        <a:t>19</a:t>
                      </a:r>
                      <a:r>
                        <a:rPr sz="900" b="1">
                          <a:solidFill>
                            <a:srgbClr val="2D3142"/>
                          </a:solidFill>
                        </a:rPr>
                        <a:t> CE</a:t>
                      </a:r>
                    </a:p>
                  </a:txBody>
                  <a:tcPr>
                    <a:solidFill>
                      <a:srgbClr val="FAF9F6"/>
                    </a:solidFill>
                    <a:lnB w="6350">
                      <a:solidFill>
                        <a:srgbClr val="E0E0E0"/>
                      </a:solidFill>
                    </a:lnB>
                  </a:tcPr>
                </a:tc>
                <a:tc>
                  <a:txBody>
                    <a:bodyPr/>
                    <a:lstStyle/>
                    <a:p>
                      <a:pPr algn="ctr"/>
                      <a:r>
                        <a:rPr sz="900" b="0">
                          <a:solidFill>
                            <a:srgbClr val="2D3142"/>
                          </a:solidFill>
                          <a:latin typeface="Calibri"/>
                        </a:rPr>
                        <a:t>7</a:t>
                      </a:r>
                    </a:p>
                  </a:txBody>
                  <a:tcPr>
                    <a:solidFill>
                      <a:srgbClr val="FAF9F6"/>
                    </a:solidFill>
                    <a:lnB w="6350">
                      <a:solidFill>
                        <a:srgbClr val="E0E0E0"/>
                      </a:solidFill>
                    </a:lnB>
                  </a:tcPr>
                </a:tc>
                <a:tc>
                  <a:txBody>
                    <a:bodyPr/>
                    <a:lstStyle/>
                    <a:p>
                      <a:pPr algn="ctr"/>
                      <a:r>
                        <a:rPr sz="900" b="0">
                          <a:solidFill>
                            <a:srgbClr val="2D3142"/>
                          </a:solidFill>
                          <a:latin typeface="Calibri"/>
                        </a:rPr>
                        <a:t>19</a:t>
                      </a:r>
                      <a:r>
                        <a:rPr sz="900" b="1">
                          <a:solidFill>
                            <a:srgbClr val="2D3142"/>
                          </a:solidFill>
                        </a:rPr>
                        <a:t> CE</a:t>
                      </a:r>
                    </a:p>
                  </a:txBody>
                  <a:tcPr>
                    <a:solidFill>
                      <a:srgbClr val="FAF9F6"/>
                    </a:solidFill>
                    <a:lnB w="6350">
                      <a:solidFill>
                        <a:srgbClr val="E0E0E0"/>
                      </a:solidFill>
                    </a:lnB>
                  </a:tcPr>
                </a:tc>
                <a:tc>
                  <a:txBody>
                    <a:bodyPr/>
                    <a:lstStyle/>
                    <a:p>
                      <a:pPr algn="ctr"/>
                      <a:r>
                        <a:rPr sz="900" b="0">
                          <a:solidFill>
                            <a:srgbClr val="2D3142"/>
                          </a:solidFill>
                          <a:latin typeface="Calibri"/>
                        </a:rPr>
                        <a:t>3</a:t>
                      </a:r>
                    </a:p>
                  </a:txBody>
                  <a:tcPr>
                    <a:solidFill>
                      <a:srgbClr val="FAF9F6"/>
                    </a:solidFill>
                    <a:lnB w="6350">
                      <a:solidFill>
                        <a:srgbClr val="E0E0E0"/>
                      </a:solidFill>
                    </a:lnB>
                  </a:tcPr>
                </a:tc>
              </a:tr>
              <a:tr h="289997">
                <a:tc>
                  <a:txBody>
                    <a:bodyPr/>
                    <a:lstStyle/>
                    <a:p>
                      <a:pPr algn="l"/>
                      <a:r>
                        <a:rPr sz="900" b="1">
                          <a:solidFill>
                            <a:srgbClr val="2D3142"/>
                          </a:solidFill>
                          <a:latin typeface="Calibri"/>
                        </a:rPr>
                        <a:t>Never</a:t>
                      </a:r>
                    </a:p>
                  </a:txBody>
                  <a:tcPr>
                    <a:solidFill>
                      <a:srgbClr val="FFFFFF"/>
                    </a:solidFill>
                    <a:lnB w="6350">
                      <a:solidFill>
                        <a:srgbClr val="E0E0E0"/>
                      </a:solidFill>
                    </a:lnB>
                  </a:tcPr>
                </a:tc>
                <a:tc>
                  <a:txBody>
                    <a:bodyPr/>
                    <a:lstStyle/>
                    <a:p>
                      <a:pPr algn="ctr"/>
                      <a:r>
                        <a:rPr sz="900" b="0">
                          <a:solidFill>
                            <a:srgbClr val="2D3142"/>
                          </a:solidFill>
                          <a:latin typeface="Calibri"/>
                        </a:rPr>
                        <a:t>12</a:t>
                      </a:r>
                      <a:r>
                        <a:rPr sz="900" b="1">
                          <a:solidFill>
                            <a:srgbClr val="2D3142"/>
                          </a:solidFill>
                        </a:rPr>
                        <a:t> DE</a:t>
                      </a:r>
                    </a:p>
                  </a:txBody>
                  <a:tcPr>
                    <a:solidFill>
                      <a:srgbClr val="FFFFFF"/>
                    </a:solidFill>
                    <a:lnB w="6350">
                      <a:solidFill>
                        <a:srgbClr val="E0E0E0"/>
                      </a:solidFill>
                    </a:lnB>
                  </a:tcPr>
                </a:tc>
                <a:tc>
                  <a:txBody>
                    <a:bodyPr/>
                    <a:lstStyle/>
                    <a:p>
                      <a:pPr algn="ctr"/>
                      <a:r>
                        <a:rPr sz="900" b="0">
                          <a:solidFill>
                            <a:srgbClr val="2D3142"/>
                          </a:solidFill>
                          <a:latin typeface="Calibri"/>
                        </a:rPr>
                        <a:t>40</a:t>
                      </a:r>
                      <a:r>
                        <a:rPr sz="900" b="1">
                          <a:solidFill>
                            <a:srgbClr val="2D3142"/>
                          </a:solidFill>
                        </a:rPr>
                        <a:t> ACDE</a:t>
                      </a:r>
                    </a:p>
                  </a:txBody>
                  <a:tcPr>
                    <a:solidFill>
                      <a:srgbClr val="FFFFFF"/>
                    </a:solidFill>
                    <a:lnB w="6350">
                      <a:solidFill>
                        <a:srgbClr val="E0E0E0"/>
                      </a:solidFill>
                    </a:lnB>
                  </a:tcPr>
                </a:tc>
                <a:tc>
                  <a:txBody>
                    <a:bodyPr/>
                    <a:lstStyle/>
                    <a:p>
                      <a:pPr algn="ctr"/>
                      <a:r>
                        <a:rPr sz="900" b="0">
                          <a:solidFill>
                            <a:srgbClr val="2D3142"/>
                          </a:solidFill>
                          <a:latin typeface="Calibri"/>
                        </a:rPr>
                        <a:t>9</a:t>
                      </a:r>
                      <a:r>
                        <a:rPr sz="900" b="1">
                          <a:solidFill>
                            <a:srgbClr val="2D3142"/>
                          </a:solidFill>
                        </a:rPr>
                        <a:t> DE</a:t>
                      </a:r>
                    </a:p>
                  </a:txBody>
                  <a:tcPr>
                    <a:solidFill>
                      <a:srgbClr val="FFFFFF"/>
                    </a:solidFill>
                    <a:lnB w="6350">
                      <a:solidFill>
                        <a:srgbClr val="E0E0E0"/>
                      </a:solidFill>
                    </a:lnB>
                  </a:tcPr>
                </a:tc>
                <a:tc>
                  <a:txBody>
                    <a:bodyPr/>
                    <a:lstStyle/>
                    <a:p>
                      <a:pPr algn="ctr"/>
                      <a:r>
                        <a:rPr sz="900" b="0">
                          <a:solidFill>
                            <a:srgbClr val="2D3142"/>
                          </a:solidFill>
                          <a:latin typeface="Calibri"/>
                        </a:rPr>
                        <a:t>2</a:t>
                      </a:r>
                    </a:p>
                  </a:txBody>
                  <a:tcPr>
                    <a:solidFill>
                      <a:srgbClr val="FFFFFF"/>
                    </a:solidFill>
                    <a:lnB w="6350">
                      <a:solidFill>
                        <a:srgbClr val="E0E0E0"/>
                      </a:solidFill>
                    </a:lnB>
                  </a:tcPr>
                </a:tc>
                <a:tc>
                  <a:txBody>
                    <a:bodyPr/>
                    <a:lstStyle/>
                    <a:p>
                      <a:pPr algn="ctr"/>
                      <a:r>
                        <a:rPr sz="900" b="0">
                          <a:solidFill>
                            <a:srgbClr val="2D3142"/>
                          </a:solidFill>
                          <a:latin typeface="Calibri"/>
                        </a:rPr>
                        <a:t>3</a:t>
                      </a:r>
                    </a:p>
                  </a:txBody>
                  <a:tcPr>
                    <a:solidFill>
                      <a:srgbClr val="FFFFFF"/>
                    </a:solidFill>
                    <a:lnB w="6350">
                      <a:solidFill>
                        <a:srgbClr val="E0E0E0"/>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Places of Worship Visited</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Temple and shrine visits far exceed church attendance except in Korea, where Christianity drives higher congregational engagement, revealing that spiritual infrastructure shapes behavior more than belief alone, with implications for place-based brand activations.</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Q15. Thinking about your life overall, would you say you generally go to...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Q15. Do you generally go to the following places?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F9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886200" y="1371600"/>
            <a:ext cx="457200" cy="457200"/>
          </a:xfrm>
          <a:prstGeom prst="ellipse">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_Label"/>
          <p:cNvSpPr txBox="1"/>
          <p:nvPr/>
        </p:nvSpPr>
        <p:spPr>
          <a:xfrm>
            <a:off x="4754880" y="2560320"/>
            <a:ext cx="6858000" cy="457200"/>
          </a:xfrm>
          <a:prstGeom prst="rect">
            <a:avLst/>
          </a:prstGeom>
          <a:noFill/>
        </p:spPr>
        <p:txBody>
          <a:bodyPr wrap="none">
            <a:spAutoFit/>
          </a:bodyPr>
          <a:lstStyle/>
          <a:p>
            <a:pPr>
              <a:defRPr sz="1600" b="1">
                <a:solidFill>
                  <a:srgbClr val="F0A060"/>
                </a:solidFill>
                <a:latin typeface="Calibri"/>
              </a:defRPr>
            </a:pPr>
            <a:r>
              <a:t>SECTION 03</a:t>
            </a:r>
          </a:p>
        </p:txBody>
      </p:sp>
      <p:sp>
        <p:nvSpPr>
          <p:cNvPr id="5" name="Section_Title"/>
          <p:cNvSpPr txBox="1"/>
          <p:nvPr/>
        </p:nvSpPr>
        <p:spPr>
          <a:xfrm>
            <a:off x="4709160" y="2926080"/>
            <a:ext cx="6858000" cy="914400"/>
          </a:xfrm>
          <a:prstGeom prst="rect">
            <a:avLst/>
          </a:prstGeom>
          <a:noFill/>
        </p:spPr>
        <p:txBody>
          <a:bodyPr wrap="square">
            <a:spAutoFit/>
          </a:bodyPr>
          <a:lstStyle/>
          <a:p>
            <a:pPr>
              <a:defRPr sz="3800" b="1">
                <a:solidFill>
                  <a:srgbClr val="2D3142"/>
                </a:solidFill>
                <a:latin typeface="Calibri Light"/>
              </a:defRPr>
            </a:pPr>
            <a:r>
              <a:t>Ancestor Veneration &amp; Death Rituals</a:t>
            </a:r>
          </a:p>
        </p:txBody>
      </p:sp>
      <p:sp>
        <p:nvSpPr>
          <p:cNvPr id="6" name="Section_Subtitle"/>
          <p:cNvSpPr txBox="1"/>
          <p:nvPr/>
        </p:nvSpPr>
        <p:spPr>
          <a:xfrm>
            <a:off x="4754880" y="4937760"/>
            <a:ext cx="6858000" cy="731520"/>
          </a:xfrm>
          <a:prstGeom prst="rect">
            <a:avLst/>
          </a:prstGeom>
          <a:noFill/>
        </p:spPr>
        <p:txBody>
          <a:bodyPr wrap="square">
            <a:spAutoFit/>
          </a:bodyPr>
          <a:lstStyle/>
          <a:p>
            <a:pPr>
              <a:defRPr sz="2000">
                <a:solidFill>
                  <a:srgbClr val="888888"/>
                </a:solidFill>
                <a:latin typeface="Calibri"/>
              </a:defRPr>
            </a:pPr>
            <a:r>
              <a:t>The unique role of ancestor worship in East Asia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Funeral Practices &amp; Family Gravesites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Cremation dominates except Vietnam (91% bury), while family gravesites are near-universal in Japan (85%) and Vietnam (84%), reflecting deep ancestor-centricity that sustains ongoing ritual economies around death care and memorialization.</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Q16. People have different ways of taking care of deceased family member...   ·   Base (asked): Total=10,390 | Hong Kong (A)=2,012 | Japan (B)=1,742 | Korea (C)=2,104 | Taiwan (D)=2,277 | Vietnam (E)=2,255  |  Q19. Do you have a family gravesite where the ashes or remains of deceas...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7315200" cy="256032"/>
          </a:xfrm>
          <a:prstGeom prst="rect">
            <a:avLst/>
          </a:prstGeom>
          <a:noFill/>
        </p:spPr>
        <p:txBody>
          <a:bodyPr wrap="square" anchor="t">
            <a:spAutoFit/>
          </a:bodyPr>
          <a:lstStyle/>
          <a:p>
            <a:pPr algn="l"/>
            <a:r>
              <a:rPr sz="1000" b="1">
                <a:solidFill>
                  <a:srgbClr val="2D3142"/>
                </a:solidFill>
                <a:latin typeface="Calibri"/>
              </a:rPr>
              <a:t>Q16. Funeral practices</a:t>
            </a:r>
          </a:p>
        </p:txBody>
      </p:sp>
      <p:graphicFrame>
        <p:nvGraphicFramePr>
          <p:cNvPr id="9" name="Chart 8"/>
          <p:cNvGraphicFramePr>
            <a:graphicFrameLocks noGrp="1"/>
          </p:cNvGraphicFramePr>
          <p:nvPr/>
        </p:nvGraphicFramePr>
        <p:xfrm>
          <a:off x="457200" y="1764792"/>
          <a:ext cx="7315200" cy="4453128"/>
        </p:xfrm>
        <a:graphic>
          <a:graphicData uri="http://schemas.openxmlformats.org/drawingml/2006/chart">
            <c:chart xmlns:c="http://schemas.openxmlformats.org/drawingml/2006/chart" r:id="rId2"/>
          </a:graphicData>
        </a:graphic>
      </p:graphicFrame>
      <p:sp>
        <p:nvSpPr>
          <p:cNvPr id="10" name="TextBox 9"/>
          <p:cNvSpPr txBox="1"/>
          <p:nvPr/>
        </p:nvSpPr>
        <p:spPr>
          <a:xfrm>
            <a:off x="7909560" y="1508760"/>
            <a:ext cx="3657600" cy="256032"/>
          </a:xfrm>
          <a:prstGeom prst="rect">
            <a:avLst/>
          </a:prstGeom>
          <a:noFill/>
        </p:spPr>
        <p:txBody>
          <a:bodyPr wrap="square" anchor="t">
            <a:spAutoFit/>
          </a:bodyPr>
          <a:lstStyle/>
          <a:p>
            <a:pPr algn="l"/>
            <a:r>
              <a:rPr sz="1000" b="1">
                <a:solidFill>
                  <a:srgbClr val="2D3142"/>
                </a:solidFill>
                <a:latin typeface="Calibri"/>
              </a:rPr>
              <a:t>Q19. Have a family gravesite</a:t>
            </a:r>
          </a:p>
        </p:txBody>
      </p:sp>
      <p:graphicFrame>
        <p:nvGraphicFramePr>
          <p:cNvPr id="11" name="Chart 10"/>
          <p:cNvGraphicFramePr>
            <a:graphicFrameLocks noGrp="1"/>
          </p:cNvGraphicFramePr>
          <p:nvPr/>
        </p:nvGraphicFramePr>
        <p:xfrm>
          <a:off x="7909560" y="1764792"/>
          <a:ext cx="3657600"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Importance of Traditional Funeral Rites &amp; Gravesite Visits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Traditional funeral rites are deemed very important by 68% in Vietnam but only 15–27% elsewhere, yet gravesite visitation is frequent across all markets, suggesting ritual adherence persists even when ideological commitment wanes.</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Q18. If you were planning the funeral for a family member or a loved one...   ·   Base (asked): Total=5,828 | Hong Kong (A)=584 | Japan (B)=1,500 | Korea (C)=1,187 | Taiwan (D)=653 | Vietnam (E)=1,904  |  Q21. How often do you visit the family gravesite, if at all?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Q18. Importance of following traditional funeral rites</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Q21. Frequency of gravesite visits</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Offerings to Ancestors in Past 12 Months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Ancestor offerings are near-universal in Vietnam (96% burn incense) and widespread elsewhere, with money/goods offerings highest in Taiwan (70%) and Vietnam (73%), indicating belief in a material afterlife that sustains ritual consumption categories.</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Q22. In the past 12 months, have you done each of the following activiti...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Q22. Have you done each of the following to honor ancestors?</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Communication with Ancestors &amp; Spiritual Experiences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Vietnam leads in feeling ancestors have helped them (79%), while dream visitations are common across Japan (28%), Korea (29%), and Taiwan (31%), revealing ancestors function as active spiritual agents rather than passive memory, deepening emotional stakes in ritual practice.</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Q23. In the past 12 months, have you told your ancestors about events in...   ·   Base (asked): Total=10,390 | Hong Kong (A)=2,012 | Japan (B)=1,742 | Korea (C)=2,104 | Taiwan (D)=2,277 | Vietnam (E)=2,255  |  Q24. Have you ever felt that a spirit of an ancestor has done each of th...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Q23. Told ancestors about events in your life</a:t>
            </a:r>
          </a:p>
        </p:txBody>
      </p:sp>
      <p:graphicFrame>
        <p:nvGraphicFramePr>
          <p:cNvPr id="9" name="Chart 8"/>
          <p:cNvGraphicFramePr>
            <a:graphicFrameLocks noGrp="1"/>
          </p:cNvGraphicFramePr>
          <p:nvPr/>
        </p:nvGraphicFramePr>
        <p:xfrm>
          <a:off x="457200" y="1764792"/>
          <a:ext cx="11277295" cy="2029967"/>
        </p:xfrm>
        <a:graphic>
          <a:graphicData uri="http://schemas.openxmlformats.org/drawingml/2006/chart">
            <c:chart xmlns:c="http://schemas.openxmlformats.org/drawingml/2006/chart" r:id="rId2"/>
          </a:graphicData>
        </a:graphic>
      </p:graphicFrame>
      <p:sp>
        <p:nvSpPr>
          <p:cNvPr id="10" name="TextBox 9"/>
          <p:cNvSpPr txBox="1"/>
          <p:nvPr/>
        </p:nvSpPr>
        <p:spPr>
          <a:xfrm>
            <a:off x="457200" y="3931920"/>
            <a:ext cx="11277295" cy="256032"/>
          </a:xfrm>
          <a:prstGeom prst="rect">
            <a:avLst/>
          </a:prstGeom>
          <a:noFill/>
        </p:spPr>
        <p:txBody>
          <a:bodyPr wrap="square" anchor="t">
            <a:spAutoFit/>
          </a:bodyPr>
          <a:lstStyle/>
          <a:p>
            <a:pPr algn="l"/>
            <a:r>
              <a:rPr sz="1000" b="1">
                <a:solidFill>
                  <a:srgbClr val="2D3142"/>
                </a:solidFill>
                <a:latin typeface="Calibri"/>
              </a:rPr>
              <a:t>Q24. Felt that an ancestor has helped you, punished you, or visited you</a:t>
            </a:r>
          </a:p>
        </p:txBody>
      </p:sp>
      <p:graphicFrame>
        <p:nvGraphicFramePr>
          <p:cNvPr id="11" name="Table 10"/>
          <p:cNvGraphicFramePr>
            <a:graphicFrameLocks noGrp="1"/>
          </p:cNvGraphicFramePr>
          <p:nvPr/>
        </p:nvGraphicFramePr>
        <p:xfrm>
          <a:off x="457200" y="4187952"/>
          <a:ext cx="11277293" cy="2029967"/>
        </p:xfrm>
        <a:graphic>
          <a:graphicData uri="http://schemas.openxmlformats.org/drawingml/2006/table">
            <a:tbl>
              <a:tblPr firstRow="1" bandRow="1">
                <a:tableStyleId>{5C22544A-7EE6-4342-B048-85BDC9FD1C3A}</a:tableStyleId>
              </a:tblPr>
              <a:tblGrid>
                <a:gridCol w="3947053"/>
                <a:gridCol w="1466048"/>
                <a:gridCol w="1466048"/>
                <a:gridCol w="1466048"/>
                <a:gridCol w="1466048"/>
                <a:gridCol w="1466048"/>
              </a:tblGrid>
              <a:tr h="338327">
                <a:tc>
                  <a:txBody>
                    <a:bodyPr/>
                    <a:lstStyle/>
                    <a:p>
                      <a:pPr algn="l"/>
                    </a:p>
                  </a:txBody>
                  <a:tcPr>
                    <a:solidFill>
                      <a:srgbClr val="2D3142"/>
                    </a:solidFill>
                    <a:lnB w="6350">
                      <a:solidFill>
                        <a:srgbClr val="E0E0E0"/>
                      </a:solidFill>
                    </a:lnB>
                  </a:tcPr>
                </a:tc>
                <a:tc>
                  <a:txBody>
                    <a:bodyPr/>
                    <a:lstStyle/>
                    <a:p>
                      <a:pPr algn="ctr"/>
                      <a:r>
                        <a:rPr sz="900" b="1">
                          <a:solidFill>
                            <a:srgbClr val="FFFFFF"/>
                          </a:solidFill>
                          <a:latin typeface="Calibri"/>
                        </a:rPr>
                        <a:t>Hong Kong (A)</a:t>
                      </a:r>
                    </a:p>
                  </a:txBody>
                  <a:tcPr>
                    <a:solidFill>
                      <a:srgbClr val="2D3142"/>
                    </a:solidFill>
                    <a:lnB w="6350">
                      <a:solidFill>
                        <a:srgbClr val="E0E0E0"/>
                      </a:solidFill>
                    </a:lnB>
                  </a:tcPr>
                </a:tc>
                <a:tc>
                  <a:txBody>
                    <a:bodyPr/>
                    <a:lstStyle/>
                    <a:p>
                      <a:pPr algn="ctr"/>
                      <a:r>
                        <a:rPr sz="900" b="1">
                          <a:solidFill>
                            <a:srgbClr val="FFFFFF"/>
                          </a:solidFill>
                          <a:latin typeface="Calibri"/>
                        </a:rPr>
                        <a:t>Japan (B)</a:t>
                      </a:r>
                    </a:p>
                  </a:txBody>
                  <a:tcPr>
                    <a:solidFill>
                      <a:srgbClr val="2D3142"/>
                    </a:solidFill>
                    <a:lnB w="6350">
                      <a:solidFill>
                        <a:srgbClr val="E0E0E0"/>
                      </a:solidFill>
                    </a:lnB>
                  </a:tcPr>
                </a:tc>
                <a:tc>
                  <a:txBody>
                    <a:bodyPr/>
                    <a:lstStyle/>
                    <a:p>
                      <a:pPr algn="ctr"/>
                      <a:r>
                        <a:rPr sz="900" b="1">
                          <a:solidFill>
                            <a:srgbClr val="FFFFFF"/>
                          </a:solidFill>
                          <a:latin typeface="Calibri"/>
                        </a:rPr>
                        <a:t>Korea (C)</a:t>
                      </a:r>
                    </a:p>
                  </a:txBody>
                  <a:tcPr>
                    <a:solidFill>
                      <a:srgbClr val="2D3142"/>
                    </a:solidFill>
                    <a:lnB w="6350">
                      <a:solidFill>
                        <a:srgbClr val="E0E0E0"/>
                      </a:solidFill>
                    </a:lnB>
                  </a:tcPr>
                </a:tc>
                <a:tc>
                  <a:txBody>
                    <a:bodyPr/>
                    <a:lstStyle/>
                    <a:p>
                      <a:pPr algn="ctr"/>
                      <a:r>
                        <a:rPr sz="900" b="1">
                          <a:solidFill>
                            <a:srgbClr val="FFFFFF"/>
                          </a:solidFill>
                          <a:latin typeface="Calibri"/>
                        </a:rPr>
                        <a:t>Taiwan (D)</a:t>
                      </a:r>
                    </a:p>
                  </a:txBody>
                  <a:tcPr>
                    <a:solidFill>
                      <a:srgbClr val="2D3142"/>
                    </a:solidFill>
                    <a:lnB w="6350">
                      <a:solidFill>
                        <a:srgbClr val="E0E0E0"/>
                      </a:solidFill>
                    </a:lnB>
                  </a:tcPr>
                </a:tc>
                <a:tc>
                  <a:txBody>
                    <a:bodyPr/>
                    <a:lstStyle/>
                    <a:p>
                      <a:pPr algn="ctr"/>
                      <a:r>
                        <a:rPr sz="900" b="1">
                          <a:solidFill>
                            <a:srgbClr val="FFFFFF"/>
                          </a:solidFill>
                          <a:latin typeface="Calibri"/>
                        </a:rPr>
                        <a:t>Vietnam (E)</a:t>
                      </a:r>
                    </a:p>
                  </a:txBody>
                  <a:tcPr>
                    <a:solidFill>
                      <a:srgbClr val="2D3142"/>
                    </a:solidFill>
                    <a:lnB w="6350">
                      <a:solidFill>
                        <a:srgbClr val="E0E0E0"/>
                      </a:solidFill>
                    </a:lnB>
                  </a:tcPr>
                </a:tc>
              </a:tr>
              <a:tr h="338327">
                <a:tc>
                  <a:txBody>
                    <a:bodyPr/>
                    <a:lstStyle/>
                    <a:p>
                      <a:pPr algn="l"/>
                      <a:r>
                        <a:rPr sz="900" b="1">
                          <a:solidFill>
                            <a:srgbClr val="2D3142"/>
                          </a:solidFill>
                          <a:latin typeface="Calibri"/>
                        </a:rPr>
                        <a:t>Base (asked)</a:t>
                      </a:r>
                    </a:p>
                  </a:txBody>
                  <a:tcPr>
                    <a:solidFill>
                      <a:srgbClr val="F9EAE5"/>
                    </a:solidFill>
                    <a:lnB w="6350">
                      <a:solidFill>
                        <a:srgbClr val="E0E0E0"/>
                      </a:solidFill>
                    </a:lnB>
                  </a:tcPr>
                </a:tc>
                <a:tc>
                  <a:txBody>
                    <a:bodyPr/>
                    <a:lstStyle/>
                    <a:p>
                      <a:pPr algn="ctr"/>
                      <a:r>
                        <a:rPr sz="900" b="1">
                          <a:solidFill>
                            <a:srgbClr val="2D3142"/>
                          </a:solidFill>
                          <a:latin typeface="Calibri"/>
                        </a:rPr>
                        <a:t>2012</a:t>
                      </a:r>
                    </a:p>
                  </a:txBody>
                  <a:tcPr>
                    <a:solidFill>
                      <a:srgbClr val="F9EAE5"/>
                    </a:solidFill>
                    <a:lnB w="6350">
                      <a:solidFill>
                        <a:srgbClr val="E0E0E0"/>
                      </a:solidFill>
                    </a:lnB>
                  </a:tcPr>
                </a:tc>
                <a:tc>
                  <a:txBody>
                    <a:bodyPr/>
                    <a:lstStyle/>
                    <a:p>
                      <a:pPr algn="ctr"/>
                      <a:r>
                        <a:rPr sz="900" b="1">
                          <a:solidFill>
                            <a:srgbClr val="2D3142"/>
                          </a:solidFill>
                          <a:latin typeface="Calibri"/>
                        </a:rPr>
                        <a:t>1742</a:t>
                      </a:r>
                    </a:p>
                  </a:txBody>
                  <a:tcPr>
                    <a:solidFill>
                      <a:srgbClr val="F9EAE5"/>
                    </a:solidFill>
                    <a:lnB w="6350">
                      <a:solidFill>
                        <a:srgbClr val="E0E0E0"/>
                      </a:solidFill>
                    </a:lnB>
                  </a:tcPr>
                </a:tc>
                <a:tc>
                  <a:txBody>
                    <a:bodyPr/>
                    <a:lstStyle/>
                    <a:p>
                      <a:pPr algn="ctr"/>
                      <a:r>
                        <a:rPr sz="900" b="1">
                          <a:solidFill>
                            <a:srgbClr val="2D3142"/>
                          </a:solidFill>
                          <a:latin typeface="Calibri"/>
                        </a:rPr>
                        <a:t>2104</a:t>
                      </a:r>
                    </a:p>
                  </a:txBody>
                  <a:tcPr>
                    <a:solidFill>
                      <a:srgbClr val="F9EAE5"/>
                    </a:solidFill>
                    <a:lnB w="6350">
                      <a:solidFill>
                        <a:srgbClr val="E0E0E0"/>
                      </a:solidFill>
                    </a:lnB>
                  </a:tcPr>
                </a:tc>
                <a:tc>
                  <a:txBody>
                    <a:bodyPr/>
                    <a:lstStyle/>
                    <a:p>
                      <a:pPr algn="ctr"/>
                      <a:r>
                        <a:rPr sz="900" b="1">
                          <a:solidFill>
                            <a:srgbClr val="2D3142"/>
                          </a:solidFill>
                          <a:latin typeface="Calibri"/>
                        </a:rPr>
                        <a:t>2277</a:t>
                      </a:r>
                    </a:p>
                  </a:txBody>
                  <a:tcPr>
                    <a:solidFill>
                      <a:srgbClr val="F9EAE5"/>
                    </a:solidFill>
                    <a:lnB w="6350">
                      <a:solidFill>
                        <a:srgbClr val="E0E0E0"/>
                      </a:solidFill>
                    </a:lnB>
                  </a:tcPr>
                </a:tc>
                <a:tc>
                  <a:txBody>
                    <a:bodyPr/>
                    <a:lstStyle/>
                    <a:p>
                      <a:pPr algn="ctr"/>
                      <a:r>
                        <a:rPr sz="900" b="1">
                          <a:solidFill>
                            <a:srgbClr val="2D3142"/>
                          </a:solidFill>
                          <a:latin typeface="Calibri"/>
                        </a:rPr>
                        <a:t>2255</a:t>
                      </a:r>
                    </a:p>
                  </a:txBody>
                  <a:tcPr>
                    <a:solidFill>
                      <a:srgbClr val="F9EAE5"/>
                    </a:solidFill>
                    <a:lnB w="6350">
                      <a:solidFill>
                        <a:srgbClr val="E0E0E0"/>
                      </a:solidFill>
                    </a:lnB>
                  </a:tcPr>
                </a:tc>
              </a:tr>
              <a:tr h="338327">
                <a:tc>
                  <a:txBody>
                    <a:bodyPr/>
                    <a:lstStyle/>
                    <a:p>
                      <a:pPr algn="l"/>
                      <a:r>
                        <a:rPr sz="900" b="1">
                          <a:solidFill>
                            <a:srgbClr val="2D3142"/>
                          </a:solidFill>
                          <a:latin typeface="Calibri"/>
                        </a:rPr>
                        <a:t>Helped you</a:t>
                      </a:r>
                    </a:p>
                  </a:txBody>
                  <a:tcPr>
                    <a:solidFill>
                      <a:srgbClr val="FFFFFF"/>
                    </a:solidFill>
                    <a:lnB w="6350">
                      <a:solidFill>
                        <a:srgbClr val="E0E0E0"/>
                      </a:solidFill>
                    </a:lnB>
                  </a:tcPr>
                </a:tc>
                <a:tc>
                  <a:txBody>
                    <a:bodyPr/>
                    <a:lstStyle/>
                    <a:p>
                      <a:pPr algn="ctr"/>
                      <a:r>
                        <a:rPr sz="900" b="0">
                          <a:solidFill>
                            <a:srgbClr val="2D3142"/>
                          </a:solidFill>
                          <a:latin typeface="Calibri"/>
                        </a:rPr>
                        <a:t>22</a:t>
                      </a:r>
                    </a:p>
                  </a:txBody>
                  <a:tcPr>
                    <a:solidFill>
                      <a:srgbClr val="FFFFFF"/>
                    </a:solidFill>
                    <a:lnB w="6350">
                      <a:solidFill>
                        <a:srgbClr val="E0E0E0"/>
                      </a:solidFill>
                    </a:lnB>
                  </a:tcPr>
                </a:tc>
                <a:tc>
                  <a:txBody>
                    <a:bodyPr/>
                    <a:lstStyle/>
                    <a:p>
                      <a:pPr algn="ctr"/>
                      <a:r>
                        <a:rPr sz="900" b="0">
                          <a:solidFill>
                            <a:srgbClr val="2D3142"/>
                          </a:solidFill>
                          <a:latin typeface="Calibri"/>
                        </a:rPr>
                        <a:t>35</a:t>
                      </a:r>
                      <a:r>
                        <a:rPr sz="900" b="1">
                          <a:solidFill>
                            <a:srgbClr val="2D3142"/>
                          </a:solidFill>
                        </a:rPr>
                        <a:t> AC</a:t>
                      </a:r>
                    </a:p>
                  </a:txBody>
                  <a:tcPr>
                    <a:solidFill>
                      <a:srgbClr val="FFFFFF"/>
                    </a:solidFill>
                    <a:lnB w="6350">
                      <a:solidFill>
                        <a:srgbClr val="E0E0E0"/>
                      </a:solidFill>
                    </a:lnB>
                  </a:tcPr>
                </a:tc>
                <a:tc>
                  <a:txBody>
                    <a:bodyPr/>
                    <a:lstStyle/>
                    <a:p>
                      <a:pPr algn="ctr"/>
                      <a:r>
                        <a:rPr sz="900" b="0">
                          <a:solidFill>
                            <a:srgbClr val="2D3142"/>
                          </a:solidFill>
                          <a:latin typeface="Calibri"/>
                        </a:rPr>
                        <a:t>26</a:t>
                      </a:r>
                      <a:r>
                        <a:rPr sz="900" b="1">
                          <a:solidFill>
                            <a:srgbClr val="2D3142"/>
                          </a:solidFill>
                        </a:rPr>
                        <a:t> A</a:t>
                      </a:r>
                    </a:p>
                  </a:txBody>
                  <a:tcPr>
                    <a:solidFill>
                      <a:srgbClr val="FFFFFF"/>
                    </a:solidFill>
                    <a:lnB w="6350">
                      <a:solidFill>
                        <a:srgbClr val="E0E0E0"/>
                      </a:solidFill>
                    </a:lnB>
                  </a:tcPr>
                </a:tc>
                <a:tc>
                  <a:txBody>
                    <a:bodyPr/>
                    <a:lstStyle/>
                    <a:p>
                      <a:pPr algn="ctr"/>
                      <a:r>
                        <a:rPr sz="900" b="0">
                          <a:solidFill>
                            <a:srgbClr val="2D3142"/>
                          </a:solidFill>
                          <a:latin typeface="Calibri"/>
                        </a:rPr>
                        <a:t>38</a:t>
                      </a:r>
                      <a:r>
                        <a:rPr sz="900" b="1">
                          <a:solidFill>
                            <a:srgbClr val="2D3142"/>
                          </a:solidFill>
                        </a:rPr>
                        <a:t> AC</a:t>
                      </a:r>
                    </a:p>
                  </a:txBody>
                  <a:tcPr>
                    <a:solidFill>
                      <a:srgbClr val="FFFFFF"/>
                    </a:solidFill>
                    <a:lnB w="6350">
                      <a:solidFill>
                        <a:srgbClr val="E0E0E0"/>
                      </a:solidFill>
                    </a:lnB>
                  </a:tcPr>
                </a:tc>
                <a:tc>
                  <a:txBody>
                    <a:bodyPr/>
                    <a:lstStyle/>
                    <a:p>
                      <a:pPr algn="ctr"/>
                      <a:r>
                        <a:rPr sz="900" b="0">
                          <a:solidFill>
                            <a:srgbClr val="2D3142"/>
                          </a:solidFill>
                          <a:latin typeface="Calibri"/>
                        </a:rPr>
                        <a:t>79</a:t>
                      </a:r>
                      <a:r>
                        <a:rPr sz="900" b="1">
                          <a:solidFill>
                            <a:srgbClr val="2D3142"/>
                          </a:solidFill>
                        </a:rPr>
                        <a:t> ABCD</a:t>
                      </a:r>
                    </a:p>
                  </a:txBody>
                  <a:tcPr>
                    <a:solidFill>
                      <a:srgbClr val="FFFFFF"/>
                    </a:solidFill>
                    <a:lnB w="6350">
                      <a:solidFill>
                        <a:srgbClr val="E0E0E0"/>
                      </a:solidFill>
                    </a:lnB>
                  </a:tcPr>
                </a:tc>
              </a:tr>
              <a:tr h="338327">
                <a:tc>
                  <a:txBody>
                    <a:bodyPr/>
                    <a:lstStyle/>
                    <a:p>
                      <a:pPr algn="l"/>
                      <a:r>
                        <a:rPr sz="900" b="1">
                          <a:solidFill>
                            <a:srgbClr val="2D3142"/>
                          </a:solidFill>
                          <a:latin typeface="Calibri"/>
                        </a:rPr>
                        <a:t>Punished you</a:t>
                      </a:r>
                    </a:p>
                  </a:txBody>
                  <a:tcPr>
                    <a:solidFill>
                      <a:srgbClr val="FAF9F6"/>
                    </a:solidFill>
                    <a:lnB w="6350">
                      <a:solidFill>
                        <a:srgbClr val="E0E0E0"/>
                      </a:solidFill>
                    </a:lnB>
                  </a:tcPr>
                </a:tc>
                <a:tc>
                  <a:txBody>
                    <a:bodyPr/>
                    <a:lstStyle/>
                    <a:p>
                      <a:pPr algn="ctr"/>
                      <a:r>
                        <a:rPr sz="900" b="0">
                          <a:solidFill>
                            <a:srgbClr val="2D3142"/>
                          </a:solidFill>
                          <a:latin typeface="Calibri"/>
                        </a:rPr>
                        <a:t>4</a:t>
                      </a:r>
                    </a:p>
                  </a:txBody>
                  <a:tcPr>
                    <a:solidFill>
                      <a:srgbClr val="FAF9F6"/>
                    </a:solidFill>
                    <a:lnB w="6350">
                      <a:solidFill>
                        <a:srgbClr val="E0E0E0"/>
                      </a:solidFill>
                    </a:lnB>
                  </a:tcPr>
                </a:tc>
                <a:tc>
                  <a:txBody>
                    <a:bodyPr/>
                    <a:lstStyle/>
                    <a:p>
                      <a:pPr algn="ctr"/>
                      <a:r>
                        <a:rPr sz="900" b="0">
                          <a:solidFill>
                            <a:srgbClr val="2D3142"/>
                          </a:solidFill>
                          <a:latin typeface="Calibri"/>
                        </a:rPr>
                        <a:t>10</a:t>
                      </a:r>
                      <a:r>
                        <a:rPr sz="900" b="1">
                          <a:solidFill>
                            <a:srgbClr val="2D3142"/>
                          </a:solidFill>
                        </a:rPr>
                        <a:t> Ac</a:t>
                      </a:r>
                    </a:p>
                  </a:txBody>
                  <a:tcPr>
                    <a:solidFill>
                      <a:srgbClr val="FAF9F6"/>
                    </a:solidFill>
                    <a:lnB w="6350">
                      <a:solidFill>
                        <a:srgbClr val="E0E0E0"/>
                      </a:solidFill>
                    </a:lnB>
                  </a:tcPr>
                </a:tc>
                <a:tc>
                  <a:txBody>
                    <a:bodyPr/>
                    <a:lstStyle/>
                    <a:p>
                      <a:pPr algn="ctr"/>
                      <a:r>
                        <a:rPr sz="900" b="0">
                          <a:solidFill>
                            <a:srgbClr val="2D3142"/>
                          </a:solidFill>
                          <a:latin typeface="Calibri"/>
                        </a:rPr>
                        <a:t>8</a:t>
                      </a:r>
                      <a:r>
                        <a:rPr sz="900" b="1">
                          <a:solidFill>
                            <a:srgbClr val="2D3142"/>
                          </a:solidFill>
                        </a:rPr>
                        <a:t> A</a:t>
                      </a:r>
                    </a:p>
                  </a:txBody>
                  <a:tcPr>
                    <a:solidFill>
                      <a:srgbClr val="FAF9F6"/>
                    </a:solidFill>
                    <a:lnB w="6350">
                      <a:solidFill>
                        <a:srgbClr val="E0E0E0"/>
                      </a:solidFill>
                    </a:lnB>
                  </a:tcPr>
                </a:tc>
                <a:tc>
                  <a:txBody>
                    <a:bodyPr/>
                    <a:lstStyle/>
                    <a:p>
                      <a:pPr algn="ctr"/>
                      <a:r>
                        <a:rPr sz="900" b="0">
                          <a:solidFill>
                            <a:srgbClr val="2D3142"/>
                          </a:solidFill>
                          <a:latin typeface="Calibri"/>
                        </a:rPr>
                        <a:t>9</a:t>
                      </a:r>
                      <a:r>
                        <a:rPr sz="900" b="1">
                          <a:solidFill>
                            <a:srgbClr val="2D3142"/>
                          </a:solidFill>
                        </a:rPr>
                        <a:t> A</a:t>
                      </a:r>
                    </a:p>
                  </a:txBody>
                  <a:tcPr>
                    <a:solidFill>
                      <a:srgbClr val="FAF9F6"/>
                    </a:solidFill>
                    <a:lnB w="6350">
                      <a:solidFill>
                        <a:srgbClr val="E0E0E0"/>
                      </a:solidFill>
                    </a:lnB>
                  </a:tcPr>
                </a:tc>
                <a:tc>
                  <a:txBody>
                    <a:bodyPr/>
                    <a:lstStyle/>
                    <a:p>
                      <a:pPr algn="ctr"/>
                      <a:r>
                        <a:rPr sz="900" b="0">
                          <a:solidFill>
                            <a:srgbClr val="2D3142"/>
                          </a:solidFill>
                          <a:latin typeface="Calibri"/>
                        </a:rPr>
                        <a:t>13</a:t>
                      </a:r>
                      <a:r>
                        <a:rPr sz="900" b="1">
                          <a:solidFill>
                            <a:srgbClr val="2D3142"/>
                          </a:solidFill>
                        </a:rPr>
                        <a:t> ABCD</a:t>
                      </a:r>
                    </a:p>
                  </a:txBody>
                  <a:tcPr>
                    <a:solidFill>
                      <a:srgbClr val="FAF9F6"/>
                    </a:solidFill>
                    <a:lnB w="6350">
                      <a:solidFill>
                        <a:srgbClr val="E0E0E0"/>
                      </a:solidFill>
                    </a:lnB>
                  </a:tcPr>
                </a:tc>
              </a:tr>
              <a:tr h="338327">
                <a:tc>
                  <a:txBody>
                    <a:bodyPr/>
                    <a:lstStyle/>
                    <a:p>
                      <a:pPr algn="l"/>
                      <a:r>
                        <a:rPr sz="900" b="1">
                          <a:solidFill>
                            <a:srgbClr val="2D3142"/>
                          </a:solidFill>
                          <a:latin typeface="Calibri"/>
                        </a:rPr>
                        <a:t>Come to visit you in a dream</a:t>
                      </a:r>
                    </a:p>
                  </a:txBody>
                  <a:tcPr>
                    <a:solidFill>
                      <a:srgbClr val="FFFFFF"/>
                    </a:solidFill>
                    <a:lnB w="6350">
                      <a:solidFill>
                        <a:srgbClr val="E0E0E0"/>
                      </a:solidFill>
                    </a:lnB>
                  </a:tcPr>
                </a:tc>
                <a:tc>
                  <a:txBody>
                    <a:bodyPr/>
                    <a:lstStyle/>
                    <a:p>
                      <a:pPr algn="ctr"/>
                      <a:r>
                        <a:rPr sz="900" b="0">
                          <a:solidFill>
                            <a:srgbClr val="2D3142"/>
                          </a:solidFill>
                          <a:latin typeface="Calibri"/>
                        </a:rPr>
                        <a:t>12</a:t>
                      </a:r>
                    </a:p>
                  </a:txBody>
                  <a:tcPr>
                    <a:solidFill>
                      <a:srgbClr val="FFFFFF"/>
                    </a:solidFill>
                    <a:lnB w="6350">
                      <a:solidFill>
                        <a:srgbClr val="E0E0E0"/>
                      </a:solidFill>
                    </a:lnB>
                  </a:tcPr>
                </a:tc>
                <a:tc>
                  <a:txBody>
                    <a:bodyPr/>
                    <a:lstStyle/>
                    <a:p>
                      <a:pPr algn="ctr"/>
                      <a:r>
                        <a:rPr sz="900" b="0">
                          <a:solidFill>
                            <a:srgbClr val="2D3142"/>
                          </a:solidFill>
                          <a:latin typeface="Calibri"/>
                        </a:rPr>
                        <a:t>28</a:t>
                      </a:r>
                      <a:r>
                        <a:rPr sz="900" b="1">
                          <a:solidFill>
                            <a:srgbClr val="2D3142"/>
                          </a:solidFill>
                        </a:rPr>
                        <a:t> A</a:t>
                      </a:r>
                    </a:p>
                  </a:txBody>
                  <a:tcPr>
                    <a:solidFill>
                      <a:srgbClr val="FFFFFF"/>
                    </a:solidFill>
                    <a:lnB w="6350">
                      <a:solidFill>
                        <a:srgbClr val="E0E0E0"/>
                      </a:solidFill>
                    </a:lnB>
                  </a:tcPr>
                </a:tc>
                <a:tc>
                  <a:txBody>
                    <a:bodyPr/>
                    <a:lstStyle/>
                    <a:p>
                      <a:pPr algn="ctr"/>
                      <a:r>
                        <a:rPr sz="900" b="0">
                          <a:solidFill>
                            <a:srgbClr val="2D3142"/>
                          </a:solidFill>
                          <a:latin typeface="Calibri"/>
                        </a:rPr>
                        <a:t>29</a:t>
                      </a:r>
                      <a:r>
                        <a:rPr sz="900" b="1">
                          <a:solidFill>
                            <a:srgbClr val="2D3142"/>
                          </a:solidFill>
                        </a:rPr>
                        <a:t> A</a:t>
                      </a:r>
                    </a:p>
                  </a:txBody>
                  <a:tcPr>
                    <a:solidFill>
                      <a:srgbClr val="FFFFFF"/>
                    </a:solidFill>
                    <a:lnB w="6350">
                      <a:solidFill>
                        <a:srgbClr val="E0E0E0"/>
                      </a:solidFill>
                    </a:lnB>
                  </a:tcPr>
                </a:tc>
                <a:tc>
                  <a:txBody>
                    <a:bodyPr/>
                    <a:lstStyle/>
                    <a:p>
                      <a:pPr algn="ctr"/>
                      <a:r>
                        <a:rPr sz="900" b="0">
                          <a:solidFill>
                            <a:srgbClr val="2D3142"/>
                          </a:solidFill>
                          <a:latin typeface="Calibri"/>
                        </a:rPr>
                        <a:t>31</a:t>
                      </a:r>
                      <a:r>
                        <a:rPr sz="900" b="1">
                          <a:solidFill>
                            <a:srgbClr val="2D3142"/>
                          </a:solidFill>
                        </a:rPr>
                        <a:t> A</a:t>
                      </a:r>
                    </a:p>
                  </a:txBody>
                  <a:tcPr>
                    <a:solidFill>
                      <a:srgbClr val="FFFFFF"/>
                    </a:solidFill>
                    <a:lnB w="6350">
                      <a:solidFill>
                        <a:srgbClr val="E0E0E0"/>
                      </a:solidFill>
                    </a:lnB>
                  </a:tcPr>
                </a:tc>
                <a:tc>
                  <a:txBody>
                    <a:bodyPr/>
                    <a:lstStyle/>
                    <a:p>
                      <a:pPr algn="ctr"/>
                      <a:r>
                        <a:rPr sz="900" b="0">
                          <a:solidFill>
                            <a:srgbClr val="2D3142"/>
                          </a:solidFill>
                          <a:latin typeface="Calibri"/>
                        </a:rPr>
                        <a:t>40</a:t>
                      </a:r>
                      <a:r>
                        <a:rPr sz="900" b="1">
                          <a:solidFill>
                            <a:srgbClr val="2D3142"/>
                          </a:solidFill>
                        </a:rPr>
                        <a:t> ABCD</a:t>
                      </a:r>
                    </a:p>
                  </a:txBody>
                  <a:tcPr>
                    <a:solidFill>
                      <a:srgbClr val="FFFFFF"/>
                    </a:solidFill>
                    <a:lnB w="6350">
                      <a:solidFill>
                        <a:srgbClr val="E0E0E0"/>
                      </a:solidFill>
                    </a:lnB>
                  </a:tcPr>
                </a:tc>
              </a:tr>
              <a:tr h="338332">
                <a:tc>
                  <a:txBody>
                    <a:bodyPr/>
                    <a:lstStyle/>
                    <a:p>
                      <a:pPr algn="l"/>
                      <a:r>
                        <a:rPr sz="900" b="1">
                          <a:solidFill>
                            <a:srgbClr val="2D3142"/>
                          </a:solidFill>
                          <a:latin typeface="Calibri"/>
                        </a:rPr>
                        <a:t>Come to be with you in any other form</a:t>
                      </a:r>
                    </a:p>
                  </a:txBody>
                  <a:tcPr>
                    <a:solidFill>
                      <a:srgbClr val="FAF9F6"/>
                    </a:solidFill>
                    <a:lnB w="6350">
                      <a:solidFill>
                        <a:srgbClr val="E0E0E0"/>
                      </a:solidFill>
                    </a:lnB>
                  </a:tcPr>
                </a:tc>
                <a:tc>
                  <a:txBody>
                    <a:bodyPr/>
                    <a:lstStyle/>
                    <a:p>
                      <a:pPr algn="ctr"/>
                      <a:r>
                        <a:rPr sz="900" b="0">
                          <a:solidFill>
                            <a:srgbClr val="2D3142"/>
                          </a:solidFill>
                          <a:latin typeface="Calibri"/>
                        </a:rPr>
                        <a:t>8</a:t>
                      </a:r>
                    </a:p>
                  </a:txBody>
                  <a:tcPr>
                    <a:solidFill>
                      <a:srgbClr val="FAF9F6"/>
                    </a:solidFill>
                    <a:lnB w="6350">
                      <a:solidFill>
                        <a:srgbClr val="E0E0E0"/>
                      </a:solidFill>
                    </a:lnB>
                  </a:tcPr>
                </a:tc>
                <a:tc>
                  <a:txBody>
                    <a:bodyPr/>
                    <a:lstStyle/>
                    <a:p>
                      <a:pPr algn="ctr"/>
                      <a:r>
                        <a:rPr sz="900" b="0">
                          <a:solidFill>
                            <a:srgbClr val="2D3142"/>
                          </a:solidFill>
                          <a:latin typeface="Calibri"/>
                        </a:rPr>
                        <a:t>21</a:t>
                      </a:r>
                      <a:r>
                        <a:rPr sz="900" b="1">
                          <a:solidFill>
                            <a:srgbClr val="2D3142"/>
                          </a:solidFill>
                        </a:rPr>
                        <a:t> ADE</a:t>
                      </a:r>
                    </a:p>
                  </a:txBody>
                  <a:tcPr>
                    <a:solidFill>
                      <a:srgbClr val="FAF9F6"/>
                    </a:solidFill>
                    <a:lnB w="6350">
                      <a:solidFill>
                        <a:srgbClr val="E0E0E0"/>
                      </a:solidFill>
                    </a:lnB>
                  </a:tcPr>
                </a:tc>
                <a:tc>
                  <a:txBody>
                    <a:bodyPr/>
                    <a:lstStyle/>
                    <a:p>
                      <a:pPr algn="ctr"/>
                      <a:r>
                        <a:rPr sz="900" b="0">
                          <a:solidFill>
                            <a:srgbClr val="2D3142"/>
                          </a:solidFill>
                          <a:latin typeface="Calibri"/>
                        </a:rPr>
                        <a:t>26</a:t>
                      </a:r>
                      <a:r>
                        <a:rPr sz="900" b="1">
                          <a:solidFill>
                            <a:srgbClr val="2D3142"/>
                          </a:solidFill>
                        </a:rPr>
                        <a:t> ABDE</a:t>
                      </a:r>
                    </a:p>
                  </a:txBody>
                  <a:tcPr>
                    <a:solidFill>
                      <a:srgbClr val="FAF9F6"/>
                    </a:solidFill>
                    <a:lnB w="6350">
                      <a:solidFill>
                        <a:srgbClr val="E0E0E0"/>
                      </a:solidFill>
                    </a:lnB>
                  </a:tcPr>
                </a:tc>
                <a:tc>
                  <a:txBody>
                    <a:bodyPr/>
                    <a:lstStyle/>
                    <a:p>
                      <a:pPr algn="ctr"/>
                      <a:r>
                        <a:rPr sz="900" b="0">
                          <a:solidFill>
                            <a:srgbClr val="2D3142"/>
                          </a:solidFill>
                          <a:latin typeface="Calibri"/>
                        </a:rPr>
                        <a:t>14</a:t>
                      </a:r>
                      <a:r>
                        <a:rPr sz="900" b="1">
                          <a:solidFill>
                            <a:srgbClr val="2D3142"/>
                          </a:solidFill>
                        </a:rPr>
                        <a:t> AE</a:t>
                      </a:r>
                    </a:p>
                  </a:txBody>
                  <a:tcPr>
                    <a:solidFill>
                      <a:srgbClr val="FAF9F6"/>
                    </a:solidFill>
                    <a:lnB w="6350">
                      <a:solidFill>
                        <a:srgbClr val="E0E0E0"/>
                      </a:solidFill>
                    </a:lnB>
                  </a:tcPr>
                </a:tc>
                <a:tc>
                  <a:txBody>
                    <a:bodyPr/>
                    <a:lstStyle/>
                    <a:p>
                      <a:pPr algn="ctr"/>
                      <a:r>
                        <a:rPr sz="900" b="0">
                          <a:solidFill>
                            <a:srgbClr val="2D3142"/>
                          </a:solidFill>
                          <a:latin typeface="Calibri"/>
                        </a:rPr>
                        <a:t>10</a:t>
                      </a:r>
                      <a:r>
                        <a:rPr sz="900" b="1">
                          <a:solidFill>
                            <a:srgbClr val="2D3142"/>
                          </a:solidFill>
                        </a:rPr>
                        <a:t> A</a:t>
                      </a:r>
                    </a:p>
                  </a:txBody>
                  <a:tcPr>
                    <a:solidFill>
                      <a:srgbClr val="FAF9F6"/>
                    </a:solidFill>
                    <a:lnB w="6350">
                      <a:solidFill>
                        <a:srgbClr val="E0E0E0"/>
                      </a:solidFill>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F9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886200" y="1371600"/>
            <a:ext cx="457200" cy="457200"/>
          </a:xfrm>
          <a:prstGeom prst="ellipse">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_Label"/>
          <p:cNvSpPr txBox="1"/>
          <p:nvPr/>
        </p:nvSpPr>
        <p:spPr>
          <a:xfrm>
            <a:off x="4754880" y="2560320"/>
            <a:ext cx="6858000" cy="457200"/>
          </a:xfrm>
          <a:prstGeom prst="rect">
            <a:avLst/>
          </a:prstGeom>
          <a:noFill/>
        </p:spPr>
        <p:txBody>
          <a:bodyPr wrap="none">
            <a:spAutoFit/>
          </a:bodyPr>
          <a:lstStyle/>
          <a:p>
            <a:pPr>
              <a:defRPr sz="1600" b="1">
                <a:solidFill>
                  <a:srgbClr val="F0A060"/>
                </a:solidFill>
                <a:latin typeface="Calibri"/>
              </a:defRPr>
            </a:pPr>
            <a:r>
              <a:t>SECTION 04</a:t>
            </a:r>
          </a:p>
        </p:txBody>
      </p:sp>
      <p:sp>
        <p:nvSpPr>
          <p:cNvPr id="5" name="Section_Title"/>
          <p:cNvSpPr txBox="1"/>
          <p:nvPr/>
        </p:nvSpPr>
        <p:spPr>
          <a:xfrm>
            <a:off x="4709160" y="2926080"/>
            <a:ext cx="6858000" cy="914400"/>
          </a:xfrm>
          <a:prstGeom prst="rect">
            <a:avLst/>
          </a:prstGeom>
          <a:noFill/>
        </p:spPr>
        <p:txBody>
          <a:bodyPr wrap="square">
            <a:spAutoFit/>
          </a:bodyPr>
          <a:lstStyle/>
          <a:p>
            <a:pPr>
              <a:defRPr sz="3800" b="1">
                <a:solidFill>
                  <a:srgbClr val="2D3142"/>
                </a:solidFill>
                <a:latin typeface="Calibri Light"/>
              </a:defRPr>
            </a:pPr>
            <a:r>
              <a:t>Religion, Society &amp; Politics</a:t>
            </a:r>
          </a:p>
        </p:txBody>
      </p:sp>
      <p:sp>
        <p:nvSpPr>
          <p:cNvPr id="6" name="Section_Subtitle"/>
          <p:cNvSpPr txBox="1"/>
          <p:nvPr/>
        </p:nvSpPr>
        <p:spPr>
          <a:xfrm>
            <a:off x="4754880" y="4937760"/>
            <a:ext cx="6858000" cy="731520"/>
          </a:xfrm>
          <a:prstGeom prst="rect">
            <a:avLst/>
          </a:prstGeom>
          <a:noFill/>
        </p:spPr>
        <p:txBody>
          <a:bodyPr wrap="square">
            <a:spAutoFit/>
          </a:bodyPr>
          <a:lstStyle/>
          <a:p>
            <a:pPr>
              <a:defRPr sz="2000">
                <a:solidFill>
                  <a:srgbClr val="888888"/>
                </a:solidFill>
                <a:latin typeface="Calibri"/>
              </a:defRPr>
            </a:pPr>
            <a:r>
              <a:t>The intersection of faith and civic life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Satisfaction with Country</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Vietnam's 71% satisfaction with country vastly exceeds Korea (16%) and Japan (14%), suggesting civic contentment correlates with spiritual intensity rather than secularization, challenging assumptions that modernization requires disenchantment.</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2,012 [Among: Hong Kong]  |  Q1. Overall, are you satisfied, dissatisfied, or neither satisfied nor d...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3667658" cy="256032"/>
          </a:xfrm>
          <a:prstGeom prst="rect">
            <a:avLst/>
          </a:prstGeom>
          <a:noFill/>
        </p:spPr>
        <p:txBody>
          <a:bodyPr wrap="square" anchor="t">
            <a:spAutoFit/>
          </a:bodyPr>
          <a:lstStyle/>
          <a:p>
            <a:pPr algn="l"/>
            <a:r>
              <a:rPr sz="1000" b="1">
                <a:solidFill>
                  <a:srgbClr val="2D3142"/>
                </a:solidFill>
                <a:latin typeface="Calibri"/>
              </a:rPr>
              <a:t>HONG KONG (A)</a:t>
            </a:r>
          </a:p>
        </p:txBody>
      </p:sp>
      <p:graphicFrame>
        <p:nvGraphicFramePr>
          <p:cNvPr id="9" name="Chart 8"/>
          <p:cNvGraphicFramePr>
            <a:graphicFrameLocks noGrp="1"/>
          </p:cNvGraphicFramePr>
          <p:nvPr/>
        </p:nvGraphicFramePr>
        <p:xfrm>
          <a:off x="457200" y="1764792"/>
          <a:ext cx="3667658" cy="2029967"/>
        </p:xfrm>
        <a:graphic>
          <a:graphicData uri="http://schemas.openxmlformats.org/drawingml/2006/chart">
            <c:chart xmlns:c="http://schemas.openxmlformats.org/drawingml/2006/chart" r:id="rId2"/>
          </a:graphicData>
        </a:graphic>
      </p:graphicFrame>
      <p:sp>
        <p:nvSpPr>
          <p:cNvPr id="10" name="TextBox 9"/>
          <p:cNvSpPr txBox="1"/>
          <p:nvPr/>
        </p:nvSpPr>
        <p:spPr>
          <a:xfrm>
            <a:off x="4262018" y="1508760"/>
            <a:ext cx="3667658" cy="256032"/>
          </a:xfrm>
          <a:prstGeom prst="rect">
            <a:avLst/>
          </a:prstGeom>
          <a:noFill/>
        </p:spPr>
        <p:txBody>
          <a:bodyPr wrap="square" anchor="t">
            <a:spAutoFit/>
          </a:bodyPr>
          <a:lstStyle/>
          <a:p>
            <a:pPr algn="l"/>
            <a:r>
              <a:rPr sz="1000" b="1">
                <a:solidFill>
                  <a:srgbClr val="2D3142"/>
                </a:solidFill>
                <a:latin typeface="Calibri"/>
              </a:rPr>
              <a:t>JAPAN (B)</a:t>
            </a:r>
          </a:p>
        </p:txBody>
      </p:sp>
      <p:graphicFrame>
        <p:nvGraphicFramePr>
          <p:cNvPr id="11" name="Chart 10"/>
          <p:cNvGraphicFramePr>
            <a:graphicFrameLocks noGrp="1"/>
          </p:cNvGraphicFramePr>
          <p:nvPr/>
        </p:nvGraphicFramePr>
        <p:xfrm>
          <a:off x="4262018" y="1764792"/>
          <a:ext cx="3667658" cy="2029967"/>
        </p:xfrm>
        <a:graphic>
          <a:graphicData uri="http://schemas.openxmlformats.org/drawingml/2006/chart">
            <c:chart xmlns:c="http://schemas.openxmlformats.org/drawingml/2006/chart" r:id="rId3"/>
          </a:graphicData>
        </a:graphic>
      </p:graphicFrame>
      <p:sp>
        <p:nvSpPr>
          <p:cNvPr id="12" name="TextBox 11"/>
          <p:cNvSpPr txBox="1"/>
          <p:nvPr/>
        </p:nvSpPr>
        <p:spPr>
          <a:xfrm>
            <a:off x="8066836" y="1508760"/>
            <a:ext cx="3667658" cy="256032"/>
          </a:xfrm>
          <a:prstGeom prst="rect">
            <a:avLst/>
          </a:prstGeom>
          <a:noFill/>
        </p:spPr>
        <p:txBody>
          <a:bodyPr wrap="square" anchor="t">
            <a:spAutoFit/>
          </a:bodyPr>
          <a:lstStyle/>
          <a:p>
            <a:pPr algn="l"/>
            <a:r>
              <a:rPr sz="1000" b="1">
                <a:solidFill>
                  <a:srgbClr val="2D3142"/>
                </a:solidFill>
                <a:latin typeface="Calibri"/>
              </a:rPr>
              <a:t>KOREA (C)</a:t>
            </a:r>
          </a:p>
        </p:txBody>
      </p:sp>
      <p:graphicFrame>
        <p:nvGraphicFramePr>
          <p:cNvPr id="13" name="Chart 12"/>
          <p:cNvGraphicFramePr>
            <a:graphicFrameLocks noGrp="1"/>
          </p:cNvGraphicFramePr>
          <p:nvPr/>
        </p:nvGraphicFramePr>
        <p:xfrm>
          <a:off x="8066836" y="1764792"/>
          <a:ext cx="3667658" cy="2029967"/>
        </p:xfrm>
        <a:graphic>
          <a:graphicData uri="http://schemas.openxmlformats.org/drawingml/2006/chart">
            <c:chart xmlns:c="http://schemas.openxmlformats.org/drawingml/2006/chart" r:id="rId4"/>
          </a:graphicData>
        </a:graphic>
      </p:graphicFrame>
      <p:sp>
        <p:nvSpPr>
          <p:cNvPr id="14" name="TextBox 13"/>
          <p:cNvSpPr txBox="1"/>
          <p:nvPr/>
        </p:nvSpPr>
        <p:spPr>
          <a:xfrm>
            <a:off x="457200" y="3931920"/>
            <a:ext cx="5570067" cy="256032"/>
          </a:xfrm>
          <a:prstGeom prst="rect">
            <a:avLst/>
          </a:prstGeom>
          <a:noFill/>
        </p:spPr>
        <p:txBody>
          <a:bodyPr wrap="square" anchor="t">
            <a:spAutoFit/>
          </a:bodyPr>
          <a:lstStyle/>
          <a:p>
            <a:pPr algn="l"/>
            <a:r>
              <a:rPr sz="1000" b="1">
                <a:solidFill>
                  <a:srgbClr val="2D3142"/>
                </a:solidFill>
                <a:latin typeface="Calibri"/>
              </a:rPr>
              <a:t>TAIWAN (D)</a:t>
            </a:r>
          </a:p>
        </p:txBody>
      </p:sp>
      <p:graphicFrame>
        <p:nvGraphicFramePr>
          <p:cNvPr id="15" name="Chart 14"/>
          <p:cNvGraphicFramePr>
            <a:graphicFrameLocks noGrp="1"/>
          </p:cNvGraphicFramePr>
          <p:nvPr/>
        </p:nvGraphicFramePr>
        <p:xfrm>
          <a:off x="457200" y="4187952"/>
          <a:ext cx="5570067" cy="2029967"/>
        </p:xfrm>
        <a:graphic>
          <a:graphicData uri="http://schemas.openxmlformats.org/drawingml/2006/chart">
            <c:chart xmlns:c="http://schemas.openxmlformats.org/drawingml/2006/chart" r:id="rId5"/>
          </a:graphicData>
        </a:graphic>
      </p:graphicFrame>
      <p:sp>
        <p:nvSpPr>
          <p:cNvPr id="16" name="TextBox 15"/>
          <p:cNvSpPr txBox="1"/>
          <p:nvPr/>
        </p:nvSpPr>
        <p:spPr>
          <a:xfrm>
            <a:off x="6164427" y="3931920"/>
            <a:ext cx="5570067" cy="256032"/>
          </a:xfrm>
          <a:prstGeom prst="rect">
            <a:avLst/>
          </a:prstGeom>
          <a:noFill/>
        </p:spPr>
        <p:txBody>
          <a:bodyPr wrap="square" anchor="t">
            <a:spAutoFit/>
          </a:bodyPr>
          <a:lstStyle/>
          <a:p>
            <a:pPr algn="l"/>
            <a:r>
              <a:rPr sz="1000" b="1">
                <a:solidFill>
                  <a:srgbClr val="2D3142"/>
                </a:solidFill>
                <a:latin typeface="Calibri"/>
              </a:rPr>
              <a:t>VIETNAM (E)</a:t>
            </a:r>
          </a:p>
        </p:txBody>
      </p:sp>
      <p:graphicFrame>
        <p:nvGraphicFramePr>
          <p:cNvPr id="17" name="Chart 16"/>
          <p:cNvGraphicFramePr>
            <a:graphicFrameLocks noGrp="1"/>
          </p:cNvGraphicFramePr>
          <p:nvPr/>
        </p:nvGraphicFramePr>
        <p:xfrm>
          <a:off x="6164427" y="4187952"/>
          <a:ext cx="5570067" cy="2029967"/>
        </p:xfrm>
        <a:graphic>
          <a:graphicData uri="http://schemas.openxmlformats.org/drawingml/2006/chart">
            <c:chart xmlns:c="http://schemas.openxmlformats.org/drawingml/2006/chart" r:id="rId6"/>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Religion's Role in Society: Positive vs. Negative Views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Religion is seen as providing guidance and meaning (60–80% positive) but also encouraging superstition (40–50%), with Taiwan and Vietnam most favorable overall, indicating religion's social license depends on balancing transcendence with rationality.</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Q39. How well do the following statements describe your views?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Encourage superstition</a:t>
            </a:r>
          </a:p>
        </p:txBody>
      </p:sp>
      <p:graphicFrame>
        <p:nvGraphicFramePr>
          <p:cNvPr id="9" name="Chart 8"/>
          <p:cNvGraphicFramePr>
            <a:graphicFrameLocks noGrp="1"/>
          </p:cNvGraphicFramePr>
          <p:nvPr/>
        </p:nvGraphicFramePr>
        <p:xfrm>
          <a:off x="457200" y="1764792"/>
          <a:ext cx="5570067" cy="2029967"/>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Give guidance</a:t>
            </a:r>
          </a:p>
        </p:txBody>
      </p:sp>
      <p:graphicFrame>
        <p:nvGraphicFramePr>
          <p:cNvPr id="11" name="Chart 10"/>
          <p:cNvGraphicFramePr>
            <a:graphicFrameLocks noGrp="1"/>
          </p:cNvGraphicFramePr>
          <p:nvPr/>
        </p:nvGraphicFramePr>
        <p:xfrm>
          <a:off x="6164427" y="1764792"/>
          <a:ext cx="5570067" cy="2029967"/>
        </p:xfrm>
        <a:graphic>
          <a:graphicData uri="http://schemas.openxmlformats.org/drawingml/2006/chart">
            <c:chart xmlns:c="http://schemas.openxmlformats.org/drawingml/2006/chart" r:id="rId3"/>
          </a:graphicData>
        </a:graphic>
      </p:graphicFrame>
      <p:sp>
        <p:nvSpPr>
          <p:cNvPr id="12" name="TextBox 11"/>
          <p:cNvSpPr txBox="1"/>
          <p:nvPr/>
        </p:nvSpPr>
        <p:spPr>
          <a:xfrm>
            <a:off x="457200" y="3931920"/>
            <a:ext cx="5570067" cy="256032"/>
          </a:xfrm>
          <a:prstGeom prst="rect">
            <a:avLst/>
          </a:prstGeom>
          <a:noFill/>
        </p:spPr>
        <p:txBody>
          <a:bodyPr wrap="square" anchor="t">
            <a:spAutoFit/>
          </a:bodyPr>
          <a:lstStyle/>
          <a:p>
            <a:pPr algn="l"/>
            <a:r>
              <a:rPr sz="1000" b="1">
                <a:solidFill>
                  <a:srgbClr val="2D3142"/>
                </a:solidFill>
                <a:latin typeface="Calibri"/>
              </a:rPr>
              <a:t>Encourage violence</a:t>
            </a:r>
          </a:p>
        </p:txBody>
      </p:sp>
      <p:graphicFrame>
        <p:nvGraphicFramePr>
          <p:cNvPr id="13" name="Chart 12"/>
          <p:cNvGraphicFramePr>
            <a:graphicFrameLocks noGrp="1"/>
          </p:cNvGraphicFramePr>
          <p:nvPr/>
        </p:nvGraphicFramePr>
        <p:xfrm>
          <a:off x="457200" y="4187952"/>
          <a:ext cx="5570067" cy="2029967"/>
        </p:xfrm>
        <a:graphic>
          <a:graphicData uri="http://schemas.openxmlformats.org/drawingml/2006/chart">
            <c:chart xmlns:c="http://schemas.openxmlformats.org/drawingml/2006/chart" r:id="rId4"/>
          </a:graphicData>
        </a:graphic>
      </p:graphicFrame>
      <p:sp>
        <p:nvSpPr>
          <p:cNvPr id="14" name="TextBox 13"/>
          <p:cNvSpPr txBox="1"/>
          <p:nvPr/>
        </p:nvSpPr>
        <p:spPr>
          <a:xfrm>
            <a:off x="6164427" y="3931920"/>
            <a:ext cx="5570067" cy="256032"/>
          </a:xfrm>
          <a:prstGeom prst="rect">
            <a:avLst/>
          </a:prstGeom>
          <a:noFill/>
        </p:spPr>
        <p:txBody>
          <a:bodyPr wrap="square" anchor="t">
            <a:spAutoFit/>
          </a:bodyPr>
          <a:lstStyle/>
          <a:p>
            <a:pPr algn="l"/>
            <a:r>
              <a:rPr sz="1000" b="1">
                <a:solidFill>
                  <a:srgbClr val="2D3142"/>
                </a:solidFill>
                <a:latin typeface="Calibri"/>
              </a:rPr>
              <a:t>Gives meaning</a:t>
            </a:r>
          </a:p>
        </p:txBody>
      </p:sp>
      <p:graphicFrame>
        <p:nvGraphicFramePr>
          <p:cNvPr id="15" name="Chart 14"/>
          <p:cNvGraphicFramePr>
            <a:graphicFrameLocks noGrp="1"/>
          </p:cNvGraphicFramePr>
          <p:nvPr/>
        </p:nvGraphicFramePr>
        <p:xfrm>
          <a:off x="6164427" y="4187952"/>
          <a:ext cx="5570067" cy="2029967"/>
        </p:xfrm>
        <a:graphic>
          <a:graphicData uri="http://schemas.openxmlformats.org/drawingml/2006/chart">
            <c:chart xmlns:c="http://schemas.openxmlformats.org/drawingml/2006/chart" r:id="rId5"/>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Should Religious Leaders Engage in Politics?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Majorities oppose religious leaders in politics except Hong Kong and Vietnam (41–44% support), revealing a preference for spirituality as private practice, yet openness to political engagement where religion aligns with national identity or governance models.</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Q38. Should religious leaders do each of the following things, or not?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Q38. Should religious leaders talk about politicians, be politicians, or join...</a:t>
            </a:r>
          </a:p>
        </p:txBody>
      </p:sp>
      <p:graphicFrame>
        <p:nvGraphicFramePr>
          <p:cNvPr id="9" name="Chart 8"/>
          <p:cNvGraphicFramePr>
            <a:graphicFrameLocks noGrp="1"/>
          </p:cNvGraphicFramePr>
          <p:nvPr/>
        </p:nvGraphicFramePr>
        <p:xfrm>
          <a:off x="457200" y="1764792"/>
          <a:ext cx="11277295" cy="4453128"/>
        </p:xfrm>
        <a:graphic>
          <a:graphicData uri="http://schemas.openxmlformats.org/drawingml/2006/chart">
            <c:chart xmlns:c="http://schemas.openxmlformats.org/drawingml/2006/chart" r:id="rId2"/>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Proselytizing &amp; Freedom of Criticism</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Proselytizing is acceptable in Hong Kong (67%) and Vietnam (48%) but rejected in Japan (83% oppose) and Korea (77%), while freedom to criticize government is broadly supported (68–83%), indicating tolerance for spiritual diversity but not ideological imposition.</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Q30. Do you think it is acceptable or unacceptable for a person to try t...   ·   Base (asked): Total=8,135 | Hong Kong (A)=2,012 | Japan (B)=1,742 | Korea (C)=2,104 | Taiwan (D)=2,277  |  Q37. Do you think people who disagree with our government’s actions shou...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Q30. Acceptable to persuade others to join religion</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Q37. Should people be able to criticize government</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Gender Roles in the Family</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Gender roles are egalitarian in theory—80%+ say both should earn money and care for children—yet women remain primary caregivers in perception, suggesting aspiration outpaces lived reality, with implications for products that redistribute domestic labor.</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Q2. In a family, who should be primarily responsible for the following a...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Q2a. Who should earn money?</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Q2b. Who should take care of children?</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Social Attitudes: Abortion &amp; Same-Sex Marriage</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Abortion legality is broadly supported except Vietnam (64% oppose), while same-sex marriage acceptance is highest in Japan (68% favor) and Vietnam (65%), revealing progressive social attitudes coexist with traditional spiritual practice, defying binary modernization narratives.</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Total=10,390 | Hong Kong (A)=2,012 | Japan (B)=1,742 | Korea (C)=2,104 | Taiwan (D)=2,277 | Vietnam (E)=2,255  |  QABORT. Do you think having an abortion should be legal in all cases, le...   ·   Base (asked): Total=10,390 | Hong Kong (A)=2,012 | Japan (B)=1,742 | Korea (C)=2,104 | Taiwan (D)=2,277 | Vietnam (E)=2,255  |  QLEGAL. Do you strongly favor, somewhat favor, somewhat oppose or strong...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Abortion should be legal</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Same-sex marriage should be legal</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Preferred Political Systems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Multi-party democracy is preferred (mean 3.1–3.4) but expert rule and strong leaders also score moderately, indicating pragmatic governance preferences that prioritize outcomes over ideology, with Taiwan most committed to democratic pluralism.</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Total=8,135 | Hong Kong (A)=2,012 | Japan (B)=1,742 | Korea (C)=2,104 | Taiwan (D)=2,277 [Among: Hong Kong / Japan / Korea / Taiwan]  |  Multi-party | One-party | Strong leader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77295" cy="256032"/>
          </a:xfrm>
          <a:prstGeom prst="rect">
            <a:avLst/>
          </a:prstGeom>
          <a:noFill/>
        </p:spPr>
        <p:txBody>
          <a:bodyPr wrap="square" anchor="t">
            <a:spAutoFit/>
          </a:bodyPr>
          <a:lstStyle/>
          <a:p>
            <a:pPr algn="l"/>
            <a:r>
              <a:rPr sz="1000" b="1">
                <a:solidFill>
                  <a:srgbClr val="2D3142"/>
                </a:solidFill>
                <a:latin typeface="Calibri"/>
              </a:rPr>
              <a:t>Q40. How good would each political system be for governing the country?</a:t>
            </a:r>
          </a:p>
        </p:txBody>
      </p:sp>
      <p:graphicFrame>
        <p:nvGraphicFramePr>
          <p:cNvPr id="9" name="Table 8"/>
          <p:cNvGraphicFramePr>
            <a:graphicFrameLocks noGrp="1"/>
          </p:cNvGraphicFramePr>
          <p:nvPr/>
        </p:nvGraphicFramePr>
        <p:xfrm>
          <a:off x="457200" y="1764792"/>
          <a:ext cx="11277293" cy="4453128"/>
        </p:xfrm>
        <a:graphic>
          <a:graphicData uri="http://schemas.openxmlformats.org/drawingml/2006/table">
            <a:tbl>
              <a:tblPr firstRow="1" bandRow="1">
                <a:tableStyleId>{5C22544A-7EE6-4342-B048-85BDC9FD1C3A}</a:tableStyleId>
              </a:tblPr>
              <a:tblGrid>
                <a:gridCol w="3947053"/>
                <a:gridCol w="1832560"/>
                <a:gridCol w="1832560"/>
                <a:gridCol w="1832560"/>
                <a:gridCol w="1832560"/>
              </a:tblGrid>
              <a:tr h="636161">
                <a:tc>
                  <a:txBody>
                    <a:bodyPr/>
                    <a:lstStyle/>
                    <a:p>
                      <a:pPr algn="l"/>
                    </a:p>
                  </a:txBody>
                  <a:tcPr>
                    <a:solidFill>
                      <a:srgbClr val="2D3142"/>
                    </a:solidFill>
                    <a:lnB w="6350">
                      <a:solidFill>
                        <a:srgbClr val="E0E0E0"/>
                      </a:solidFill>
                    </a:lnB>
                  </a:tcPr>
                </a:tc>
                <a:tc>
                  <a:txBody>
                    <a:bodyPr/>
                    <a:lstStyle/>
                    <a:p>
                      <a:pPr algn="ctr"/>
                      <a:r>
                        <a:rPr sz="900" b="1">
                          <a:solidFill>
                            <a:srgbClr val="FFFFFF"/>
                          </a:solidFill>
                          <a:latin typeface="Calibri"/>
                        </a:rPr>
                        <a:t>Hong Kong (A)</a:t>
                      </a:r>
                    </a:p>
                  </a:txBody>
                  <a:tcPr>
                    <a:solidFill>
                      <a:srgbClr val="2D3142"/>
                    </a:solidFill>
                    <a:lnB w="6350">
                      <a:solidFill>
                        <a:srgbClr val="E0E0E0"/>
                      </a:solidFill>
                    </a:lnB>
                  </a:tcPr>
                </a:tc>
                <a:tc>
                  <a:txBody>
                    <a:bodyPr/>
                    <a:lstStyle/>
                    <a:p>
                      <a:pPr algn="ctr"/>
                      <a:r>
                        <a:rPr sz="900" b="1">
                          <a:solidFill>
                            <a:srgbClr val="FFFFFF"/>
                          </a:solidFill>
                          <a:latin typeface="Calibri"/>
                        </a:rPr>
                        <a:t>Japan (B)</a:t>
                      </a:r>
                    </a:p>
                  </a:txBody>
                  <a:tcPr>
                    <a:solidFill>
                      <a:srgbClr val="2D3142"/>
                    </a:solidFill>
                    <a:lnB w="6350">
                      <a:solidFill>
                        <a:srgbClr val="E0E0E0"/>
                      </a:solidFill>
                    </a:lnB>
                  </a:tcPr>
                </a:tc>
                <a:tc>
                  <a:txBody>
                    <a:bodyPr/>
                    <a:lstStyle/>
                    <a:p>
                      <a:pPr algn="ctr"/>
                      <a:r>
                        <a:rPr sz="900" b="1">
                          <a:solidFill>
                            <a:srgbClr val="FFFFFF"/>
                          </a:solidFill>
                          <a:latin typeface="Calibri"/>
                        </a:rPr>
                        <a:t>Korea (C)</a:t>
                      </a:r>
                    </a:p>
                  </a:txBody>
                  <a:tcPr>
                    <a:solidFill>
                      <a:srgbClr val="2D3142"/>
                    </a:solidFill>
                    <a:lnB w="6350">
                      <a:solidFill>
                        <a:srgbClr val="E0E0E0"/>
                      </a:solidFill>
                    </a:lnB>
                  </a:tcPr>
                </a:tc>
                <a:tc>
                  <a:txBody>
                    <a:bodyPr/>
                    <a:lstStyle/>
                    <a:p>
                      <a:pPr algn="ctr"/>
                      <a:r>
                        <a:rPr sz="900" b="1">
                          <a:solidFill>
                            <a:srgbClr val="FFFFFF"/>
                          </a:solidFill>
                          <a:latin typeface="Calibri"/>
                        </a:rPr>
                        <a:t>Taiwan (D)</a:t>
                      </a:r>
                    </a:p>
                  </a:txBody>
                  <a:tcPr>
                    <a:solidFill>
                      <a:srgbClr val="2D3142"/>
                    </a:solidFill>
                    <a:lnB w="6350">
                      <a:solidFill>
                        <a:srgbClr val="E0E0E0"/>
                      </a:solidFill>
                    </a:lnB>
                  </a:tcPr>
                </a:tc>
              </a:tr>
              <a:tr h="636161">
                <a:tc>
                  <a:txBody>
                    <a:bodyPr/>
                    <a:lstStyle/>
                    <a:p>
                      <a:pPr algn="l"/>
                      <a:r>
                        <a:rPr sz="900" b="1">
                          <a:solidFill>
                            <a:srgbClr val="2D3142"/>
                          </a:solidFill>
                          <a:latin typeface="Calibri"/>
                        </a:rPr>
                        <a:t>Base (asked)</a:t>
                      </a:r>
                    </a:p>
                  </a:txBody>
                  <a:tcPr>
                    <a:solidFill>
                      <a:srgbClr val="F9EAE5"/>
                    </a:solidFill>
                    <a:lnB w="6350">
                      <a:solidFill>
                        <a:srgbClr val="E0E0E0"/>
                      </a:solidFill>
                    </a:lnB>
                  </a:tcPr>
                </a:tc>
                <a:tc>
                  <a:txBody>
                    <a:bodyPr/>
                    <a:lstStyle/>
                    <a:p>
                      <a:pPr algn="ctr"/>
                      <a:r>
                        <a:rPr sz="900" b="1">
                          <a:solidFill>
                            <a:srgbClr val="2D3142"/>
                          </a:solidFill>
                          <a:latin typeface="Calibri"/>
                        </a:rPr>
                        <a:t>2012</a:t>
                      </a:r>
                    </a:p>
                  </a:txBody>
                  <a:tcPr>
                    <a:solidFill>
                      <a:srgbClr val="F9EAE5"/>
                    </a:solidFill>
                    <a:lnB w="6350">
                      <a:solidFill>
                        <a:srgbClr val="E0E0E0"/>
                      </a:solidFill>
                    </a:lnB>
                  </a:tcPr>
                </a:tc>
                <a:tc>
                  <a:txBody>
                    <a:bodyPr/>
                    <a:lstStyle/>
                    <a:p>
                      <a:pPr algn="ctr"/>
                      <a:r>
                        <a:rPr sz="900" b="1">
                          <a:solidFill>
                            <a:srgbClr val="2D3142"/>
                          </a:solidFill>
                          <a:latin typeface="Calibri"/>
                        </a:rPr>
                        <a:t>1742</a:t>
                      </a:r>
                    </a:p>
                  </a:txBody>
                  <a:tcPr>
                    <a:solidFill>
                      <a:srgbClr val="F9EAE5"/>
                    </a:solidFill>
                    <a:lnB w="6350">
                      <a:solidFill>
                        <a:srgbClr val="E0E0E0"/>
                      </a:solidFill>
                    </a:lnB>
                  </a:tcPr>
                </a:tc>
                <a:tc>
                  <a:txBody>
                    <a:bodyPr/>
                    <a:lstStyle/>
                    <a:p>
                      <a:pPr algn="ctr"/>
                      <a:r>
                        <a:rPr sz="900" b="1">
                          <a:solidFill>
                            <a:srgbClr val="2D3142"/>
                          </a:solidFill>
                          <a:latin typeface="Calibri"/>
                        </a:rPr>
                        <a:t>2104</a:t>
                      </a:r>
                    </a:p>
                  </a:txBody>
                  <a:tcPr>
                    <a:solidFill>
                      <a:srgbClr val="F9EAE5"/>
                    </a:solidFill>
                    <a:lnB w="6350">
                      <a:solidFill>
                        <a:srgbClr val="E0E0E0"/>
                      </a:solidFill>
                    </a:lnB>
                  </a:tcPr>
                </a:tc>
                <a:tc>
                  <a:txBody>
                    <a:bodyPr/>
                    <a:lstStyle/>
                    <a:p>
                      <a:pPr algn="ctr"/>
                      <a:r>
                        <a:rPr sz="900" b="1">
                          <a:solidFill>
                            <a:srgbClr val="2D3142"/>
                          </a:solidFill>
                          <a:latin typeface="Calibri"/>
                        </a:rPr>
                        <a:t>2277</a:t>
                      </a:r>
                    </a:p>
                  </a:txBody>
                  <a:tcPr>
                    <a:solidFill>
                      <a:srgbClr val="F9EAE5"/>
                    </a:solidFill>
                    <a:lnB w="6350">
                      <a:solidFill>
                        <a:srgbClr val="E0E0E0"/>
                      </a:solidFill>
                    </a:lnB>
                  </a:tcPr>
                </a:tc>
              </a:tr>
              <a:tr h="636161">
                <a:tc>
                  <a:txBody>
                    <a:bodyPr/>
                    <a:lstStyle/>
                    <a:p>
                      <a:pPr algn="l"/>
                      <a:r>
                        <a:rPr sz="900" b="1">
                          <a:solidFill>
                            <a:srgbClr val="2D3142"/>
                          </a:solidFill>
                          <a:latin typeface="Calibri"/>
                        </a:rPr>
                        <a:t>Multi-party</a:t>
                      </a:r>
                    </a:p>
                  </a:txBody>
                  <a:tcPr>
                    <a:solidFill>
                      <a:srgbClr val="FFFFFF"/>
                    </a:solidFill>
                    <a:lnB w="6350">
                      <a:solidFill>
                        <a:srgbClr val="E0E0E0"/>
                      </a:solidFill>
                    </a:lnB>
                  </a:tcPr>
                </a:tc>
                <a:tc>
                  <a:txBody>
                    <a:bodyPr/>
                    <a:lstStyle/>
                    <a:p>
                      <a:pPr algn="ctr"/>
                      <a:r>
                        <a:rPr sz="900" b="0">
                          <a:solidFill>
                            <a:srgbClr val="2D3142"/>
                          </a:solidFill>
                          <a:latin typeface="Calibri"/>
                        </a:rPr>
                        <a:t>3.06</a:t>
                      </a:r>
                    </a:p>
                  </a:txBody>
                  <a:tcPr>
                    <a:solidFill>
                      <a:srgbClr val="FFFFFF"/>
                    </a:solidFill>
                    <a:lnB w="6350">
                      <a:solidFill>
                        <a:srgbClr val="E0E0E0"/>
                      </a:solidFill>
                    </a:lnB>
                  </a:tcPr>
                </a:tc>
                <a:tc>
                  <a:txBody>
                    <a:bodyPr/>
                    <a:lstStyle/>
                    <a:p>
                      <a:pPr algn="ctr"/>
                      <a:r>
                        <a:rPr sz="900" b="0">
                          <a:solidFill>
                            <a:srgbClr val="2D3142"/>
                          </a:solidFill>
                          <a:latin typeface="Calibri"/>
                        </a:rPr>
                        <a:t>3.16</a:t>
                      </a:r>
                      <a:r>
                        <a:rPr sz="900" b="1">
                          <a:solidFill>
                            <a:srgbClr val="2D3142"/>
                          </a:solidFill>
                        </a:rPr>
                        <a:t> A</a:t>
                      </a:r>
                    </a:p>
                  </a:txBody>
                  <a:tcPr>
                    <a:solidFill>
                      <a:srgbClr val="FFFFFF"/>
                    </a:solidFill>
                    <a:lnB w="6350">
                      <a:solidFill>
                        <a:srgbClr val="E0E0E0"/>
                      </a:solidFill>
                    </a:lnB>
                  </a:tcPr>
                </a:tc>
                <a:tc>
                  <a:txBody>
                    <a:bodyPr/>
                    <a:lstStyle/>
                    <a:p>
                      <a:pPr algn="ctr"/>
                      <a:r>
                        <a:rPr sz="900" b="0">
                          <a:solidFill>
                            <a:srgbClr val="2D3142"/>
                          </a:solidFill>
                          <a:latin typeface="Calibri"/>
                        </a:rPr>
                        <a:t>3.13</a:t>
                      </a:r>
                      <a:r>
                        <a:rPr sz="900" b="1">
                          <a:solidFill>
                            <a:srgbClr val="2D3142"/>
                          </a:solidFill>
                        </a:rPr>
                        <a:t> A</a:t>
                      </a:r>
                    </a:p>
                  </a:txBody>
                  <a:tcPr>
                    <a:solidFill>
                      <a:srgbClr val="FFFFFF"/>
                    </a:solidFill>
                    <a:lnB w="6350">
                      <a:solidFill>
                        <a:srgbClr val="E0E0E0"/>
                      </a:solidFill>
                    </a:lnB>
                  </a:tcPr>
                </a:tc>
                <a:tc>
                  <a:txBody>
                    <a:bodyPr/>
                    <a:lstStyle/>
                    <a:p>
                      <a:pPr algn="ctr"/>
                      <a:r>
                        <a:rPr sz="900" b="0">
                          <a:solidFill>
                            <a:srgbClr val="2D3142"/>
                          </a:solidFill>
                          <a:latin typeface="Calibri"/>
                        </a:rPr>
                        <a:t>3.38</a:t>
                      </a:r>
                      <a:r>
                        <a:rPr sz="900" b="1">
                          <a:solidFill>
                            <a:srgbClr val="2D3142"/>
                          </a:solidFill>
                        </a:rPr>
                        <a:t> ABC</a:t>
                      </a:r>
                    </a:p>
                  </a:txBody>
                  <a:tcPr>
                    <a:solidFill>
                      <a:srgbClr val="FFFFFF"/>
                    </a:solidFill>
                    <a:lnB w="6350">
                      <a:solidFill>
                        <a:srgbClr val="E0E0E0"/>
                      </a:solidFill>
                    </a:lnB>
                  </a:tcPr>
                </a:tc>
              </a:tr>
              <a:tr h="636161">
                <a:tc>
                  <a:txBody>
                    <a:bodyPr/>
                    <a:lstStyle/>
                    <a:p>
                      <a:pPr algn="l"/>
                      <a:r>
                        <a:rPr sz="900" b="1">
                          <a:solidFill>
                            <a:srgbClr val="2D3142"/>
                          </a:solidFill>
                          <a:latin typeface="Calibri"/>
                        </a:rPr>
                        <a:t>One-party</a:t>
                      </a:r>
                    </a:p>
                  </a:txBody>
                  <a:tcPr>
                    <a:solidFill>
                      <a:srgbClr val="FAF9F6"/>
                    </a:solidFill>
                    <a:lnB w="6350">
                      <a:solidFill>
                        <a:srgbClr val="E0E0E0"/>
                      </a:solidFill>
                    </a:lnB>
                  </a:tcPr>
                </a:tc>
                <a:tc>
                  <a:txBody>
                    <a:bodyPr/>
                    <a:lstStyle/>
                    <a:p>
                      <a:pPr algn="ctr"/>
                      <a:r>
                        <a:rPr sz="900" b="0">
                          <a:solidFill>
                            <a:srgbClr val="2D3142"/>
                          </a:solidFill>
                          <a:latin typeface="Calibri"/>
                        </a:rPr>
                        <a:t>1.80</a:t>
                      </a:r>
                      <a:r>
                        <a:rPr sz="900" b="1">
                          <a:solidFill>
                            <a:srgbClr val="2D3142"/>
                          </a:solidFill>
                        </a:rPr>
                        <a:t> BCD</a:t>
                      </a:r>
                    </a:p>
                  </a:txBody>
                  <a:tcPr>
                    <a:solidFill>
                      <a:srgbClr val="FAF9F6"/>
                    </a:solidFill>
                    <a:lnB w="6350">
                      <a:solidFill>
                        <a:srgbClr val="E0E0E0"/>
                      </a:solidFill>
                    </a:lnB>
                  </a:tcPr>
                </a:tc>
                <a:tc>
                  <a:txBody>
                    <a:bodyPr/>
                    <a:lstStyle/>
                    <a:p>
                      <a:pPr algn="ctr"/>
                      <a:r>
                        <a:rPr sz="900" b="0">
                          <a:solidFill>
                            <a:srgbClr val="2D3142"/>
                          </a:solidFill>
                          <a:latin typeface="Calibri"/>
                        </a:rPr>
                        <a:t>1.47</a:t>
                      </a:r>
                      <a:r>
                        <a:rPr sz="900" b="1">
                          <a:solidFill>
                            <a:srgbClr val="2D3142"/>
                          </a:solidFill>
                        </a:rPr>
                        <a:t> CD</a:t>
                      </a:r>
                    </a:p>
                  </a:txBody>
                  <a:tcPr>
                    <a:solidFill>
                      <a:srgbClr val="FAF9F6"/>
                    </a:solidFill>
                    <a:lnB w="6350">
                      <a:solidFill>
                        <a:srgbClr val="E0E0E0"/>
                      </a:solidFill>
                    </a:lnB>
                  </a:tcPr>
                </a:tc>
                <a:tc>
                  <a:txBody>
                    <a:bodyPr/>
                    <a:lstStyle/>
                    <a:p>
                      <a:pPr algn="ctr"/>
                      <a:r>
                        <a:rPr sz="900" b="0">
                          <a:solidFill>
                            <a:srgbClr val="2D3142"/>
                          </a:solidFill>
                          <a:latin typeface="Calibri"/>
                        </a:rPr>
                        <a:t>1.39</a:t>
                      </a:r>
                      <a:r>
                        <a:rPr sz="900" b="1">
                          <a:solidFill>
                            <a:srgbClr val="2D3142"/>
                          </a:solidFill>
                        </a:rPr>
                        <a:t> D</a:t>
                      </a:r>
                    </a:p>
                  </a:txBody>
                  <a:tcPr>
                    <a:solidFill>
                      <a:srgbClr val="FAF9F6"/>
                    </a:solidFill>
                    <a:lnB w="6350">
                      <a:solidFill>
                        <a:srgbClr val="E0E0E0"/>
                      </a:solidFill>
                    </a:lnB>
                  </a:tcPr>
                </a:tc>
                <a:tc>
                  <a:txBody>
                    <a:bodyPr/>
                    <a:lstStyle/>
                    <a:p>
                      <a:pPr algn="ctr"/>
                      <a:r>
                        <a:rPr sz="900" b="0">
                          <a:solidFill>
                            <a:srgbClr val="2D3142"/>
                          </a:solidFill>
                          <a:latin typeface="Calibri"/>
                        </a:rPr>
                        <a:t>1.33</a:t>
                      </a:r>
                    </a:p>
                  </a:txBody>
                  <a:tcPr>
                    <a:solidFill>
                      <a:srgbClr val="FAF9F6"/>
                    </a:solidFill>
                    <a:lnB w="6350">
                      <a:solidFill>
                        <a:srgbClr val="E0E0E0"/>
                      </a:solidFill>
                    </a:lnB>
                  </a:tcPr>
                </a:tc>
              </a:tr>
              <a:tr h="636161">
                <a:tc>
                  <a:txBody>
                    <a:bodyPr/>
                    <a:lstStyle/>
                    <a:p>
                      <a:pPr algn="l"/>
                      <a:r>
                        <a:rPr sz="900" b="1">
                          <a:solidFill>
                            <a:srgbClr val="2D3142"/>
                          </a:solidFill>
                          <a:latin typeface="Calibri"/>
                        </a:rPr>
                        <a:t>Strong leader</a:t>
                      </a:r>
                    </a:p>
                  </a:txBody>
                  <a:tcPr>
                    <a:solidFill>
                      <a:srgbClr val="FFFFFF"/>
                    </a:solidFill>
                    <a:lnB w="6350">
                      <a:solidFill>
                        <a:srgbClr val="E0E0E0"/>
                      </a:solidFill>
                    </a:lnB>
                  </a:tcPr>
                </a:tc>
                <a:tc>
                  <a:txBody>
                    <a:bodyPr/>
                    <a:lstStyle/>
                    <a:p>
                      <a:pPr algn="ctr"/>
                      <a:r>
                        <a:rPr sz="900" b="0">
                          <a:solidFill>
                            <a:srgbClr val="2D3142"/>
                          </a:solidFill>
                          <a:latin typeface="Calibri"/>
                        </a:rPr>
                        <a:t>1.94</a:t>
                      </a:r>
                      <a:r>
                        <a:rPr sz="900" b="1">
                          <a:solidFill>
                            <a:srgbClr val="2D3142"/>
                          </a:solidFill>
                        </a:rPr>
                        <a:t> BCD</a:t>
                      </a:r>
                    </a:p>
                  </a:txBody>
                  <a:tcPr>
                    <a:solidFill>
                      <a:srgbClr val="FFFFFF"/>
                    </a:solidFill>
                    <a:lnB w="6350">
                      <a:solidFill>
                        <a:srgbClr val="E0E0E0"/>
                      </a:solidFill>
                    </a:lnB>
                  </a:tcPr>
                </a:tc>
                <a:tc>
                  <a:txBody>
                    <a:bodyPr/>
                    <a:lstStyle/>
                    <a:p>
                      <a:pPr algn="ctr"/>
                      <a:r>
                        <a:rPr sz="900" b="0">
                          <a:solidFill>
                            <a:srgbClr val="2D3142"/>
                          </a:solidFill>
                          <a:latin typeface="Calibri"/>
                        </a:rPr>
                        <a:t>1.60</a:t>
                      </a:r>
                      <a:r>
                        <a:rPr sz="900" b="1">
                          <a:solidFill>
                            <a:srgbClr val="2D3142"/>
                          </a:solidFill>
                        </a:rPr>
                        <a:t> D</a:t>
                      </a:r>
                    </a:p>
                  </a:txBody>
                  <a:tcPr>
                    <a:solidFill>
                      <a:srgbClr val="FFFFFF"/>
                    </a:solidFill>
                    <a:lnB w="6350">
                      <a:solidFill>
                        <a:srgbClr val="E0E0E0"/>
                      </a:solidFill>
                    </a:lnB>
                  </a:tcPr>
                </a:tc>
                <a:tc>
                  <a:txBody>
                    <a:bodyPr/>
                    <a:lstStyle/>
                    <a:p>
                      <a:pPr algn="ctr"/>
                      <a:r>
                        <a:rPr sz="900" b="0">
                          <a:solidFill>
                            <a:srgbClr val="2D3142"/>
                          </a:solidFill>
                          <a:latin typeface="Calibri"/>
                        </a:rPr>
                        <a:t>1.60</a:t>
                      </a:r>
                      <a:r>
                        <a:rPr sz="900" b="1">
                          <a:solidFill>
                            <a:srgbClr val="2D3142"/>
                          </a:solidFill>
                        </a:rPr>
                        <a:t> D</a:t>
                      </a:r>
                    </a:p>
                  </a:txBody>
                  <a:tcPr>
                    <a:solidFill>
                      <a:srgbClr val="FFFFFF"/>
                    </a:solidFill>
                    <a:lnB w="6350">
                      <a:solidFill>
                        <a:srgbClr val="E0E0E0"/>
                      </a:solidFill>
                    </a:lnB>
                  </a:tcPr>
                </a:tc>
                <a:tc>
                  <a:txBody>
                    <a:bodyPr/>
                    <a:lstStyle/>
                    <a:p>
                      <a:pPr algn="ctr"/>
                      <a:r>
                        <a:rPr sz="900" b="0">
                          <a:solidFill>
                            <a:srgbClr val="2D3142"/>
                          </a:solidFill>
                          <a:latin typeface="Calibri"/>
                        </a:rPr>
                        <a:t>1.27</a:t>
                      </a:r>
                    </a:p>
                  </a:txBody>
                  <a:tcPr>
                    <a:solidFill>
                      <a:srgbClr val="FFFFFF"/>
                    </a:solidFill>
                    <a:lnB w="6350">
                      <a:solidFill>
                        <a:srgbClr val="E0E0E0"/>
                      </a:solidFill>
                    </a:lnB>
                  </a:tcPr>
                </a:tc>
              </a:tr>
              <a:tr h="636161">
                <a:tc>
                  <a:txBody>
                    <a:bodyPr/>
                    <a:lstStyle/>
                    <a:p>
                      <a:pPr algn="l"/>
                      <a:r>
                        <a:rPr sz="900" b="1">
                          <a:solidFill>
                            <a:srgbClr val="2D3142"/>
                          </a:solidFill>
                          <a:latin typeface="Calibri"/>
                        </a:rPr>
                        <a:t>Expert rule</a:t>
                      </a:r>
                    </a:p>
                  </a:txBody>
                  <a:tcPr>
                    <a:solidFill>
                      <a:srgbClr val="FAF9F6"/>
                    </a:solidFill>
                    <a:lnB w="6350">
                      <a:solidFill>
                        <a:srgbClr val="E0E0E0"/>
                      </a:solidFill>
                    </a:lnB>
                  </a:tcPr>
                </a:tc>
                <a:tc>
                  <a:txBody>
                    <a:bodyPr/>
                    <a:lstStyle/>
                    <a:p>
                      <a:pPr algn="ctr"/>
                      <a:r>
                        <a:rPr sz="900" b="0">
                          <a:solidFill>
                            <a:srgbClr val="2D3142"/>
                          </a:solidFill>
                          <a:latin typeface="Calibri"/>
                        </a:rPr>
                        <a:t>2.30</a:t>
                      </a:r>
                      <a:r>
                        <a:rPr sz="900" b="1">
                          <a:solidFill>
                            <a:srgbClr val="2D3142"/>
                          </a:solidFill>
                        </a:rPr>
                        <a:t> CD</a:t>
                      </a:r>
                    </a:p>
                  </a:txBody>
                  <a:tcPr>
                    <a:solidFill>
                      <a:srgbClr val="FAF9F6"/>
                    </a:solidFill>
                    <a:lnB w="6350">
                      <a:solidFill>
                        <a:srgbClr val="E0E0E0"/>
                      </a:solidFill>
                    </a:lnB>
                  </a:tcPr>
                </a:tc>
                <a:tc>
                  <a:txBody>
                    <a:bodyPr/>
                    <a:lstStyle/>
                    <a:p>
                      <a:pPr algn="ctr"/>
                      <a:r>
                        <a:rPr sz="900" b="0">
                          <a:solidFill>
                            <a:srgbClr val="2D3142"/>
                          </a:solidFill>
                          <a:latin typeface="Calibri"/>
                        </a:rPr>
                        <a:t>2.48</a:t>
                      </a:r>
                      <a:r>
                        <a:rPr sz="900" b="1">
                          <a:solidFill>
                            <a:srgbClr val="2D3142"/>
                          </a:solidFill>
                        </a:rPr>
                        <a:t> ACD</a:t>
                      </a:r>
                    </a:p>
                  </a:txBody>
                  <a:tcPr>
                    <a:solidFill>
                      <a:srgbClr val="FAF9F6"/>
                    </a:solidFill>
                    <a:lnB w="6350">
                      <a:solidFill>
                        <a:srgbClr val="E0E0E0"/>
                      </a:solidFill>
                    </a:lnB>
                  </a:tcPr>
                </a:tc>
                <a:tc>
                  <a:txBody>
                    <a:bodyPr/>
                    <a:lstStyle/>
                    <a:p>
                      <a:pPr algn="ctr"/>
                      <a:r>
                        <a:rPr sz="900" b="0">
                          <a:solidFill>
                            <a:srgbClr val="2D3142"/>
                          </a:solidFill>
                          <a:latin typeface="Calibri"/>
                        </a:rPr>
                        <a:t>2.03</a:t>
                      </a:r>
                      <a:r>
                        <a:rPr sz="900" b="1">
                          <a:solidFill>
                            <a:srgbClr val="2D3142"/>
                          </a:solidFill>
                        </a:rPr>
                        <a:t> D</a:t>
                      </a:r>
                    </a:p>
                  </a:txBody>
                  <a:tcPr>
                    <a:solidFill>
                      <a:srgbClr val="FAF9F6"/>
                    </a:solidFill>
                    <a:lnB w="6350">
                      <a:solidFill>
                        <a:srgbClr val="E0E0E0"/>
                      </a:solidFill>
                    </a:lnB>
                  </a:tcPr>
                </a:tc>
                <a:tc>
                  <a:txBody>
                    <a:bodyPr/>
                    <a:lstStyle/>
                    <a:p>
                      <a:pPr algn="ctr"/>
                      <a:r>
                        <a:rPr sz="900" b="0">
                          <a:solidFill>
                            <a:srgbClr val="2D3142"/>
                          </a:solidFill>
                          <a:latin typeface="Calibri"/>
                        </a:rPr>
                        <a:t>1.69</a:t>
                      </a:r>
                    </a:p>
                  </a:txBody>
                  <a:tcPr>
                    <a:solidFill>
                      <a:srgbClr val="FAF9F6"/>
                    </a:solidFill>
                    <a:lnB w="6350">
                      <a:solidFill>
                        <a:srgbClr val="E0E0E0"/>
                      </a:solidFill>
                    </a:lnB>
                  </a:tcPr>
                </a:tc>
              </a:tr>
              <a:tr h="636162">
                <a:tc>
                  <a:txBody>
                    <a:bodyPr/>
                    <a:lstStyle/>
                    <a:p>
                      <a:pPr algn="l"/>
                      <a:r>
                        <a:rPr sz="900" b="1">
                          <a:solidFill>
                            <a:srgbClr val="2D3142"/>
                          </a:solidFill>
                          <a:latin typeface="Calibri"/>
                        </a:rPr>
                        <a:t>Military</a:t>
                      </a:r>
                    </a:p>
                  </a:txBody>
                  <a:tcPr>
                    <a:solidFill>
                      <a:srgbClr val="FFFFFF"/>
                    </a:solidFill>
                    <a:lnB w="6350">
                      <a:solidFill>
                        <a:srgbClr val="E0E0E0"/>
                      </a:solidFill>
                    </a:lnB>
                  </a:tcPr>
                </a:tc>
                <a:tc>
                  <a:txBody>
                    <a:bodyPr/>
                    <a:lstStyle/>
                    <a:p>
                      <a:pPr algn="ctr"/>
                      <a:r>
                        <a:rPr sz="900" b="0">
                          <a:solidFill>
                            <a:srgbClr val="2D3142"/>
                          </a:solidFill>
                          <a:latin typeface="Calibri"/>
                        </a:rPr>
                        <a:t>1.61</a:t>
                      </a:r>
                      <a:r>
                        <a:rPr sz="900" b="1">
                          <a:solidFill>
                            <a:srgbClr val="2D3142"/>
                          </a:solidFill>
                        </a:rPr>
                        <a:t> CD</a:t>
                      </a:r>
                    </a:p>
                  </a:txBody>
                  <a:tcPr>
                    <a:solidFill>
                      <a:srgbClr val="FFFFFF"/>
                    </a:solidFill>
                    <a:lnB w="6350">
                      <a:solidFill>
                        <a:srgbClr val="E0E0E0"/>
                      </a:solidFill>
                    </a:lnB>
                  </a:tcPr>
                </a:tc>
                <a:tc>
                  <a:txBody>
                    <a:bodyPr/>
                    <a:lstStyle/>
                    <a:p>
                      <a:pPr algn="ctr"/>
                      <a:r>
                        <a:rPr sz="900" b="0">
                          <a:solidFill>
                            <a:srgbClr val="2D3142"/>
                          </a:solidFill>
                          <a:latin typeface="Calibri"/>
                        </a:rPr>
                        <a:t>1.56</a:t>
                      </a:r>
                      <a:r>
                        <a:rPr sz="900" b="1">
                          <a:solidFill>
                            <a:srgbClr val="2D3142"/>
                          </a:solidFill>
                        </a:rPr>
                        <a:t> CD</a:t>
                      </a:r>
                    </a:p>
                  </a:txBody>
                  <a:tcPr>
                    <a:solidFill>
                      <a:srgbClr val="FFFFFF"/>
                    </a:solidFill>
                    <a:lnB w="6350">
                      <a:solidFill>
                        <a:srgbClr val="E0E0E0"/>
                      </a:solidFill>
                    </a:lnB>
                  </a:tcPr>
                </a:tc>
                <a:tc>
                  <a:txBody>
                    <a:bodyPr/>
                    <a:lstStyle/>
                    <a:p>
                      <a:pPr algn="ctr"/>
                      <a:r>
                        <a:rPr sz="900" b="0">
                          <a:solidFill>
                            <a:srgbClr val="2D3142"/>
                          </a:solidFill>
                          <a:latin typeface="Calibri"/>
                        </a:rPr>
                        <a:t>1.38</a:t>
                      </a:r>
                      <a:r>
                        <a:rPr sz="900" b="1">
                          <a:solidFill>
                            <a:srgbClr val="2D3142"/>
                          </a:solidFill>
                        </a:rPr>
                        <a:t> D</a:t>
                      </a:r>
                    </a:p>
                  </a:txBody>
                  <a:tcPr>
                    <a:solidFill>
                      <a:srgbClr val="FFFFFF"/>
                    </a:solidFill>
                    <a:lnB w="6350">
                      <a:solidFill>
                        <a:srgbClr val="E0E0E0"/>
                      </a:solidFill>
                    </a:lnB>
                  </a:tcPr>
                </a:tc>
                <a:tc>
                  <a:txBody>
                    <a:bodyPr/>
                    <a:lstStyle/>
                    <a:p>
                      <a:pPr algn="ctr"/>
                      <a:r>
                        <a:rPr sz="900" b="0">
                          <a:solidFill>
                            <a:srgbClr val="2D3142"/>
                          </a:solidFill>
                          <a:latin typeface="Calibri"/>
                        </a:rPr>
                        <a:t>1.32</a:t>
                      </a:r>
                    </a:p>
                  </a:txBody>
                  <a:tcPr>
                    <a:solidFill>
                      <a:srgbClr val="FFFFFF"/>
                    </a:solidFill>
                    <a:lnB w="6350">
                      <a:solidFill>
                        <a:srgbClr val="E0E0E0"/>
                      </a:solidFill>
                    </a:lnB>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0" cy="6858000"/>
          </a:xfrm>
          <a:prstGeom prst="rect">
            <a:avLst/>
          </a:prstGeom>
          <a:solidFill>
            <a:srgbClr val="F9E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886200" y="1371600"/>
            <a:ext cx="457200" cy="457200"/>
          </a:xfrm>
          <a:prstGeom prst="ellipse">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_Label"/>
          <p:cNvSpPr txBox="1"/>
          <p:nvPr/>
        </p:nvSpPr>
        <p:spPr>
          <a:xfrm>
            <a:off x="4754880" y="2560320"/>
            <a:ext cx="6858000" cy="457200"/>
          </a:xfrm>
          <a:prstGeom prst="rect">
            <a:avLst/>
          </a:prstGeom>
          <a:noFill/>
        </p:spPr>
        <p:txBody>
          <a:bodyPr wrap="none">
            <a:spAutoFit/>
          </a:bodyPr>
          <a:lstStyle/>
          <a:p>
            <a:pPr>
              <a:defRPr sz="1600" b="1">
                <a:solidFill>
                  <a:srgbClr val="F0A060"/>
                </a:solidFill>
                <a:latin typeface="Calibri"/>
              </a:defRPr>
            </a:pPr>
            <a:r>
              <a:t>SECTION 05</a:t>
            </a:r>
          </a:p>
        </p:txBody>
      </p:sp>
      <p:sp>
        <p:nvSpPr>
          <p:cNvPr id="5" name="Section_Title"/>
          <p:cNvSpPr txBox="1"/>
          <p:nvPr/>
        </p:nvSpPr>
        <p:spPr>
          <a:xfrm>
            <a:off x="4709160" y="2926080"/>
            <a:ext cx="6858000" cy="914400"/>
          </a:xfrm>
          <a:prstGeom prst="rect">
            <a:avLst/>
          </a:prstGeom>
          <a:noFill/>
        </p:spPr>
        <p:txBody>
          <a:bodyPr wrap="square">
            <a:spAutoFit/>
          </a:bodyPr>
          <a:lstStyle/>
          <a:p>
            <a:pPr>
              <a:defRPr sz="3800" b="1">
                <a:solidFill>
                  <a:srgbClr val="2D3142"/>
                </a:solidFill>
                <a:latin typeface="Calibri Light"/>
              </a:defRPr>
            </a:pPr>
            <a:r>
              <a:t>Demographics &amp; Key Subgroups</a:t>
            </a:r>
          </a:p>
        </p:txBody>
      </p:sp>
      <p:sp>
        <p:nvSpPr>
          <p:cNvPr id="6" name="Section_Subtitle"/>
          <p:cNvSpPr txBox="1"/>
          <p:nvPr/>
        </p:nvSpPr>
        <p:spPr>
          <a:xfrm>
            <a:off x="4754880" y="4937760"/>
            <a:ext cx="6858000" cy="731520"/>
          </a:xfrm>
          <a:prstGeom prst="rect">
            <a:avLst/>
          </a:prstGeom>
          <a:noFill/>
        </p:spPr>
        <p:txBody>
          <a:bodyPr wrap="square">
            <a:spAutoFit/>
          </a:bodyPr>
          <a:lstStyle/>
          <a:p>
            <a:pPr>
              <a:defRPr sz="2000">
                <a:solidFill>
                  <a:srgbClr val="888888"/>
                </a:solidFill>
                <a:latin typeface="Calibri"/>
              </a:defRPr>
            </a:pPr>
            <a:r>
              <a:t>Who holds these views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Religious Importance by Gender</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Women rate religion as very important 40% more than men (17% vs. 12%), suggesting spirituality fulfills different functional needs by gender—likely emotional support and community for women versus instrumental problem-solving for men.</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10,390  |  Gender   ·   Base (asked): Total=10,390 | Man=5,482 | Woman=4,871  |  Q9. How important is religion in your life, if at all?   ·   Significance testing (HIGH% / LOW%): ▲/▼ (or ↑/↓) indicates significantly higher/lower than the preceding group (Order: Man → Woman).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 Gender Contribution</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Religious Importance (%)</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Religious Importance by Education Level</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Religious importance declines sharply with education—29% of lowest-educated say very important versus 12% of university-educated—indicating spirituality fills gaps left by limited access to secular institutions, with implications for how brands signal credibility across strata.</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10,390  |  ISCED. ISCED recode   ·   Base (asked): Total=10,283 | ISCED Level one (A)=763 | ISCED Level two (B)=1,081 | ISCED Level three (C)=3,530 | ISCED Level four (D)=250 | ISCED Level five or above (E)=4,659 [Among: ISCED Level one / ISCED Level two / ISCED Level three / ISCED Level four / ISCED Level five or above]  |  Q9. How important is religion in your life, if at all? [Among: ISCED Lev...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Education Profile</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Q9. Importance of religion — Female</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457200" y="182880"/>
            <a:ext cx="11247120" cy="365760"/>
          </a:xfrm>
          <a:prstGeom prst="rect">
            <a:avLst/>
          </a:prstGeom>
          <a:noFill/>
        </p:spPr>
        <p:txBody>
          <a:bodyPr wrap="none">
            <a:spAutoFit/>
          </a:bodyPr>
          <a:lstStyle/>
          <a:p>
            <a:pPr>
              <a:defRPr sz="2200" b="1">
                <a:solidFill>
                  <a:srgbClr val="2D3142"/>
                </a:solidFill>
                <a:latin typeface="Calibri"/>
              </a:defRPr>
            </a:pPr>
            <a:r>
              <a:t>Religious Importance by Marital Status</a:t>
            </a:r>
          </a:p>
        </p:txBody>
      </p:sp>
      <p:sp>
        <p:nvSpPr>
          <p:cNvPr id="3" name="Rounded Rectangle 2"/>
          <p:cNvSpPr/>
          <p:nvPr/>
        </p:nvSpPr>
        <p:spPr>
          <a:xfrm>
            <a:off x="457200" y="640080"/>
            <a:ext cx="10362895" cy="640080"/>
          </a:xfrm>
          <a:prstGeom prst="roundRect">
            <a:avLst>
              <a:gd name="adj" fmla="val 15000"/>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54864" cy="640080"/>
          </a:xfrm>
          <a:prstGeom prst="rect">
            <a:avLst/>
          </a:prstGeom>
          <a:solidFill>
            <a:srgbClr val="F0A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sights_Box"/>
          <p:cNvSpPr txBox="1"/>
          <p:nvPr/>
        </p:nvSpPr>
        <p:spPr>
          <a:xfrm>
            <a:off x="594360" y="685800"/>
            <a:ext cx="10241280" cy="548640"/>
          </a:xfrm>
          <a:prstGeom prst="rect">
            <a:avLst/>
          </a:prstGeom>
          <a:noFill/>
        </p:spPr>
        <p:txBody>
          <a:bodyPr wrap="square" anchor="t">
            <a:spAutoFit/>
          </a:bodyPr>
          <a:lstStyle/>
          <a:p>
            <a:pPr>
              <a:defRPr sz="1300">
                <a:solidFill>
                  <a:srgbClr val="2D3142"/>
                </a:solidFill>
                <a:latin typeface="Calibri"/>
              </a:defRPr>
            </a:pPr>
            <a:r>
              <a:t>Widows and separated individuals show highest religious importance (24% and 20% very important), while singles are least engaged (9%), suggesting spirituality provides coping mechanisms during life transitions, with opportunity for brands to offer meaning-making support during vulnerability.</a:t>
            </a:r>
          </a:p>
        </p:txBody>
      </p:sp>
      <p:sp>
        <p:nvSpPr>
          <p:cNvPr id="6" name="Footnote"/>
          <p:cNvSpPr txBox="1"/>
          <p:nvPr/>
        </p:nvSpPr>
        <p:spPr>
          <a:xfrm>
            <a:off x="457200" y="6400800"/>
            <a:ext cx="11247120" cy="457200"/>
          </a:xfrm>
          <a:prstGeom prst="rect">
            <a:avLst/>
          </a:prstGeom>
          <a:noFill/>
        </p:spPr>
        <p:txBody>
          <a:bodyPr wrap="square" anchor="t">
            <a:spAutoFit/>
          </a:bodyPr>
          <a:lstStyle/>
          <a:p>
            <a:pPr>
              <a:defRPr sz="800">
                <a:solidFill>
                  <a:srgbClr val="888888"/>
                </a:solidFill>
                <a:latin typeface="Calibri"/>
              </a:defRPr>
            </a:pPr>
            <a:r>
              <a:t>Base (asked): 10,390  |  QMARRIED. What is your current marital status?   ·   Base (asked): Total=10,308 | Married (A)=5,943 | Divorced (B)=577 | Separated (C)=102 | Unmarried/Single (D)=3,095 | Widow/Widower (E)=576 | Living with a partner (F)=15 [Among: Married / Divorced / Separated / Unmarried/Single / Widow/Widower / Living with a partner]  |  Q9. How important is religion in your life, if at all? [Among: Married /...   ·   Significance testing (HIGH% / LOW%): Letters (A, B, C...) indicate significantly higher than corresponding group.   ·   Source: Pew Research Center</a:t>
            </a:r>
          </a:p>
        </p:txBody>
      </p:sp>
      <p:sp>
        <p:nvSpPr>
          <p:cNvPr id="7" name="Rectangle 6"/>
          <p:cNvSpPr/>
          <p:nvPr/>
        </p:nvSpPr>
        <p:spPr>
          <a:xfrm>
            <a:off x="457200" y="6355080"/>
            <a:ext cx="11247120" cy="9144"/>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5570067" cy="256032"/>
          </a:xfrm>
          <a:prstGeom prst="rect">
            <a:avLst/>
          </a:prstGeom>
          <a:noFill/>
        </p:spPr>
        <p:txBody>
          <a:bodyPr wrap="square" anchor="t">
            <a:spAutoFit/>
          </a:bodyPr>
          <a:lstStyle/>
          <a:p>
            <a:pPr algn="l"/>
            <a:r>
              <a:rPr sz="1000" b="1">
                <a:solidFill>
                  <a:srgbClr val="2D3142"/>
                </a:solidFill>
                <a:latin typeface="Calibri"/>
              </a:rPr>
              <a:t>Marital Status Profile</a:t>
            </a:r>
          </a:p>
        </p:txBody>
      </p:sp>
      <p:graphicFrame>
        <p:nvGraphicFramePr>
          <p:cNvPr id="9" name="Chart 8"/>
          <p:cNvGraphicFramePr>
            <a:graphicFrameLocks noGrp="1"/>
          </p:cNvGraphicFramePr>
          <p:nvPr/>
        </p:nvGraphicFramePr>
        <p:xfrm>
          <a:off x="457200" y="1764792"/>
          <a:ext cx="5570067" cy="4453128"/>
        </p:xfrm>
        <a:graphic>
          <a:graphicData uri="http://schemas.openxmlformats.org/drawingml/2006/chart">
            <c:chart xmlns:c="http://schemas.openxmlformats.org/drawingml/2006/chart" r:id="rId2"/>
          </a:graphicData>
        </a:graphic>
      </p:graphicFrame>
      <p:sp>
        <p:nvSpPr>
          <p:cNvPr id="10" name="TextBox 9"/>
          <p:cNvSpPr txBox="1"/>
          <p:nvPr/>
        </p:nvSpPr>
        <p:spPr>
          <a:xfrm>
            <a:off x="6164427" y="1508760"/>
            <a:ext cx="5570067" cy="256032"/>
          </a:xfrm>
          <a:prstGeom prst="rect">
            <a:avLst/>
          </a:prstGeom>
          <a:noFill/>
        </p:spPr>
        <p:txBody>
          <a:bodyPr wrap="square" anchor="t">
            <a:spAutoFit/>
          </a:bodyPr>
          <a:lstStyle/>
          <a:p>
            <a:pPr algn="l"/>
            <a:r>
              <a:rPr sz="1000" b="1">
                <a:solidFill>
                  <a:srgbClr val="2D3142"/>
                </a:solidFill>
                <a:latin typeface="Calibri"/>
              </a:rPr>
              <a:t>Religious Importance</a:t>
            </a:r>
          </a:p>
        </p:txBody>
      </p:sp>
      <p:graphicFrame>
        <p:nvGraphicFramePr>
          <p:cNvPr id="11" name="Chart 10"/>
          <p:cNvGraphicFramePr>
            <a:graphicFrameLocks noGrp="1"/>
          </p:cNvGraphicFramePr>
          <p:nvPr/>
        </p:nvGraphicFramePr>
        <p:xfrm>
          <a:off x="6164427" y="1764792"/>
          <a:ext cx="5570067" cy="4453128"/>
        </p:xfrm>
        <a:graphic>
          <a:graphicData uri="http://schemas.openxmlformats.org/drawingml/2006/chart">
            <c:chart xmlns:c="http://schemas.openxmlformats.org/drawingml/2006/chart" r:id="rId3"/>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