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95</a:t>
                    </a:r>
                  </a:p>
                </c:rich>
              </c:tx>
              <c:showLegendKey val="0"/>
              <c:showVal val="0"/>
              <c:showCatName val="0"/>
              <c:showSerName val="0"/>
              <c:showPercent val="0"/>
              <c:showBubbleSize val="0"/>
            </c:dLbl>
            <c:dLbl>
              <c:idx val="1"/>
              <c:tx>
                <c:rich>
                  <a:bodyPr/>
                  <a:lstStyle/>
                  <a:p>
                    <a:r>
                      <a:rPr lang="en-US" b="1" sz="900">
                        <a:solidFill>
                          <a:srgbClr val="2D3142"/>
                        </a:solidFill>
                      </a:rPr>
                      <a:t>29</a:t>
                    </a:r>
                  </a:p>
                </c:rich>
              </c:tx>
              <c:showLegendKey val="0"/>
              <c:showVal val="0"/>
              <c:showCatName val="0"/>
              <c:showSerName val="0"/>
              <c:showPercent val="0"/>
              <c:showBubbleSize val="0"/>
            </c:dLbl>
            <c:dLbl>
              <c:idx val="2"/>
              <c:tx>
                <c:rich>
                  <a:bodyPr/>
                  <a:lstStyle/>
                  <a:p>
                    <a:r>
                      <a:rPr lang="en-US" b="1" sz="900">
                        <a:solidFill>
                          <a:srgbClr val="2D3142"/>
                        </a:solidFill>
                      </a:rPr>
                      <a:t>88</a:t>
                    </a:r>
                  </a:p>
                </c:rich>
              </c:tx>
              <c:showLegendKey val="0"/>
              <c:showVal val="0"/>
              <c:showCatName val="0"/>
              <c:showSerName val="0"/>
              <c:showPercent val="0"/>
              <c:showBubbleSize val="0"/>
            </c:dLbl>
            <c:dLbl>
              <c:idx val="3"/>
              <c:tx>
                <c:rich>
                  <a:bodyPr/>
                  <a:lstStyle/>
                  <a:p>
                    <a:r>
                      <a:rPr lang="en-US" b="1" sz="900">
                        <a:solidFill>
                          <a:srgbClr val="2D3142"/>
                        </a:solidFill>
                      </a:rPr>
                      <a:t>84</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A smartphone</c:v>
                </c:pt>
                <c:pt idx="1">
                  <c:v>A cell phone that is not a smartphone</c:v>
                </c:pt>
                <c:pt idx="2">
                  <c:v>A desktop or laptop computer]</c:v>
                </c:pt>
                <c:pt idx="3">
                  <c:v>A gaming console</c:v>
                </c:pt>
              </c:strCache>
            </c:strRef>
          </c:cat>
          <c:val>
            <c:numRef>
              <c:f>Sheet1!$B$2:$B$5</c:f>
              <c:numCache>
                <c:formatCode>0</c:formatCode>
                <c:ptCount val="4"/>
                <c:pt idx="0">
                  <c:v>94.79786191732015</c:v>
                </c:pt>
                <c:pt idx="1">
                  <c:v>28.651255389869057</c:v>
                </c:pt>
                <c:pt idx="2">
                  <c:v>88.36846645632436</c:v>
                </c:pt>
                <c:pt idx="3">
                  <c:v>83.65604052480288</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5</a:t>
                    </a:r>
                  </a:p>
                </c:rich>
              </c:tx>
              <c:showLegendKey val="0"/>
              <c:showVal val="0"/>
              <c:showCatName val="0"/>
              <c:showSerName val="0"/>
              <c:showPercent val="0"/>
              <c:showBubbleSize val="0"/>
            </c:dLbl>
            <c:dLbl>
              <c:idx val="1"/>
              <c:tx>
                <c:rich>
                  <a:bodyPr/>
                  <a:lstStyle/>
                  <a:p>
                    <a:r>
                      <a:rPr lang="en-US" b="1" sz="800">
                        <a:solidFill>
                          <a:srgbClr val="FFFFFF"/>
                        </a:solidFill>
                      </a:rPr>
                      <a:t>10</a:t>
                    </a:r>
                  </a:p>
                </c:rich>
              </c:tx>
              <c:showLegendKey val="0"/>
              <c:showVal val="0"/>
              <c:showCatName val="0"/>
              <c:showSerName val="0"/>
              <c:showPercent val="0"/>
              <c:showBubbleSize val="0"/>
            </c:dLbl>
            <c:dLbl>
              <c:idx val="2"/>
              <c:tx>
                <c:rich>
                  <a:bodyPr/>
                  <a:lstStyle/>
                  <a:p>
                    <a:r>
                      <a:rPr lang="en-US" b="1" sz="800">
                        <a:solidFill>
                          <a:srgbClr val="FFFFFF"/>
                        </a:solidFill>
                      </a:rPr>
                      <a:t>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Have to use public wi-fi to do homework</c:v>
                </c:pt>
                <c:pt idx="1">
                  <c:v>Have to do your homework on the cellphone</c:v>
                </c:pt>
                <c:pt idx="2">
                  <c:v>Unable to complete homework due to unreliable access to computer/ internet connection</c:v>
                </c:pt>
              </c:strCache>
            </c:strRef>
          </c:cat>
          <c:val>
            <c:numRef>
              <c:f>Sheet1!$B$2:$B$4</c:f>
              <c:numCache>
                <c:formatCode>0</c:formatCode>
                <c:ptCount val="3"/>
                <c:pt idx="0">
                  <c:v>4.575531545676018</c:v>
                </c:pt>
                <c:pt idx="1">
                  <c:v>9.773440799534658</c:v>
                </c:pt>
                <c:pt idx="2">
                  <c:v>5.400181967141779</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7</a:t>
                    </a:r>
                  </a:p>
                </c:rich>
              </c:tx>
              <c:showLegendKey val="0"/>
              <c:showVal val="0"/>
              <c:showCatName val="0"/>
              <c:showSerName val="0"/>
              <c:showPercent val="0"/>
              <c:showBubbleSize val="0"/>
            </c:dLbl>
            <c:dLbl>
              <c:idx val="1"/>
              <c:tx>
                <c:rich>
                  <a:bodyPr/>
                  <a:lstStyle/>
                  <a:p>
                    <a:r>
                      <a:rPr lang="en-US" b="1" sz="800">
                        <a:solidFill>
                          <a:srgbClr val="FFFFFF"/>
                        </a:solidFill>
                      </a:rPr>
                      <a:t>25</a:t>
                    </a:r>
                  </a:p>
                </c:rich>
              </c:tx>
              <c:showLegendKey val="0"/>
              <c:showVal val="0"/>
              <c:showCatName val="0"/>
              <c:showSerName val="0"/>
              <c:showPercent val="0"/>
              <c:showBubbleSize val="0"/>
            </c:dLbl>
            <c:dLbl>
              <c:idx val="2"/>
              <c:tx>
                <c:rich>
                  <a:bodyPr/>
                  <a:lstStyle/>
                  <a:p>
                    <a:r>
                      <a:rPr lang="en-US" b="1" sz="800">
                        <a:solidFill>
                          <a:srgbClr val="FFFFFF"/>
                        </a:solidFill>
                      </a:rPr>
                      <a:t>11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Have to use public wi-fi to do homework</c:v>
                </c:pt>
                <c:pt idx="1">
                  <c:v>Have to do your homework on the cellphone</c:v>
                </c:pt>
                <c:pt idx="2">
                  <c:v>Unable to complete homework due to unreliable access to computer/ internet connection</c:v>
                </c:pt>
              </c:strCache>
            </c:strRef>
          </c:cat>
          <c:val>
            <c:numRef>
              <c:f>Sheet1!$C$2:$C$4</c:f>
              <c:numCache>
                <c:formatCode>0</c:formatCode>
                <c:ptCount val="3"/>
                <c:pt idx="0">
                  <c:v>7.066109820929492</c:v>
                </c:pt>
                <c:pt idx="1">
                  <c:v>25.444193401607755</c:v>
                </c:pt>
                <c:pt idx="2">
                  <c:v>11.11429633235912</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17</a:t>
                    </a:r>
                  </a:p>
                </c:rich>
              </c:tx>
              <c:showLegendKey val="0"/>
              <c:showVal val="0"/>
              <c:showCatName val="0"/>
              <c:showSerName val="0"/>
              <c:showPercent val="0"/>
              <c:showBubbleSize val="0"/>
            </c:dLbl>
            <c:dLbl>
              <c:idx val="1"/>
              <c:tx>
                <c:rich>
                  <a:bodyPr/>
                  <a:lstStyle/>
                  <a:p>
                    <a:r>
                      <a:rPr lang="en-US" b="1" sz="800">
                        <a:solidFill>
                          <a:srgbClr val="2D3142"/>
                        </a:solidFill>
                      </a:rPr>
                      <a:t>26</a:t>
                    </a:r>
                  </a:p>
                </c:rich>
              </c:tx>
              <c:showLegendKey val="0"/>
              <c:showVal val="0"/>
              <c:showCatName val="0"/>
              <c:showSerName val="0"/>
              <c:showPercent val="0"/>
              <c:showBubbleSize val="0"/>
            </c:dLbl>
            <c:dLbl>
              <c:idx val="2"/>
              <c:tx>
                <c:rich>
                  <a:bodyPr/>
                  <a:lstStyle/>
                  <a:p>
                    <a:r>
                      <a:rPr lang="en-US" b="1" sz="800">
                        <a:solidFill>
                          <a:srgbClr val="2D3142"/>
                        </a:solidFill>
                      </a:rPr>
                      <a:t>22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Have to use public wi-fi to do homework</c:v>
                </c:pt>
                <c:pt idx="1">
                  <c:v>Have to do your homework on the cellphone</c:v>
                </c:pt>
                <c:pt idx="2">
                  <c:v>Unable to complete homework due to unreliable access to computer/ internet connection</c:v>
                </c:pt>
              </c:strCache>
            </c:strRef>
          </c:cat>
          <c:val>
            <c:numRef>
              <c:f>Sheet1!$D$2:$D$4</c:f>
              <c:numCache>
                <c:formatCode>0</c:formatCode>
                <c:ptCount val="3"/>
                <c:pt idx="0">
                  <c:v>16.614027137620315</c:v>
                </c:pt>
                <c:pt idx="1">
                  <c:v>25.88250996276501</c:v>
                </c:pt>
                <c:pt idx="2">
                  <c:v>21.610823965479423</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72</a:t>
                    </a:r>
                  </a:p>
                </c:rich>
              </c:tx>
              <c:showLegendKey val="0"/>
              <c:showVal val="0"/>
              <c:showCatName val="0"/>
              <c:showSerName val="0"/>
              <c:showPercent val="0"/>
              <c:showBubbleSize val="0"/>
            </c:dLbl>
            <c:dLbl>
              <c:idx val="1"/>
              <c:tx>
                <c:rich>
                  <a:bodyPr/>
                  <a:lstStyle/>
                  <a:p>
                    <a:r>
                      <a:rPr lang="en-US" b="1" sz="800">
                        <a:solidFill>
                          <a:srgbClr val="2D3142"/>
                        </a:solidFill>
                      </a:rPr>
                      <a:t>39</a:t>
                    </a:r>
                  </a:p>
                </c:rich>
              </c:tx>
              <c:showLegendKey val="0"/>
              <c:showVal val="0"/>
              <c:showCatName val="0"/>
              <c:showSerName val="0"/>
              <c:showPercent val="0"/>
              <c:showBubbleSize val="0"/>
            </c:dLbl>
            <c:dLbl>
              <c:idx val="2"/>
              <c:tx>
                <c:rich>
                  <a:bodyPr/>
                  <a:lstStyle/>
                  <a:p>
                    <a:r>
                      <a:rPr lang="en-US" b="1" sz="800">
                        <a:solidFill>
                          <a:srgbClr val="2D3142"/>
                        </a:solidFill>
                      </a:rPr>
                      <a:t>62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Have to use public wi-fi to do homework</c:v>
                </c:pt>
                <c:pt idx="1">
                  <c:v>Have to do your homework on the cellphone</c:v>
                </c:pt>
                <c:pt idx="2">
                  <c:v>Unable to complete homework due to unreliable access to computer/ internet connection</c:v>
                </c:pt>
              </c:strCache>
            </c:strRef>
          </c:cat>
          <c:val>
            <c:numRef>
              <c:f>Sheet1!$E$2:$E$4</c:f>
              <c:numCache>
                <c:formatCode>0</c:formatCode>
                <c:ptCount val="3"/>
                <c:pt idx="0">
                  <c:v>71.63681050442099</c:v>
                </c:pt>
                <c:pt idx="1">
                  <c:v>38.73486016861467</c:v>
                </c:pt>
                <c:pt idx="2">
                  <c:v>61.76802138982504</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24</a:t>
                    </a:r>
                  </a:p>
                </c:rich>
              </c:tx>
              <c:showLegendKey val="0"/>
              <c:showVal val="0"/>
              <c:showCatName val="0"/>
              <c:showSerName val="0"/>
              <c:showPercent val="0"/>
              <c:showBubbleSize val="0"/>
            </c:dLbl>
            <c:dLbl>
              <c:idx val="1"/>
              <c:tx>
                <c:rich>
                  <a:bodyPr/>
                  <a:lstStyle/>
                  <a:p>
                    <a:r>
                      <a:rPr lang="en-US" b="1" sz="900">
                        <a:solidFill>
                          <a:srgbClr val="2D3142"/>
                        </a:solidFill>
                      </a:rPr>
                      <a:t>26</a:t>
                    </a:r>
                  </a:p>
                </c:rich>
              </c:tx>
              <c:showLegendKey val="0"/>
              <c:showVal val="0"/>
              <c:showCatName val="0"/>
              <c:showSerName val="0"/>
              <c:showPercent val="0"/>
              <c:showBubbleSize val="0"/>
            </c:dLbl>
            <c:dLbl>
              <c:idx val="2"/>
              <c:tx>
                <c:rich>
                  <a:bodyPr/>
                  <a:lstStyle/>
                  <a:p>
                    <a:r>
                      <a:rPr lang="en-US" b="1" sz="900">
                        <a:solidFill>
                          <a:srgbClr val="2D3142"/>
                        </a:solidFill>
                      </a:rPr>
                      <a:t>28</a:t>
                    </a:r>
                  </a:p>
                </c:rich>
              </c:tx>
              <c:showLegendKey val="0"/>
              <c:showVal val="0"/>
              <c:showCatName val="0"/>
              <c:showSerName val="0"/>
              <c:showPercent val="0"/>
              <c:showBubbleSize val="0"/>
            </c:dLbl>
            <c:dLbl>
              <c:idx val="3"/>
              <c:tx>
                <c:rich>
                  <a:bodyPr/>
                  <a:lstStyle/>
                  <a:p>
                    <a:r>
                      <a:rPr lang="en-US" b="1" sz="900">
                        <a:solidFill>
                          <a:srgbClr val="2D3142"/>
                        </a:solidFill>
                      </a:rPr>
                      <a:t>23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Every day or almost every day</c:v>
                </c:pt>
                <c:pt idx="1">
                  <c:v>Several times a week</c:v>
                </c:pt>
                <c:pt idx="2">
                  <c:v>About once a week</c:v>
                </c:pt>
                <c:pt idx="3">
                  <c:v>Less often</c:v>
                </c:pt>
              </c:strCache>
            </c:strRef>
          </c:cat>
          <c:val>
            <c:numRef>
              <c:f>Sheet1!$B$2:$B$5</c:f>
              <c:numCache>
                <c:formatCode>0</c:formatCode>
                <c:ptCount val="4"/>
                <c:pt idx="0">
                  <c:v>23.58416302358251</c:v>
                </c:pt>
                <c:pt idx="1">
                  <c:v>26.139202291723606</c:v>
                </c:pt>
                <c:pt idx="2">
                  <c:v>27.67673246147231</c:v>
                </c:pt>
                <c:pt idx="3">
                  <c:v>22.599902223221584</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60 </a:t>
                    </a:r>
                    <a:r>
                      <a:rPr lang="en-US" b="1" sz="900">
                        <a:solidFill>
                          <a:srgbClr val="1B5E20"/>
                        </a:solidFill>
                      </a:rPr>
                      <a:t>▲</a:t>
                    </a:r>
                  </a:p>
                </c:rich>
              </c:tx>
              <c:showLegendKey val="0"/>
              <c:showVal val="0"/>
              <c:showCatName val="0"/>
              <c:showSerName val="0"/>
              <c:showPercent val="0"/>
              <c:showBubbleSize val="0"/>
            </c:dLbl>
            <c:dLbl>
              <c:idx val="1"/>
              <c:tx>
                <c:rich>
                  <a:bodyPr/>
                  <a:lstStyle/>
                  <a:p>
                    <a:r>
                      <a:rPr lang="en-US" b="1" sz="900">
                        <a:solidFill>
                          <a:srgbClr val="2D3142"/>
                        </a:solidFill>
                      </a:rPr>
                      <a:t>21</a:t>
                    </a:r>
                  </a:p>
                </c:rich>
              </c:tx>
              <c:showLegendKey val="0"/>
              <c:showVal val="0"/>
              <c:showCatName val="0"/>
              <c:showSerName val="0"/>
              <c:showPercent val="0"/>
              <c:showBubbleSize val="0"/>
            </c:dLbl>
            <c:dLbl>
              <c:idx val="2"/>
              <c:tx>
                <c:rich>
                  <a:bodyPr/>
                  <a:lstStyle/>
                  <a:p>
                    <a:r>
                      <a:rPr lang="en-US" b="1" sz="900">
                        <a:solidFill>
                          <a:srgbClr val="2D3142"/>
                        </a:solidFill>
                      </a:rPr>
                      <a:t>8 </a:t>
                    </a:r>
                    <a:r>
                      <a:rPr lang="en-US" b="1" sz="900">
                        <a:solidFill>
                          <a:srgbClr val="8E2430"/>
                        </a:solidFill>
                      </a:rPr>
                      <a:t>▼</a:t>
                    </a:r>
                  </a:p>
                </c:rich>
              </c:tx>
              <c:showLegendKey val="0"/>
              <c:showVal val="0"/>
              <c:showCatName val="0"/>
              <c:showSerName val="0"/>
              <c:showPercent val="0"/>
              <c:showBubbleSize val="0"/>
            </c:dLbl>
            <c:dLbl>
              <c:idx val="3"/>
              <c:tx>
                <c:rich>
                  <a:bodyPr/>
                  <a:lstStyle/>
                  <a:p>
                    <a:r>
                      <a:rPr lang="en-US" b="1" sz="900">
                        <a:solidFill>
                          <a:srgbClr val="2D3142"/>
                        </a:solidFill>
                      </a:rPr>
                      <a:t>11 </a:t>
                    </a:r>
                    <a:r>
                      <a:rPr lang="en-US" b="1" sz="900">
                        <a:solidFill>
                          <a:srgbClr val="8E2430"/>
                        </a:solidFill>
                      </a:rPr>
                      <a:t>▼</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Every day or almost every day</c:v>
                </c:pt>
                <c:pt idx="1">
                  <c:v>Several times a week</c:v>
                </c:pt>
                <c:pt idx="2">
                  <c:v>About once a week</c:v>
                </c:pt>
                <c:pt idx="3">
                  <c:v>Less often</c:v>
                </c:pt>
              </c:strCache>
            </c:strRef>
          </c:cat>
          <c:val>
            <c:numRef>
              <c:f>Sheet1!$B$2:$B$5</c:f>
              <c:numCache>
                <c:formatCode>0</c:formatCode>
                <c:ptCount val="4"/>
                <c:pt idx="0">
                  <c:v>59.75407174615849</c:v>
                </c:pt>
                <c:pt idx="1">
                  <c:v>20.916494539871554</c:v>
                </c:pt>
                <c:pt idx="2">
                  <c:v>7.606461663991376</c:v>
                </c:pt>
                <c:pt idx="3">
                  <c:v>11.393630421318628</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Every day or almost every day</c:v>
                </c:pt>
              </c:strCache>
            </c:strRef>
          </c:tx>
          <c:spPr>
            <a:solidFill>
              <a:srgbClr val="4A7AB8"/>
            </a:solidFill>
          </c:spPr>
          <c:dLbls>
            <c:dLbl>
              <c:idx val="0"/>
              <c:tx>
                <c:rich>
                  <a:bodyPr/>
                  <a:lstStyle/>
                  <a:p>
                    <a:r>
                      <a:rPr lang="en-US" b="1" sz="800">
                        <a:solidFill>
                          <a:srgbClr val="FFFFFF"/>
                        </a:solidFill>
                      </a:rPr>
                      <a:t>22</a:t>
                    </a:r>
                  </a:p>
                </c:rich>
              </c:tx>
              <c:showLegendKey val="0"/>
              <c:showVal val="0"/>
              <c:showCatName val="0"/>
              <c:showSerName val="0"/>
              <c:showPercent val="0"/>
              <c:showBubbleSize val="0"/>
            </c:dLbl>
            <c:dLbl>
              <c:idx val="1"/>
              <c:tx>
                <c:rich>
                  <a:bodyPr/>
                  <a:lstStyle/>
                  <a:p>
                    <a:r>
                      <a:rPr lang="en-US" b="1" sz="800">
                        <a:solidFill>
                          <a:srgbClr val="FFFFFF"/>
                        </a:solidFill>
                      </a:rPr>
                      <a:t>25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Sheet1!$B$2:$B$3</c:f>
              <c:numCache>
                <c:formatCode>0</c:formatCode>
                <c:ptCount val="2"/>
                <c:pt idx="0">
                  <c:v>21.985597426902363</c:v>
                </c:pt>
                <c:pt idx="1">
                  <c:v>25.121939910132586</c:v>
                </c:pt>
              </c:numCache>
            </c:numRef>
          </c:val>
        </c:ser>
        <c:ser>
          <c:idx val="1"/>
          <c:order val="1"/>
          <c:tx>
            <c:strRef>
              <c:f>Sheet1!$C$1</c:f>
              <c:strCache>
                <c:ptCount val="1"/>
                <c:pt idx="0">
                  <c:v>Several times a week</c:v>
                </c:pt>
              </c:strCache>
            </c:strRef>
          </c:tx>
          <c:spPr>
            <a:solidFill>
              <a:srgbClr val="5A94DE"/>
            </a:solidFill>
          </c:spPr>
          <c:dLbls>
            <c:dLbl>
              <c:idx val="0"/>
              <c:tx>
                <c:rich>
                  <a:bodyPr/>
                  <a:lstStyle/>
                  <a:p>
                    <a:r>
                      <a:rPr lang="en-US" b="1" sz="800">
                        <a:solidFill>
                          <a:srgbClr val="FFFFFF"/>
                        </a:solidFill>
                      </a:rPr>
                      <a:t>30</a:t>
                    </a:r>
                  </a:p>
                </c:rich>
              </c:tx>
              <c:showLegendKey val="0"/>
              <c:showVal val="0"/>
              <c:showCatName val="0"/>
              <c:showSerName val="0"/>
              <c:showPercent val="0"/>
              <c:showBubbleSize val="0"/>
            </c:dLbl>
            <c:dLbl>
              <c:idx val="1"/>
              <c:tx>
                <c:rich>
                  <a:bodyPr/>
                  <a:lstStyle/>
                  <a:p>
                    <a:r>
                      <a:rPr lang="en-US" b="1" sz="800">
                        <a:solidFill>
                          <a:srgbClr val="FFFFFF"/>
                        </a:solidFill>
                      </a:rPr>
                      <a:t>22 </a:t>
                    </a:r>
                    <a:r>
                      <a:rPr lang="en-US" b="1" sz="900">
                        <a:solidFill>
                          <a:srgbClr val="EF9A9A"/>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Sheet1!$C$2:$C$3</c:f>
              <c:numCache>
                <c:formatCode>0</c:formatCode>
                <c:ptCount val="2"/>
                <c:pt idx="0">
                  <c:v>30.154271155580087</c:v>
                </c:pt>
                <c:pt idx="1">
                  <c:v>21.739966309292303</c:v>
                </c:pt>
              </c:numCache>
            </c:numRef>
          </c:val>
        </c:ser>
        <c:ser>
          <c:idx val="2"/>
          <c:order val="2"/>
          <c:tx>
            <c:strRef>
              <c:f>Sheet1!$D$1</c:f>
              <c:strCache>
                <c:ptCount val="1"/>
                <c:pt idx="0">
                  <c:v>About once a week</c:v>
                </c:pt>
              </c:strCache>
            </c:strRef>
          </c:tx>
          <c:spPr>
            <a:solidFill>
              <a:srgbClr val="8EBAEB"/>
            </a:solidFill>
          </c:spPr>
          <c:dLbls>
            <c:dLbl>
              <c:idx val="0"/>
              <c:tx>
                <c:rich>
                  <a:bodyPr/>
                  <a:lstStyle/>
                  <a:p>
                    <a:r>
                      <a:rPr lang="en-US" b="1" sz="800">
                        <a:solidFill>
                          <a:srgbClr val="2D3142"/>
                        </a:solidFill>
                      </a:rPr>
                      <a:t>26</a:t>
                    </a:r>
                  </a:p>
                </c:rich>
              </c:tx>
              <c:showLegendKey val="0"/>
              <c:showVal val="0"/>
              <c:showCatName val="0"/>
              <c:showSerName val="0"/>
              <c:showPercent val="0"/>
              <c:showBubbleSize val="0"/>
            </c:dLbl>
            <c:dLbl>
              <c:idx val="1"/>
              <c:tx>
                <c:rich>
                  <a:bodyPr/>
                  <a:lstStyle/>
                  <a:p>
                    <a:r>
                      <a:rPr lang="en-US" b="1" sz="800">
                        <a:solidFill>
                          <a:srgbClr val="2D3142"/>
                        </a:solidFill>
                      </a:rPr>
                      <a:t>30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Sheet1!$D$2:$D$3</c:f>
              <c:numCache>
                <c:formatCode>0</c:formatCode>
                <c:ptCount val="2"/>
                <c:pt idx="0">
                  <c:v>25.50506193961256</c:v>
                </c:pt>
                <c:pt idx="1">
                  <c:v>30.10441813610416</c:v>
                </c:pt>
              </c:numCache>
            </c:numRef>
          </c:val>
        </c:ser>
        <c:ser>
          <c:idx val="3"/>
          <c:order val="3"/>
          <c:tx>
            <c:strRef>
              <c:f>Sheet1!$E$1</c:f>
              <c:strCache>
                <c:ptCount val="1"/>
                <c:pt idx="0">
                  <c:v>Less often</c:v>
                </c:pt>
              </c:strCache>
            </c:strRef>
          </c:tx>
          <c:spPr>
            <a:solidFill>
              <a:srgbClr val="C3DDF7"/>
            </a:solidFill>
          </c:spPr>
          <c:dLbls>
            <c:dLbl>
              <c:idx val="0"/>
              <c:tx>
                <c:rich>
                  <a:bodyPr/>
                  <a:lstStyle/>
                  <a:p>
                    <a:r>
                      <a:rPr lang="en-US" b="1" sz="800">
                        <a:solidFill>
                          <a:srgbClr val="2D3142"/>
                        </a:solidFill>
                      </a:rPr>
                      <a:t>22</a:t>
                    </a:r>
                  </a:p>
                </c:rich>
              </c:tx>
              <c:showLegendKey val="0"/>
              <c:showVal val="0"/>
              <c:showCatName val="0"/>
              <c:showSerName val="0"/>
              <c:showPercent val="0"/>
              <c:showBubbleSize val="0"/>
            </c:dLbl>
            <c:dLbl>
              <c:idx val="1"/>
              <c:tx>
                <c:rich>
                  <a:bodyPr/>
                  <a:lstStyle/>
                  <a:p>
                    <a:r>
                      <a:rPr lang="en-US" b="1" sz="800">
                        <a:solidFill>
                          <a:srgbClr val="2D3142"/>
                        </a:solidFill>
                      </a:rPr>
                      <a:t>23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Sheet1!$E$2:$E$3</c:f>
              <c:numCache>
                <c:formatCode>0</c:formatCode>
                <c:ptCount val="2"/>
                <c:pt idx="0">
                  <c:v>22.355069477904983</c:v>
                </c:pt>
                <c:pt idx="1">
                  <c:v>23.033675644470947</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41</a:t>
                    </a:r>
                  </a:p>
                </c:rich>
              </c:tx>
              <c:showLegendKey val="0"/>
              <c:showVal val="0"/>
              <c:showCatName val="0"/>
              <c:showSerName val="0"/>
              <c:showPercent val="0"/>
              <c:showBubbleSize val="0"/>
            </c:dLbl>
            <c:dLbl>
              <c:idx val="1"/>
              <c:tx>
                <c:rich>
                  <a:bodyPr/>
                  <a:lstStyle/>
                  <a:p>
                    <a:r>
                      <a:rPr lang="en-US" b="1" sz="900">
                        <a:solidFill>
                          <a:srgbClr val="2D3142"/>
                        </a:solidFill>
                      </a:rPr>
                      <a:t>34</a:t>
                    </a:r>
                  </a:p>
                </c:rich>
              </c:tx>
              <c:showLegendKey val="0"/>
              <c:showVal val="0"/>
              <c:showCatName val="0"/>
              <c:showSerName val="0"/>
              <c:showPercent val="0"/>
              <c:showBubbleSize val="0"/>
            </c:dLbl>
            <c:dLbl>
              <c:idx val="2"/>
              <c:tx>
                <c:rich>
                  <a:bodyPr/>
                  <a:lstStyle/>
                  <a:p>
                    <a:r>
                      <a:rPr lang="en-US" b="1" sz="900">
                        <a:solidFill>
                          <a:srgbClr val="2D3142"/>
                        </a:solidFill>
                      </a:rPr>
                      <a:t>33</a:t>
                    </a:r>
                  </a:p>
                </c:rich>
              </c:tx>
              <c:showLegendKey val="0"/>
              <c:showVal val="0"/>
              <c:showCatName val="0"/>
              <c:showSerName val="0"/>
              <c:showPercent val="0"/>
              <c:showBubbleSize val="0"/>
            </c:dLbl>
            <c:dLbl>
              <c:idx val="3"/>
              <c:tx>
                <c:rich>
                  <a:bodyPr/>
                  <a:lstStyle/>
                  <a:p>
                    <a:r>
                      <a:rPr lang="en-US" b="1" sz="900">
                        <a:solidFill>
                          <a:srgbClr val="2D3142"/>
                        </a:solidFill>
                      </a:rPr>
                      <a:t>32</a:t>
                    </a:r>
                  </a:p>
                </c:rich>
              </c:tx>
              <c:showLegendKey val="0"/>
              <c:showVal val="0"/>
              <c:showCatName val="0"/>
              <c:showSerName val="0"/>
              <c:showPercent val="0"/>
              <c:showBubbleSize val="0"/>
            </c:dLbl>
            <c:dLbl>
              <c:idx val="4"/>
              <c:tx>
                <c:rich>
                  <a:bodyPr/>
                  <a:lstStyle/>
                  <a:p>
                    <a:r>
                      <a:rPr lang="en-US" b="1" sz="900">
                        <a:solidFill>
                          <a:srgbClr val="2D3142"/>
                        </a:solidFill>
                      </a:rPr>
                      <a:t>19</a:t>
                    </a:r>
                  </a:p>
                </c:rich>
              </c:tx>
              <c:showLegendKey val="0"/>
              <c:showVal val="0"/>
              <c:showCatName val="0"/>
              <c:showSerName val="0"/>
              <c:showPercent val="0"/>
              <c:showBubbleSize val="0"/>
            </c:dLbl>
            <c:dLbl>
              <c:idx val="5"/>
              <c:tx>
                <c:rich>
                  <a:bodyPr/>
                  <a:lstStyle/>
                  <a:p>
                    <a:r>
                      <a:rPr lang="en-US" b="1" sz="900">
                        <a:solidFill>
                          <a:srgbClr val="2D3142"/>
                        </a:solidFill>
                      </a:rPr>
                      <a:t>14</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You have too many other obligations</c:v>
                </c:pt>
                <c:pt idx="1">
                  <c:v>Your friends are too busy with other obligations</c:v>
                </c:pt>
                <c:pt idx="2">
                  <c:v>It’s easy to keep in touch with people online</c:v>
                </c:pt>
                <c:pt idx="3">
                  <c:v>It’s hard to find transportation</c:v>
                </c:pt>
                <c:pt idx="4">
                  <c:v>Your parents will not let you</c:v>
                </c:pt>
                <c:pt idx="5">
                  <c:v>None of these</c:v>
                </c:pt>
              </c:strCache>
            </c:strRef>
          </c:cat>
          <c:val>
            <c:numRef>
              <c:f>Sheet1!$B$2:$B$7</c:f>
              <c:numCache>
                <c:formatCode>0</c:formatCode>
                <c:ptCount val="6"/>
                <c:pt idx="0">
                  <c:v>40.703052793356434</c:v>
                </c:pt>
                <c:pt idx="1">
                  <c:v>34.24968219761839</c:v>
                </c:pt>
                <c:pt idx="2">
                  <c:v>33.06704489993837</c:v>
                </c:pt>
                <c:pt idx="3">
                  <c:v>31.681311585571365</c:v>
                </c:pt>
                <c:pt idx="4">
                  <c:v>18.80520001333133</c:v>
                </c:pt>
                <c:pt idx="5">
                  <c:v>13.792798690062217</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89</a:t>
                    </a:r>
                  </a:p>
                </c:rich>
              </c:tx>
              <c:showLegendKey val="0"/>
              <c:showVal val="0"/>
              <c:showCatName val="0"/>
              <c:showSerName val="0"/>
              <c:showPercent val="0"/>
              <c:showBubbleSize val="0"/>
            </c:dLbl>
            <c:dLbl>
              <c:idx val="1"/>
              <c:tx>
                <c:rich>
                  <a:bodyPr/>
                  <a:lstStyle/>
                  <a:p>
                    <a:r>
                      <a:rPr lang="en-US" b="1" sz="900">
                        <a:solidFill>
                          <a:srgbClr val="2D3142"/>
                        </a:solidFill>
                      </a:rPr>
                      <a:t>63</a:t>
                    </a:r>
                  </a:p>
                </c:rich>
              </c:tx>
              <c:showLegendKey val="0"/>
              <c:showVal val="0"/>
              <c:showCatName val="0"/>
              <c:showSerName val="0"/>
              <c:showPercent val="0"/>
              <c:showBubbleSize val="0"/>
            </c:dLbl>
            <c:dLbl>
              <c:idx val="2"/>
              <c:tx>
                <c:rich>
                  <a:bodyPr/>
                  <a:lstStyle/>
                  <a:p>
                    <a:r>
                      <a:rPr lang="en-US" b="1" sz="900">
                        <a:solidFill>
                          <a:srgbClr val="2D3142"/>
                        </a:solidFill>
                      </a:rPr>
                      <a:t>61</a:t>
                    </a:r>
                  </a:p>
                </c:rich>
              </c:tx>
              <c:showLegendKey val="0"/>
              <c:showVal val="0"/>
              <c:showCatName val="0"/>
              <c:showSerName val="0"/>
              <c:showPercent val="0"/>
              <c:showBubbleSize val="0"/>
            </c:dLbl>
            <c:dLbl>
              <c:idx val="3"/>
              <c:tx>
                <c:rich>
                  <a:bodyPr/>
                  <a:lstStyle/>
                  <a:p>
                    <a:r>
                      <a:rPr lang="en-US" b="1" sz="900">
                        <a:solidFill>
                          <a:srgbClr val="2D3142"/>
                        </a:solidFill>
                      </a:rPr>
                      <a:t>47</a:t>
                    </a:r>
                  </a:p>
                </c:rich>
              </c:tx>
              <c:showLegendKey val="0"/>
              <c:showVal val="0"/>
              <c:showCatName val="0"/>
              <c:showSerName val="0"/>
              <c:showPercent val="0"/>
              <c:showBubbleSize val="0"/>
            </c:dLbl>
            <c:dLbl>
              <c:idx val="4"/>
              <c:tx>
                <c:rich>
                  <a:bodyPr/>
                  <a:lstStyle/>
                  <a:p>
                    <a:r>
                      <a:rPr lang="en-US" b="1" sz="900">
                        <a:solidFill>
                          <a:srgbClr val="2D3142"/>
                        </a:solidFill>
                      </a:rPr>
                      <a:t>36</a:t>
                    </a:r>
                  </a:p>
                </c:rich>
              </c:tx>
              <c:showLegendKey val="0"/>
              <c:showVal val="0"/>
              <c:showCatName val="0"/>
              <c:showSerName val="0"/>
              <c:showPercent val="0"/>
              <c:showBubbleSize val="0"/>
            </c:dLbl>
            <c:dLbl>
              <c:idx val="5"/>
              <c:tx>
                <c:rich>
                  <a:bodyPr/>
                  <a:lstStyle/>
                  <a:p>
                    <a:r>
                      <a:rPr lang="en-US" b="1" sz="900">
                        <a:solidFill>
                          <a:srgbClr val="2D3142"/>
                        </a:solidFill>
                      </a:rPr>
                      <a:t>16</a:t>
                    </a:r>
                  </a:p>
                </c:rich>
              </c:tx>
              <c:showLegendKey val="0"/>
              <c:showVal val="0"/>
              <c:showCatName val="0"/>
              <c:showSerName val="0"/>
              <c:showPercent val="0"/>
              <c:showBubbleSize val="0"/>
            </c:dLbl>
            <c:dLbl>
              <c:idx val="6"/>
              <c:tx>
                <c:rich>
                  <a:bodyPr/>
                  <a:lstStyle/>
                  <a:p>
                    <a:r>
                      <a:rPr lang="en-US" b="1" sz="900">
                        <a:solidFill>
                          <a:srgbClr val="2D3142"/>
                        </a:solidFill>
                      </a:rPr>
                      <a:t>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Sheet1!$A$2:$A$8</c:f>
              <c:strCache>
                <c:ptCount val="7"/>
                <c:pt idx="0">
                  <c:v>Someone from your school</c:v>
                </c:pt>
                <c:pt idx="1">
                  <c:v>A different gender than you</c:v>
                </c:pt>
                <c:pt idx="2">
                  <c:v>A different race or ethnicity than you</c:v>
                </c:pt>
                <c:pt idx="3">
                  <c:v>A different religion than you</c:v>
                </c:pt>
                <c:pt idx="4">
                  <c:v>Someone who lives far away</c:v>
                </c:pt>
                <c:pt idx="5">
                  <c:v>Someone you first met online</c:v>
                </c:pt>
                <c:pt idx="6">
                  <c:v>None of these</c:v>
                </c:pt>
              </c:strCache>
            </c:strRef>
          </c:cat>
          <c:val>
            <c:numRef>
              <c:f>Sheet1!$B$2:$B$8</c:f>
              <c:numCache>
                <c:formatCode>0</c:formatCode>
                <c:ptCount val="7"/>
                <c:pt idx="0">
                  <c:v>89.09269946523372</c:v>
                </c:pt>
                <c:pt idx="1">
                  <c:v>62.91739072191837</c:v>
                </c:pt>
                <c:pt idx="2">
                  <c:v>61.111887116848564</c:v>
                </c:pt>
                <c:pt idx="3">
                  <c:v>47.20714601643082</c:v>
                </c:pt>
                <c:pt idx="4">
                  <c:v>36.201408463040075</c:v>
                </c:pt>
                <c:pt idx="5">
                  <c:v>15.663982019783951</c:v>
                </c:pt>
                <c:pt idx="6">
                  <c:v>2.768874967672367</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85</a:t>
                    </a:r>
                  </a:p>
                </c:rich>
              </c:tx>
              <c:showLegendKey val="0"/>
              <c:showVal val="0"/>
              <c:showCatName val="0"/>
              <c:showSerName val="0"/>
              <c:showPercent val="0"/>
              <c:showBubbleSize val="0"/>
            </c:dLbl>
            <c:dLbl>
              <c:idx val="1"/>
              <c:tx>
                <c:rich>
                  <a:bodyPr/>
                  <a:lstStyle/>
                  <a:p>
                    <a:r>
                      <a:rPr lang="en-US" b="1" sz="900">
                        <a:solidFill>
                          <a:srgbClr val="2D3142"/>
                        </a:solidFill>
                      </a:rPr>
                      <a:t>72</a:t>
                    </a:r>
                  </a:p>
                </c:rich>
              </c:tx>
              <c:showLegendKey val="0"/>
              <c:showVal val="0"/>
              <c:showCatName val="0"/>
              <c:showSerName val="0"/>
              <c:showPercent val="0"/>
              <c:showBubbleSize val="0"/>
            </c:dLbl>
            <c:dLbl>
              <c:idx val="2"/>
              <c:tx>
                <c:rich>
                  <a:bodyPr/>
                  <a:lstStyle/>
                  <a:p>
                    <a:r>
                      <a:rPr lang="en-US" b="1" sz="900">
                        <a:solidFill>
                          <a:srgbClr val="2D3142"/>
                        </a:solidFill>
                      </a:rPr>
                      <a:t>69</a:t>
                    </a:r>
                  </a:p>
                </c:rich>
              </c:tx>
              <c:showLegendKey val="0"/>
              <c:showVal val="0"/>
              <c:showCatName val="0"/>
              <c:showSerName val="0"/>
              <c:showPercent val="0"/>
              <c:showBubbleSize val="0"/>
            </c:dLbl>
            <c:dLbl>
              <c:idx val="3"/>
              <c:tx>
                <c:rich>
                  <a:bodyPr/>
                  <a:lstStyle/>
                  <a:p>
                    <a:r>
                      <a:rPr lang="en-US" b="1" sz="900">
                        <a:solidFill>
                          <a:srgbClr val="2D3142"/>
                        </a:solidFill>
                      </a:rPr>
                      <a:t>51</a:t>
                    </a:r>
                  </a:p>
                </c:rich>
              </c:tx>
              <c:showLegendKey val="0"/>
              <c:showVal val="0"/>
              <c:showCatName val="0"/>
              <c:showSerName val="0"/>
              <c:showPercent val="0"/>
              <c:showBubbleSize val="0"/>
            </c:dLbl>
            <c:dLbl>
              <c:idx val="4"/>
              <c:tx>
                <c:rich>
                  <a:bodyPr/>
                  <a:lstStyle/>
                  <a:p>
                    <a:r>
                      <a:rPr lang="en-US" b="1" sz="900">
                        <a:solidFill>
                          <a:srgbClr val="2D3142"/>
                        </a:solidFill>
                      </a:rPr>
                      <a:t>32</a:t>
                    </a:r>
                  </a:p>
                </c:rich>
              </c:tx>
              <c:showLegendKey val="0"/>
              <c:showVal val="0"/>
              <c:showCatName val="0"/>
              <c:showSerName val="0"/>
              <c:showPercent val="0"/>
              <c:showBubbleSize val="0"/>
            </c:dLbl>
            <c:dLbl>
              <c:idx val="5"/>
              <c:tx>
                <c:rich>
                  <a:bodyPr/>
                  <a:lstStyle/>
                  <a:p>
                    <a:r>
                      <a:rPr lang="en-US" b="1" sz="900">
                        <a:solidFill>
                          <a:srgbClr val="2D3142"/>
                        </a:solidFill>
                      </a:rPr>
                      <a:t>9</a:t>
                    </a:r>
                  </a:p>
                </c:rich>
              </c:tx>
              <c:showLegendKey val="0"/>
              <c:showVal val="0"/>
              <c:showCatName val="0"/>
              <c:showSerName val="0"/>
              <c:showPercent val="0"/>
              <c:showBubbleSize val="0"/>
            </c:dLbl>
            <c:dLbl>
              <c:idx val="6"/>
              <c:tx>
                <c:rich>
                  <a:bodyPr/>
                  <a:lstStyle/>
                  <a:p>
                    <a:r>
                      <a:rPr lang="en-US" b="1" sz="900">
                        <a:solidFill>
                          <a:srgbClr val="2D3142"/>
                        </a:solidFill>
                      </a:rPr>
                      <a:t>7</a:t>
                    </a:r>
                  </a:p>
                </c:rich>
              </c:tx>
              <c:showLegendKey val="0"/>
              <c:showVal val="0"/>
              <c:showCatName val="0"/>
              <c:showSerName val="0"/>
              <c:showPercent val="0"/>
              <c:showBubbleSize val="0"/>
            </c:dLbl>
            <c:dLbl>
              <c:idx val="7"/>
              <c:tx>
                <c:rich>
                  <a:bodyPr/>
                  <a:lstStyle/>
                  <a:p>
                    <a:r>
                      <a:rPr lang="en-US" b="1" sz="900">
                        <a:solidFill>
                          <a:srgbClr val="2D3142"/>
                        </a:solidFill>
                      </a:rPr>
                      <a:t>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Sheet1!$A$2:$A$9</c:f>
              <c:strCache>
                <c:ptCount val="8"/>
                <c:pt idx="0">
                  <c:v>YouTube</c:v>
                </c:pt>
                <c:pt idx="1">
                  <c:v>Instagram</c:v>
                </c:pt>
                <c:pt idx="2">
                  <c:v>Snapchat</c:v>
                </c:pt>
                <c:pt idx="3">
                  <c:v>Facebook</c:v>
                </c:pt>
                <c:pt idx="4">
                  <c:v>Twitter</c:v>
                </c:pt>
                <c:pt idx="5">
                  <c:v>Tumblr</c:v>
                </c:pt>
                <c:pt idx="6">
                  <c:v>Reddit</c:v>
                </c:pt>
                <c:pt idx="7">
                  <c:v>None of these</c:v>
                </c:pt>
              </c:strCache>
            </c:strRef>
          </c:cat>
          <c:val>
            <c:numRef>
              <c:f>Sheet1!$B$2:$B$9</c:f>
              <c:numCache>
                <c:formatCode>0</c:formatCode>
                <c:ptCount val="8"/>
                <c:pt idx="0">
                  <c:v>84.98783582387932</c:v>
                </c:pt>
                <c:pt idx="1">
                  <c:v>72.21516473417093</c:v>
                </c:pt>
                <c:pt idx="2">
                  <c:v>69.45741989612853</c:v>
                </c:pt>
                <c:pt idx="3">
                  <c:v>51.1535090527386</c:v>
                </c:pt>
                <c:pt idx="4">
                  <c:v>32.49377136367869</c:v>
                </c:pt>
                <c:pt idx="5">
                  <c:v>9.473638682640043</c:v>
                </c:pt>
                <c:pt idx="6">
                  <c:v>7.07406731061596</c:v>
                </c:pt>
                <c:pt idx="7">
                  <c:v>3.4908420082430216</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Male</c:v>
                </c:pt>
              </c:strCache>
            </c:strRef>
          </c:tx>
          <c:spPr>
            <a:solidFill>
              <a:srgbClr val="4A7AB8"/>
            </a:solidFill>
          </c:spPr>
          <c:dLbls>
            <c:dLbl>
              <c:idx val="0"/>
              <c:tx>
                <c:rich>
                  <a:bodyPr/>
                  <a:lstStyle/>
                  <a:p>
                    <a:r>
                      <a:rPr lang="en-US" b="1" sz="900">
                        <a:solidFill>
                          <a:srgbClr val="2D3142"/>
                        </a:solidFill>
                      </a:rPr>
                      <a:t>4</a:t>
                    </a:r>
                  </a:p>
                </c:rich>
              </c:tx>
              <c:showLegendKey val="0"/>
              <c:showVal val="0"/>
              <c:showCatName val="0"/>
              <c:showSerName val="0"/>
              <c:showPercent val="0"/>
              <c:showBubbleSize val="0"/>
            </c:dLbl>
            <c:dLbl>
              <c:idx val="1"/>
              <c:tx>
                <c:rich>
                  <a:bodyPr/>
                  <a:lstStyle/>
                  <a:p>
                    <a:r>
                      <a:rPr lang="en-US" b="1" sz="900">
                        <a:solidFill>
                          <a:srgbClr val="2D3142"/>
                        </a:solidFill>
                      </a:rPr>
                      <a:t>17</a:t>
                    </a:r>
                  </a:p>
                </c:rich>
              </c:tx>
              <c:showLegendKey val="0"/>
              <c:showVal val="0"/>
              <c:showCatName val="0"/>
              <c:showSerName val="0"/>
              <c:showPercent val="0"/>
              <c:showBubbleSize val="0"/>
            </c:dLbl>
            <c:dLbl>
              <c:idx val="2"/>
              <c:tx>
                <c:rich>
                  <a:bodyPr/>
                  <a:lstStyle/>
                  <a:p>
                    <a:r>
                      <a:rPr lang="en-US" b="1" sz="900">
                        <a:solidFill>
                          <a:srgbClr val="2D3142"/>
                        </a:solidFill>
                      </a:rPr>
                      <a:t>9</a:t>
                    </a:r>
                  </a:p>
                </c:rich>
              </c:tx>
              <c:showLegendKey val="0"/>
              <c:showVal val="0"/>
              <c:showCatName val="0"/>
              <c:showSerName val="0"/>
              <c:showPercent val="0"/>
              <c:showBubbleSize val="0"/>
            </c:dLbl>
            <c:dLbl>
              <c:idx val="3"/>
              <c:tx>
                <c:rich>
                  <a:bodyPr/>
                  <a:lstStyle/>
                  <a:p>
                    <a:r>
                      <a:rPr lang="en-US" b="1" sz="900">
                        <a:solidFill>
                          <a:srgbClr val="2D3142"/>
                        </a:solidFill>
                      </a:rPr>
                      <a:t>33</a:t>
                    </a:r>
                  </a:p>
                </c:rich>
              </c:tx>
              <c:showLegendKey val="0"/>
              <c:showVal val="0"/>
              <c:showCatName val="0"/>
              <c:showSerName val="0"/>
              <c:showPercent val="0"/>
              <c:showBubbleSize val="0"/>
            </c:dLbl>
            <c:dLbl>
              <c:idx val="4"/>
              <c:tx>
                <c:rich>
                  <a:bodyPr/>
                  <a:lstStyle/>
                  <a:p>
                    <a:r>
                      <a:rPr lang="en-US" b="1" sz="900">
                        <a:solidFill>
                          <a:srgbClr val="2D3142"/>
                        </a:solidFill>
                      </a:rPr>
                      <a:t>35</a:t>
                    </a:r>
                  </a:p>
                </c:rich>
              </c:tx>
              <c:showLegendKey val="0"/>
              <c:showVal val="0"/>
              <c:showCatName val="0"/>
              <c:showSerName val="0"/>
              <c:showPercent val="0"/>
              <c:showBubbleSize val="0"/>
            </c:dLbl>
            <c:dLbl>
              <c:idx val="5"/>
              <c:tx>
                <c:rich>
                  <a:bodyPr/>
                  <a:lstStyle/>
                  <a:p>
                    <a:r>
                      <a:rPr lang="en-US" b="1" sz="900">
                        <a:solidFill>
                          <a:srgbClr val="2D3142"/>
                        </a:solidFill>
                      </a:rPr>
                      <a:t>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Twitter</c:v>
                </c:pt>
                <c:pt idx="1">
                  <c:v>Instagram</c:v>
                </c:pt>
                <c:pt idx="2">
                  <c:v>Facebook</c:v>
                </c:pt>
                <c:pt idx="3">
                  <c:v>Snapchat</c:v>
                </c:pt>
                <c:pt idx="4">
                  <c:v>YouTube</c:v>
                </c:pt>
                <c:pt idx="5">
                  <c:v>Tumblr OR Reddit</c:v>
                </c:pt>
              </c:strCache>
            </c:strRef>
          </c:cat>
          <c:val>
            <c:numRef>
              <c:f>Sheet1!$B$2:$B$7</c:f>
              <c:numCache>
                <c:formatCode>0</c:formatCode>
                <c:ptCount val="6"/>
                <c:pt idx="0">
                  <c:v>4.471879245633532</c:v>
                </c:pt>
                <c:pt idx="1">
                  <c:v>16.910588812044043</c:v>
                </c:pt>
                <c:pt idx="2">
                  <c:v>8.525938226211238</c:v>
                </c:pt>
                <c:pt idx="3">
                  <c:v>32.694084914113894</c:v>
                </c:pt>
                <c:pt idx="4">
                  <c:v>35.17849903937333</c:v>
                </c:pt>
                <c:pt idx="5">
                  <c:v>2.092325967577529</c:v>
                </c:pt>
              </c:numCache>
            </c:numRef>
          </c:val>
        </c:ser>
        <c:ser>
          <c:idx val="1"/>
          <c:order val="1"/>
          <c:tx>
            <c:strRef>
              <c:f>Sheet1!$C$1</c:f>
              <c:strCache>
                <c:ptCount val="1"/>
                <c:pt idx="0">
                  <c:v>Female</c:v>
                </c:pt>
              </c:strCache>
            </c:strRef>
          </c:tx>
          <c:spPr>
            <a:solidFill>
              <a:srgbClr val="5A94DE"/>
            </a:solidFill>
          </c:spPr>
          <c:dLbls>
            <c:dLbl>
              <c:idx val="0"/>
              <c:tx>
                <c:rich>
                  <a:bodyPr/>
                  <a:lstStyle/>
                  <a:p>
                    <a:r>
                      <a:rPr lang="en-US" b="1" sz="900">
                        <a:solidFill>
                          <a:srgbClr val="2D3142"/>
                        </a:solidFill>
                      </a:rPr>
                      <a:t>1</a:t>
                    </a:r>
                  </a:p>
                </c:rich>
              </c:tx>
              <c:showLegendKey val="0"/>
              <c:showVal val="0"/>
              <c:showCatName val="0"/>
              <c:showSerName val="0"/>
              <c:showPercent val="0"/>
              <c:showBubbleSize val="0"/>
            </c:dLbl>
            <c:dLbl>
              <c:idx val="1"/>
              <c:tx>
                <c:rich>
                  <a:bodyPr/>
                  <a:lstStyle/>
                  <a:p>
                    <a:r>
                      <a:rPr lang="en-US" b="1" sz="900">
                        <a:solidFill>
                          <a:srgbClr val="2D3142"/>
                        </a:solidFill>
                      </a:rPr>
                      <a:t>14</a:t>
                    </a:r>
                  </a:p>
                </c:rich>
              </c:tx>
              <c:showLegendKey val="0"/>
              <c:showVal val="0"/>
              <c:showCatName val="0"/>
              <c:showSerName val="0"/>
              <c:showPercent val="0"/>
              <c:showBubbleSize val="0"/>
            </c:dLbl>
            <c:dLbl>
              <c:idx val="2"/>
              <c:tx>
                <c:rich>
                  <a:bodyPr/>
                  <a:lstStyle/>
                  <a:p>
                    <a:r>
                      <a:rPr lang="en-US" b="1" sz="900">
                        <a:solidFill>
                          <a:srgbClr val="2D3142"/>
                        </a:solidFill>
                      </a:rPr>
                      <a:t>14</a:t>
                    </a:r>
                  </a:p>
                </c:rich>
              </c:tx>
              <c:showLegendKey val="0"/>
              <c:showVal val="0"/>
              <c:showCatName val="0"/>
              <c:showSerName val="0"/>
              <c:showPercent val="0"/>
              <c:showBubbleSize val="0"/>
            </c:dLbl>
            <c:dLbl>
              <c:idx val="3"/>
              <c:tx>
                <c:rich>
                  <a:bodyPr/>
                  <a:lstStyle/>
                  <a:p>
                    <a:r>
                      <a:rPr lang="en-US" b="1" sz="900">
                        <a:solidFill>
                          <a:srgbClr val="2D3142"/>
                        </a:solidFill>
                      </a:rPr>
                      <a:t>48 </a:t>
                    </a:r>
                    <a:r>
                      <a:rPr lang="en-US" b="1" sz="900">
                        <a:solidFill>
                          <a:srgbClr val="1B5E20"/>
                        </a:solidFill>
                      </a:rPr>
                      <a:t>▲</a:t>
                    </a:r>
                  </a:p>
                </c:rich>
              </c:tx>
              <c:showLegendKey val="0"/>
              <c:showVal val="0"/>
              <c:showCatName val="0"/>
              <c:showSerName val="0"/>
              <c:showPercent val="0"/>
              <c:showBubbleSize val="0"/>
            </c:dLbl>
            <c:dLbl>
              <c:idx val="4"/>
              <c:tx>
                <c:rich>
                  <a:bodyPr/>
                  <a:lstStyle/>
                  <a:p>
                    <a:r>
                      <a:rPr lang="en-US" b="1" sz="900">
                        <a:solidFill>
                          <a:srgbClr val="2D3142"/>
                        </a:solidFill>
                      </a:rPr>
                      <a:t>22 </a:t>
                    </a:r>
                    <a:r>
                      <a:rPr lang="en-US" b="1" sz="900">
                        <a:solidFill>
                          <a:srgbClr val="8E2430"/>
                        </a:solidFill>
                      </a:rPr>
                      <a:t>▼</a:t>
                    </a:r>
                  </a:p>
                </c:rich>
              </c:tx>
              <c:showLegendKey val="0"/>
              <c:showVal val="0"/>
              <c:showCatName val="0"/>
              <c:showSerName val="0"/>
              <c:showPercent val="0"/>
              <c:showBubbleSize val="0"/>
            </c:dLbl>
            <c:dLbl>
              <c:idx val="5"/>
              <c:tx>
                <c:rich>
                  <a:bodyPr/>
                  <a:lstStyle/>
                  <a:p>
                    <a:r>
                      <a:rPr lang="en-US" b="1" sz="900">
                        <a:solidFill>
                          <a:srgbClr val="2D3142"/>
                        </a:solidFill>
                      </a:rPr>
                      <a:t>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Twitter</c:v>
                </c:pt>
                <c:pt idx="1">
                  <c:v>Instagram</c:v>
                </c:pt>
                <c:pt idx="2">
                  <c:v>Facebook</c:v>
                </c:pt>
                <c:pt idx="3">
                  <c:v>Snapchat</c:v>
                </c:pt>
                <c:pt idx="4">
                  <c:v>YouTube</c:v>
                </c:pt>
                <c:pt idx="5">
                  <c:v>Tumblr OR Reddit</c:v>
                </c:pt>
              </c:strCache>
            </c:strRef>
          </c:cat>
          <c:val>
            <c:numRef>
              <c:f>Sheet1!$C$2:$C$7</c:f>
              <c:numCache>
                <c:formatCode>0</c:formatCode>
                <c:ptCount val="6"/>
                <c:pt idx="0">
                  <c:v>1.2577865361586258</c:v>
                </c:pt>
                <c:pt idx="1">
                  <c:v>14.017325483619706</c:v>
                </c:pt>
                <c:pt idx="2">
                  <c:v>13.955772465849112</c:v>
                </c:pt>
                <c:pt idx="3">
                  <c:v>48.31349996159561</c:v>
                </c:pt>
                <c:pt idx="4">
                  <c:v>21.828002477712115</c:v>
                </c:pt>
                <c:pt idx="5">
                  <c:v>0.6276130750648152</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4A7AB8"/>
              </a:solidFill>
            </c:spPr>
          </c:dPt>
          <c:dPt>
            <c:idx val="1"/>
            <c:spPr>
              <a:solidFill>
                <a:srgbClr val="5A94DE"/>
              </a:solidFill>
            </c:spPr>
          </c:dPt>
          <c:dPt>
            <c:idx val="2"/>
            <c:spPr>
              <a:solidFill>
                <a:srgbClr val="8EBAEB"/>
              </a:solidFill>
            </c:spPr>
          </c:dPt>
          <c:dPt>
            <c:idx val="3"/>
            <c:spPr>
              <a:solidFill>
                <a:srgbClr val="C3DDF7"/>
              </a:solidFill>
            </c:spPr>
          </c:dPt>
          <c:dLbls>
            <c:dLbl>
              <c:idx val="0"/>
              <c:tx>
                <c:rich>
                  <a:bodyPr/>
                  <a:lstStyle/>
                  <a:p>
                    <a:r>
                      <a:rPr lang="en-US" b="1" sz="900">
                        <a:solidFill>
                          <a:srgbClr val="2D3142"/>
                        </a:solidFill>
                      </a:rPr>
                      <a:t>31</a:t>
                    </a:r>
                  </a:p>
                </c:rich>
              </c:tx>
              <c:showLegendKey val="0"/>
              <c:showVal val="0"/>
              <c:showCatName val="0"/>
              <c:showSerName val="0"/>
              <c:showPercent val="0"/>
              <c:showBubbleSize val="0"/>
            </c:dLbl>
            <c:dLbl>
              <c:idx val="1"/>
              <c:tx>
                <c:rich>
                  <a:bodyPr/>
                  <a:lstStyle/>
                  <a:p>
                    <a:r>
                      <a:rPr lang="en-US" b="1" sz="900">
                        <a:solidFill>
                          <a:srgbClr val="2D3142"/>
                        </a:solidFill>
                      </a:rPr>
                      <a:t>24</a:t>
                    </a:r>
                  </a:p>
                </c:rich>
              </c:tx>
              <c:showLegendKey val="0"/>
              <c:showVal val="0"/>
              <c:showCatName val="0"/>
              <c:showSerName val="0"/>
              <c:showPercent val="0"/>
              <c:showBubbleSize val="0"/>
            </c:dLbl>
            <c:dLbl>
              <c:idx val="2"/>
              <c:tx>
                <c:rich>
                  <a:bodyPr/>
                  <a:lstStyle/>
                  <a:p>
                    <a:r>
                      <a:rPr lang="en-US" b="1" sz="900">
                        <a:solidFill>
                          <a:srgbClr val="2D3142"/>
                        </a:solidFill>
                      </a:rPr>
                      <a:t>45</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Mostly positive</c:v>
                </c:pt>
                <c:pt idx="1">
                  <c:v>Mostly negative</c:v>
                </c:pt>
                <c:pt idx="2">
                  <c:v>Neither positive nor negative</c:v>
                </c:pt>
                <c:pt idx="3">
                  <c:v>DON’T KNOW</c:v>
                </c:pt>
              </c:strCache>
            </c:strRef>
          </c:cat>
          <c:val>
            <c:numRef>
              <c:f>Sheet1!$B$2:$B$5</c:f>
              <c:numCache>
                <c:formatCode>0</c:formatCode>
                <c:ptCount val="4"/>
                <c:pt idx="0">
                  <c:v>30.51177376300862</c:v>
                </c:pt>
                <c:pt idx="1">
                  <c:v>24.261724799781863</c:v>
                </c:pt>
                <c:pt idx="2">
                  <c:v>45.00608809775943</c:v>
                </c:pt>
                <c:pt idx="3">
                  <c:v>0.16594379619490812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Male</c:v>
                </c:pt>
              </c:strCache>
            </c:strRef>
          </c:tx>
          <c:spPr>
            <a:solidFill>
              <a:srgbClr val="4A7AB8"/>
            </a:solidFill>
          </c:spPr>
          <c:dLbls>
            <c:dLbl>
              <c:idx val="0"/>
              <c:tx>
                <c:rich>
                  <a:bodyPr/>
                  <a:lstStyle/>
                  <a:p>
                    <a:r>
                      <a:rPr lang="en-US" b="1" sz="900">
                        <a:solidFill>
                          <a:srgbClr val="2D3142"/>
                        </a:solidFill>
                      </a:rPr>
                      <a:t>32</a:t>
                    </a:r>
                  </a:p>
                </c:rich>
              </c:tx>
              <c:showLegendKey val="0"/>
              <c:showVal val="0"/>
              <c:showCatName val="0"/>
              <c:showSerName val="0"/>
              <c:showPercent val="0"/>
              <c:showBubbleSize val="0"/>
            </c:dLbl>
            <c:dLbl>
              <c:idx val="1"/>
              <c:tx>
                <c:rich>
                  <a:bodyPr/>
                  <a:lstStyle/>
                  <a:p>
                    <a:r>
                      <a:rPr lang="en-US" b="1" sz="900">
                        <a:solidFill>
                          <a:srgbClr val="2D3142"/>
                        </a:solidFill>
                      </a:rPr>
                      <a:t>21</a:t>
                    </a:r>
                  </a:p>
                </c:rich>
              </c:tx>
              <c:showLegendKey val="0"/>
              <c:showVal val="0"/>
              <c:showCatName val="0"/>
              <c:showSerName val="0"/>
              <c:showPercent val="0"/>
              <c:showBubbleSize val="0"/>
            </c:dLbl>
            <c:dLbl>
              <c:idx val="2"/>
              <c:tx>
                <c:rich>
                  <a:bodyPr/>
                  <a:lstStyle/>
                  <a:p>
                    <a:r>
                      <a:rPr lang="en-US" b="1" sz="900">
                        <a:solidFill>
                          <a:srgbClr val="2D3142"/>
                        </a:solidFill>
                      </a:rPr>
                      <a:t>47</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Mostly positive</c:v>
                </c:pt>
                <c:pt idx="1">
                  <c:v>Mostly negative</c:v>
                </c:pt>
                <c:pt idx="2">
                  <c:v>Neither positive nor negative</c:v>
                </c:pt>
                <c:pt idx="3">
                  <c:v>DON’T KNOW</c:v>
                </c:pt>
              </c:strCache>
            </c:strRef>
          </c:cat>
          <c:val>
            <c:numRef>
              <c:f>Sheet1!$B$2:$B$5</c:f>
              <c:numCache>
                <c:formatCode>0</c:formatCode>
                <c:ptCount val="4"/>
                <c:pt idx="0">
                  <c:v>31.96035712798314</c:v>
                </c:pt>
                <c:pt idx="1">
                  <c:v>20.97225418184136</c:v>
                </c:pt>
                <c:pt idx="2">
                  <c:v>47.06738869017549</c:v>
                </c:pt>
                <c:pt idx="3">
                  <c:v>0.0</c:v>
                </c:pt>
              </c:numCache>
            </c:numRef>
          </c:val>
        </c:ser>
        <c:ser>
          <c:idx val="1"/>
          <c:order val="1"/>
          <c:tx>
            <c:strRef>
              <c:f>Sheet1!$C$1</c:f>
              <c:strCache>
                <c:ptCount val="1"/>
                <c:pt idx="0">
                  <c:v>Female</c:v>
                </c:pt>
              </c:strCache>
            </c:strRef>
          </c:tx>
          <c:spPr>
            <a:solidFill>
              <a:srgbClr val="5A94DE"/>
            </a:solidFill>
          </c:spPr>
          <c:dLbls>
            <c:dLbl>
              <c:idx val="0"/>
              <c:tx>
                <c:rich>
                  <a:bodyPr/>
                  <a:lstStyle/>
                  <a:p>
                    <a:r>
                      <a:rPr lang="en-US" b="1" sz="900">
                        <a:solidFill>
                          <a:srgbClr val="2D3142"/>
                        </a:solidFill>
                      </a:rPr>
                      <a:t>29</a:t>
                    </a:r>
                  </a:p>
                </c:rich>
              </c:tx>
              <c:showLegendKey val="0"/>
              <c:showVal val="0"/>
              <c:showCatName val="0"/>
              <c:showSerName val="0"/>
              <c:showPercent val="0"/>
              <c:showBubbleSize val="0"/>
            </c:dLbl>
            <c:dLbl>
              <c:idx val="1"/>
              <c:tx>
                <c:rich>
                  <a:bodyPr/>
                  <a:lstStyle/>
                  <a:p>
                    <a:r>
                      <a:rPr lang="en-US" b="1" sz="900">
                        <a:solidFill>
                          <a:srgbClr val="2D3142"/>
                        </a:solidFill>
                      </a:rPr>
                      <a:t>28</a:t>
                    </a:r>
                  </a:p>
                </c:rich>
              </c:tx>
              <c:showLegendKey val="0"/>
              <c:showVal val="0"/>
              <c:showCatName val="0"/>
              <c:showSerName val="0"/>
              <c:showPercent val="0"/>
              <c:showBubbleSize val="0"/>
            </c:dLbl>
            <c:dLbl>
              <c:idx val="2"/>
              <c:tx>
                <c:rich>
                  <a:bodyPr/>
                  <a:lstStyle/>
                  <a:p>
                    <a:r>
                      <a:rPr lang="en-US" b="1" sz="900">
                        <a:solidFill>
                          <a:srgbClr val="2D3142"/>
                        </a:solidFill>
                      </a:rPr>
                      <a:t>43</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Mostly positive</c:v>
                </c:pt>
                <c:pt idx="1">
                  <c:v>Mostly negative</c:v>
                </c:pt>
                <c:pt idx="2">
                  <c:v>Neither positive nor negative</c:v>
                </c:pt>
                <c:pt idx="3">
                  <c:v>DON’T KNOW</c:v>
                </c:pt>
              </c:strCache>
            </c:strRef>
          </c:cat>
          <c:val>
            <c:numRef>
              <c:f>Sheet1!$C$2:$C$5</c:f>
              <c:numCache>
                <c:formatCode>0</c:formatCode>
                <c:ptCount val="4"/>
                <c:pt idx="0">
                  <c:v>29.294865249204165</c:v>
                </c:pt>
                <c:pt idx="1">
                  <c:v>27.518224792874328</c:v>
                </c:pt>
                <c:pt idx="2">
                  <c:v>42.74137163998136</c:v>
                </c:pt>
                <c:pt idx="3">
                  <c:v>0.33543486983927545</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100</a:t>
                    </a:r>
                  </a:p>
                </c:rich>
              </c:tx>
              <c:showLegendKey val="0"/>
              <c:showVal val="0"/>
              <c:showCatName val="0"/>
              <c:showSerName val="0"/>
              <c:showPercent val="0"/>
              <c:showBubbleSize val="0"/>
            </c:dLbl>
            <c:dLbl>
              <c:idx val="1"/>
              <c:tx>
                <c:rich>
                  <a:bodyPr/>
                  <a:lstStyle/>
                  <a:p>
                    <a:r>
                      <a:rPr lang="en-US" b="1" sz="900">
                        <a:solidFill>
                          <a:srgbClr val="2D3142"/>
                        </a:solidFill>
                      </a:rPr>
                      <a:t>5</a:t>
                    </a:r>
                  </a:p>
                </c:rich>
              </c:tx>
              <c:showLegendKey val="0"/>
              <c:showVal val="0"/>
              <c:showCatName val="0"/>
              <c:showSerName val="0"/>
              <c:showPercent val="0"/>
              <c:showBubbleSize val="0"/>
            </c:dLbl>
            <c:dLbl>
              <c:idx val="2"/>
              <c:tx>
                <c:rich>
                  <a:bodyPr/>
                  <a:lstStyle/>
                  <a:p>
                    <a:r>
                      <a:rPr lang="en-US" b="1" sz="900">
                        <a:solidFill>
                          <a:srgbClr val="2D3142"/>
                        </a:solidFill>
                      </a:rPr>
                      <a:t>2</a:t>
                    </a:r>
                  </a:p>
                </c:rich>
              </c:tx>
              <c:showLegendKey val="0"/>
              <c:showVal val="0"/>
              <c:showCatName val="0"/>
              <c:showSerName val="0"/>
              <c:showPercent val="0"/>
              <c:showBubbleSize val="0"/>
            </c:dLbl>
            <c:dLbl>
              <c:idx val="3"/>
              <c:tx>
                <c:rich>
                  <a:bodyPr/>
                  <a:lstStyle/>
                  <a:p>
                    <a:r>
                      <a:rPr lang="en-US" b="1" sz="900">
                        <a:solidFill>
                          <a:srgbClr val="2D3142"/>
                        </a:solidFill>
                      </a:rPr>
                      <a:t>2</a:t>
                    </a:r>
                  </a:p>
                </c:rich>
              </c:tx>
              <c:showLegendKey val="0"/>
              <c:showVal val="0"/>
              <c:showCatName val="0"/>
              <c:showSerName val="0"/>
              <c:showPercent val="0"/>
              <c:showBubbleSize val="0"/>
            </c:dLbl>
            <c:dLbl>
              <c:idx val="4"/>
              <c:tx>
                <c:rich>
                  <a:bodyPr/>
                  <a:lstStyle/>
                  <a:p>
                    <a:r>
                      <a:rPr lang="en-US" b="1" sz="900">
                        <a:solidFill>
                          <a:srgbClr val="2D3142"/>
                        </a:solidFill>
                      </a:rPr>
                      <a:t>1</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dLbl>
              <c:idx val="6"/>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Sheet1!$A$2:$A$8</c:f>
              <c:strCache>
                <c:ptCount val="7"/>
                <c:pt idx="0">
                  <c:v>Communication with friends and family</c:v>
                </c:pt>
                <c:pt idx="1">
                  <c:v>Finding information / news / current events</c:v>
                </c:pt>
                <c:pt idx="2">
                  <c:v>Self expression</c:v>
                </c:pt>
                <c:pt idx="3">
                  <c:v>Learning new things</c:v>
                </c:pt>
                <c:pt idx="4">
                  <c:v>Getting support</c:v>
                </c:pt>
                <c:pt idx="5">
                  <c:v>Meeting people with similar interests</c:v>
                </c:pt>
                <c:pt idx="6">
                  <c:v>Happiness, entertainment, convenience</c:v>
                </c:pt>
              </c:strCache>
            </c:strRef>
          </c:cat>
          <c:val>
            <c:numRef>
              <c:f>Sheet1!$B$2:$B$8</c:f>
              <c:numCache>
                <c:formatCode>0</c:formatCode>
                <c:ptCount val="7"/>
                <c:pt idx="0">
                  <c:v>100.0</c:v>
                </c:pt>
                <c:pt idx="1">
                  <c:v>5.474427496978289</c:v>
                </c:pt>
                <c:pt idx="2">
                  <c:v>2.4876392846498363</c:v>
                </c:pt>
                <c:pt idx="3">
                  <c:v>2.4779695559235737</c:v>
                </c:pt>
                <c:pt idx="4">
                  <c:v>0.9729614624239454</c:v>
                </c:pt>
                <c:pt idx="5">
                  <c:v>0.0</c:v>
                </c:pt>
                <c:pt idx="6">
                  <c:v>0.0</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16</a:t>
                    </a:r>
                  </a:p>
                </c:rich>
              </c:tx>
              <c:showLegendKey val="0"/>
              <c:showVal val="0"/>
              <c:showCatName val="0"/>
              <c:showSerName val="0"/>
              <c:showPercent val="0"/>
              <c:showBubbleSize val="0"/>
            </c:dLbl>
            <c:dLbl>
              <c:idx val="1"/>
              <c:tx>
                <c:rich>
                  <a:bodyPr/>
                  <a:lstStyle/>
                  <a:p>
                    <a:r>
                      <a:rPr lang="en-US" b="1" sz="800">
                        <a:solidFill>
                          <a:srgbClr val="FFFFFF"/>
                        </a:solidFill>
                      </a:rPr>
                      <a:t>11</a:t>
                    </a:r>
                  </a:p>
                </c:rich>
              </c:tx>
              <c:showLegendKey val="0"/>
              <c:showVal val="0"/>
              <c:showCatName val="0"/>
              <c:showSerName val="0"/>
              <c:showPercent val="0"/>
              <c:showBubbleSize val="0"/>
            </c:dLbl>
            <c:dLbl>
              <c:idx val="2"/>
              <c:tx>
                <c:rich>
                  <a:bodyPr/>
                  <a:lstStyle/>
                  <a:p>
                    <a:r>
                      <a:rPr lang="en-US" b="1" sz="800">
                        <a:solidFill>
                          <a:srgbClr val="FFFFFF"/>
                        </a:solidFill>
                      </a:rPr>
                      <a:t>10</a:t>
                    </a:r>
                  </a:p>
                </c:rich>
              </c:tx>
              <c:showLegendKey val="0"/>
              <c:showVal val="0"/>
              <c:showCatName val="0"/>
              <c:showSerName val="0"/>
              <c:showPercent val="0"/>
              <c:showBubbleSize val="0"/>
            </c:dLbl>
            <c:dLbl>
              <c:idx val="3"/>
              <c:tx>
                <c:rich>
                  <a:bodyPr/>
                  <a:lstStyle/>
                  <a:p>
                    <a:r>
                      <a:rPr lang="en-US" b="1" sz="800">
                        <a:solidFill>
                          <a:srgbClr val="FFFFFF"/>
                        </a:solidFill>
                      </a:rPr>
                      <a:t>14</a:t>
                    </a:r>
                  </a:p>
                </c:rich>
              </c:tx>
              <c:showLegendKey val="0"/>
              <c:showVal val="0"/>
              <c:showCatName val="0"/>
              <c:showSerName val="0"/>
              <c:showPercent val="0"/>
              <c:showBubbleSize val="0"/>
            </c:dLbl>
            <c:dLbl>
              <c:idx val="4"/>
              <c:tx>
                <c:rich>
                  <a:bodyPr/>
                  <a:lstStyle/>
                  <a:p>
                    <a:r>
                      <a:rPr lang="en-US" b="1" sz="800">
                        <a:solidFill>
                          <a:srgbClr val="FFFFFF"/>
                        </a:solidFill>
                      </a:rPr>
                      <a:t>8</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Selfies</c:v>
                </c:pt>
                <c:pt idx="1">
                  <c:v>Videos you’ve recorded and created</c:v>
                </c:pt>
                <c:pt idx="2">
                  <c:v>Updates on where you are or what you’re doing</c:v>
                </c:pt>
                <c:pt idx="3">
                  <c:v>Things that only your closest friends would understand</c:v>
                </c:pt>
                <c:pt idx="4">
                  <c:v>Things you want to go viral</c:v>
                </c:pt>
              </c:strCache>
            </c:strRef>
          </c:cat>
          <c:val>
            <c:numRef>
              <c:f>Sheet1!$B$2:$B$6</c:f>
              <c:numCache>
                <c:formatCode>0</c:formatCode>
                <c:ptCount val="5"/>
                <c:pt idx="0">
                  <c:v>16.246861903324383</c:v>
                </c:pt>
                <c:pt idx="1">
                  <c:v>11.38866225213774</c:v>
                </c:pt>
                <c:pt idx="2">
                  <c:v>10.326904630999815</c:v>
                </c:pt>
                <c:pt idx="3">
                  <c:v>13.618598058339582</c:v>
                </c:pt>
                <c:pt idx="4">
                  <c:v>7.700878149772603</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30</a:t>
                    </a:r>
                  </a:p>
                </c:rich>
              </c:tx>
              <c:showLegendKey val="0"/>
              <c:showVal val="0"/>
              <c:showCatName val="0"/>
              <c:showSerName val="0"/>
              <c:showPercent val="0"/>
              <c:showBubbleSize val="0"/>
            </c:dLbl>
            <c:dLbl>
              <c:idx val="1"/>
              <c:tx>
                <c:rich>
                  <a:bodyPr/>
                  <a:lstStyle/>
                  <a:p>
                    <a:r>
                      <a:rPr lang="en-US" b="1" sz="800">
                        <a:solidFill>
                          <a:srgbClr val="FFFFFF"/>
                        </a:solidFill>
                      </a:rPr>
                      <a:t>31</a:t>
                    </a:r>
                  </a:p>
                </c:rich>
              </c:tx>
              <c:showLegendKey val="0"/>
              <c:showVal val="0"/>
              <c:showCatName val="0"/>
              <c:showSerName val="0"/>
              <c:showPercent val="0"/>
              <c:showBubbleSize val="0"/>
            </c:dLbl>
            <c:dLbl>
              <c:idx val="2"/>
              <c:tx>
                <c:rich>
                  <a:bodyPr/>
                  <a:lstStyle/>
                  <a:p>
                    <a:r>
                      <a:rPr lang="en-US" b="1" sz="800">
                        <a:solidFill>
                          <a:srgbClr val="FFFFFF"/>
                        </a:solidFill>
                      </a:rPr>
                      <a:t>33</a:t>
                    </a:r>
                  </a:p>
                </c:rich>
              </c:tx>
              <c:showLegendKey val="0"/>
              <c:showVal val="0"/>
              <c:showCatName val="0"/>
              <c:showSerName val="0"/>
              <c:showPercent val="0"/>
              <c:showBubbleSize val="0"/>
            </c:dLbl>
            <c:dLbl>
              <c:idx val="3"/>
              <c:tx>
                <c:rich>
                  <a:bodyPr/>
                  <a:lstStyle/>
                  <a:p>
                    <a:r>
                      <a:rPr lang="en-US" b="1" sz="800">
                        <a:solidFill>
                          <a:srgbClr val="FFFFFF"/>
                        </a:solidFill>
                      </a:rPr>
                      <a:t>38</a:t>
                    </a:r>
                  </a:p>
                </c:rich>
              </c:tx>
              <c:showLegendKey val="0"/>
              <c:showVal val="0"/>
              <c:showCatName val="0"/>
              <c:showSerName val="0"/>
              <c:showPercent val="0"/>
              <c:showBubbleSize val="0"/>
            </c:dLbl>
            <c:dLbl>
              <c:idx val="4"/>
              <c:tx>
                <c:rich>
                  <a:bodyPr/>
                  <a:lstStyle/>
                  <a:p>
                    <a:r>
                      <a:rPr lang="en-US" b="1" sz="800">
                        <a:solidFill>
                          <a:srgbClr val="FFFFFF"/>
                        </a:solidFill>
                      </a:rPr>
                      <a:t>22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Selfies</c:v>
                </c:pt>
                <c:pt idx="1">
                  <c:v>Videos you’ve recorded and created</c:v>
                </c:pt>
                <c:pt idx="2">
                  <c:v>Updates on where you are or what you’re doing</c:v>
                </c:pt>
                <c:pt idx="3">
                  <c:v>Things that only your closest friends would understand</c:v>
                </c:pt>
                <c:pt idx="4">
                  <c:v>Things you want to go viral</c:v>
                </c:pt>
              </c:strCache>
            </c:strRef>
          </c:cat>
          <c:val>
            <c:numRef>
              <c:f>Sheet1!$C$2:$C$6</c:f>
              <c:numCache>
                <c:formatCode>0</c:formatCode>
                <c:ptCount val="5"/>
                <c:pt idx="0">
                  <c:v>30.070265841672978</c:v>
                </c:pt>
                <c:pt idx="1">
                  <c:v>31.39455404157826</c:v>
                </c:pt>
                <c:pt idx="2">
                  <c:v>32.7620961298663</c:v>
                </c:pt>
                <c:pt idx="3">
                  <c:v>37.87998263863081</c:v>
                </c:pt>
                <c:pt idx="4">
                  <c:v>22.080294744568914</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26</a:t>
                    </a:r>
                  </a:p>
                </c:rich>
              </c:tx>
              <c:showLegendKey val="0"/>
              <c:showVal val="0"/>
              <c:showCatName val="0"/>
              <c:showSerName val="0"/>
              <c:showPercent val="0"/>
              <c:showBubbleSize val="0"/>
            </c:dLbl>
            <c:dLbl>
              <c:idx val="1"/>
              <c:tx>
                <c:rich>
                  <a:bodyPr/>
                  <a:lstStyle/>
                  <a:p>
                    <a:r>
                      <a:rPr lang="en-US" b="1" sz="800">
                        <a:solidFill>
                          <a:srgbClr val="2D3142"/>
                        </a:solidFill>
                      </a:rPr>
                      <a:t>26</a:t>
                    </a:r>
                  </a:p>
                </c:rich>
              </c:tx>
              <c:showLegendKey val="0"/>
              <c:showVal val="0"/>
              <c:showCatName val="0"/>
              <c:showSerName val="0"/>
              <c:showPercent val="0"/>
              <c:showBubbleSize val="0"/>
            </c:dLbl>
            <c:dLbl>
              <c:idx val="2"/>
              <c:tx>
                <c:rich>
                  <a:bodyPr/>
                  <a:lstStyle/>
                  <a:p>
                    <a:r>
                      <a:rPr lang="en-US" b="1" sz="800">
                        <a:solidFill>
                          <a:srgbClr val="2D3142"/>
                        </a:solidFill>
                      </a:rPr>
                      <a:t>30</a:t>
                    </a:r>
                  </a:p>
                </c:rich>
              </c:tx>
              <c:showLegendKey val="0"/>
              <c:showVal val="0"/>
              <c:showCatName val="0"/>
              <c:showSerName val="0"/>
              <c:showPercent val="0"/>
              <c:showBubbleSize val="0"/>
            </c:dLbl>
            <c:dLbl>
              <c:idx val="3"/>
              <c:tx>
                <c:rich>
                  <a:bodyPr/>
                  <a:lstStyle/>
                  <a:p>
                    <a:r>
                      <a:rPr lang="en-US" b="1" sz="800">
                        <a:solidFill>
                          <a:srgbClr val="2D3142"/>
                        </a:solidFill>
                      </a:rPr>
                      <a:t>25</a:t>
                    </a:r>
                  </a:p>
                </c:rich>
              </c:tx>
              <c:showLegendKey val="0"/>
              <c:showVal val="0"/>
              <c:showCatName val="0"/>
              <c:showSerName val="0"/>
              <c:showPercent val="0"/>
              <c:showBubbleSize val="0"/>
            </c:dLbl>
            <c:dLbl>
              <c:idx val="4"/>
              <c:tx>
                <c:rich>
                  <a:bodyPr/>
                  <a:lstStyle/>
                  <a:p>
                    <a:r>
                      <a:rPr lang="en-US" b="1" sz="800">
                        <a:solidFill>
                          <a:srgbClr val="2D3142"/>
                        </a:solidFill>
                      </a:rPr>
                      <a:t>27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Selfies</c:v>
                </c:pt>
                <c:pt idx="1">
                  <c:v>Videos you’ve recorded and created</c:v>
                </c:pt>
                <c:pt idx="2">
                  <c:v>Updates on where you are or what you’re doing</c:v>
                </c:pt>
                <c:pt idx="3">
                  <c:v>Things that only your closest friends would understand</c:v>
                </c:pt>
                <c:pt idx="4">
                  <c:v>Things you want to go viral</c:v>
                </c:pt>
              </c:strCache>
            </c:strRef>
          </c:cat>
          <c:val>
            <c:numRef>
              <c:f>Sheet1!$D$2:$D$6</c:f>
              <c:numCache>
                <c:formatCode>0</c:formatCode>
                <c:ptCount val="5"/>
                <c:pt idx="0">
                  <c:v>26.42040223856289</c:v>
                </c:pt>
                <c:pt idx="1">
                  <c:v>26.42877828071492</c:v>
                </c:pt>
                <c:pt idx="2">
                  <c:v>30.231722842143277</c:v>
                </c:pt>
                <c:pt idx="3">
                  <c:v>25.358973808598762</c:v>
                </c:pt>
                <c:pt idx="4">
                  <c:v>26.880283910006437</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27</a:t>
                    </a:r>
                  </a:p>
                </c:rich>
              </c:tx>
              <c:showLegendKey val="0"/>
              <c:showVal val="0"/>
              <c:showCatName val="0"/>
              <c:showSerName val="0"/>
              <c:showPercent val="0"/>
              <c:showBubbleSize val="0"/>
            </c:dLbl>
            <c:dLbl>
              <c:idx val="1"/>
              <c:tx>
                <c:rich>
                  <a:bodyPr/>
                  <a:lstStyle/>
                  <a:p>
                    <a:r>
                      <a:rPr lang="en-US" b="1" sz="800">
                        <a:solidFill>
                          <a:srgbClr val="2D3142"/>
                        </a:solidFill>
                      </a:rPr>
                      <a:t>30</a:t>
                    </a:r>
                  </a:p>
                </c:rich>
              </c:tx>
              <c:showLegendKey val="0"/>
              <c:showVal val="0"/>
              <c:showCatName val="0"/>
              <c:showSerName val="0"/>
              <c:showPercent val="0"/>
              <c:showBubbleSize val="0"/>
            </c:dLbl>
            <c:dLbl>
              <c:idx val="2"/>
              <c:tx>
                <c:rich>
                  <a:bodyPr/>
                  <a:lstStyle/>
                  <a:p>
                    <a:r>
                      <a:rPr lang="en-US" b="1" sz="800">
                        <a:solidFill>
                          <a:srgbClr val="2D3142"/>
                        </a:solidFill>
                      </a:rPr>
                      <a:t>26</a:t>
                    </a:r>
                  </a:p>
                </c:rich>
              </c:tx>
              <c:showLegendKey val="0"/>
              <c:showVal val="0"/>
              <c:showCatName val="0"/>
              <c:showSerName val="0"/>
              <c:showPercent val="0"/>
              <c:showBubbleSize val="0"/>
            </c:dLbl>
            <c:dLbl>
              <c:idx val="3"/>
              <c:tx>
                <c:rich>
                  <a:bodyPr/>
                  <a:lstStyle/>
                  <a:p>
                    <a:r>
                      <a:rPr lang="en-US" b="1" sz="800">
                        <a:solidFill>
                          <a:srgbClr val="2D3142"/>
                        </a:solidFill>
                      </a:rPr>
                      <a:t>23</a:t>
                    </a:r>
                  </a:p>
                </c:rich>
              </c:tx>
              <c:showLegendKey val="0"/>
              <c:showVal val="0"/>
              <c:showCatName val="0"/>
              <c:showSerName val="0"/>
              <c:showPercent val="0"/>
              <c:showBubbleSize val="0"/>
            </c:dLbl>
            <c:dLbl>
              <c:idx val="4"/>
              <c:tx>
                <c:rich>
                  <a:bodyPr/>
                  <a:lstStyle/>
                  <a:p>
                    <a:r>
                      <a:rPr lang="en-US" b="1" sz="800">
                        <a:solidFill>
                          <a:srgbClr val="2D3142"/>
                        </a:solidFill>
                      </a:rPr>
                      <a:t>43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Selfies</c:v>
                </c:pt>
                <c:pt idx="1">
                  <c:v>Videos you’ve recorded and created</c:v>
                </c:pt>
                <c:pt idx="2">
                  <c:v>Updates on where you are or what you’re doing</c:v>
                </c:pt>
                <c:pt idx="3">
                  <c:v>Things that only your closest friends would understand</c:v>
                </c:pt>
                <c:pt idx="4">
                  <c:v>Things you want to go viral</c:v>
                </c:pt>
              </c:strCache>
            </c:strRef>
          </c:cat>
          <c:val>
            <c:numRef>
              <c:f>Sheet1!$E$2:$E$6</c:f>
              <c:numCache>
                <c:formatCode>0</c:formatCode>
                <c:ptCount val="5"/>
                <c:pt idx="0">
                  <c:v>26.777707984754635</c:v>
                </c:pt>
                <c:pt idx="1">
                  <c:v>30.113757367114648</c:v>
                </c:pt>
                <c:pt idx="2">
                  <c:v>26.412331043209903</c:v>
                </c:pt>
                <c:pt idx="3">
                  <c:v>22.777937128435823</c:v>
                </c:pt>
                <c:pt idx="4">
                  <c:v>42.75655865480126</c:v>
                </c:pt>
              </c:numCache>
            </c:numRef>
          </c:val>
        </c:ser>
        <c:ser>
          <c:idx val="4"/>
          <c:order val="4"/>
          <c:tx>
            <c:strRef>
              <c:f>Sheet1!$F$1</c:f>
              <c:strCache>
                <c:ptCount val="1"/>
                <c:pt idx="0">
                  <c:v>DON’T KNOW</c:v>
                </c:pt>
              </c:strCache>
            </c:strRef>
          </c:tx>
          <c:spPr>
            <a:solidFill>
              <a:srgbClr val="E1EDFA"/>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dLbl>
              <c:idx val="4"/>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Selfies</c:v>
                </c:pt>
                <c:pt idx="1">
                  <c:v>Videos you’ve recorded and created</c:v>
                </c:pt>
                <c:pt idx="2">
                  <c:v>Updates on where you are or what you’re doing</c:v>
                </c:pt>
                <c:pt idx="3">
                  <c:v>Things that only your closest friends would understand</c:v>
                </c:pt>
                <c:pt idx="4">
                  <c:v>Things you want to go viral</c:v>
                </c:pt>
              </c:strCache>
            </c:strRef>
          </c:cat>
          <c:val>
            <c:numRef>
              <c:f>Sheet1!$F$2:$F$6</c:f>
              <c:numCache>
                <c:formatCode>0</c:formatCode>
                <c:ptCount val="5"/>
                <c:pt idx="0">
                  <c:v>0.0</c:v>
                </c:pt>
                <c:pt idx="1">
                  <c:v>0.0</c:v>
                </c:pt>
                <c:pt idx="2">
                  <c:v>0.0</c:v>
                </c:pt>
                <c:pt idx="3">
                  <c:v>0.11141014344189483</c:v>
                </c:pt>
                <c:pt idx="4">
                  <c:v>0.11141014344189483</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10</a:t>
                    </a:r>
                  </a:p>
                </c:rich>
              </c:tx>
              <c:showLegendKey val="0"/>
              <c:showVal val="0"/>
              <c:showCatName val="0"/>
              <c:showSerName val="0"/>
              <c:showPercent val="0"/>
              <c:showBubbleSize val="0"/>
            </c:dLbl>
            <c:dLbl>
              <c:idx val="1"/>
              <c:tx>
                <c:rich>
                  <a:bodyPr/>
                  <a:lstStyle/>
                  <a:p>
                    <a:r>
                      <a:rPr lang="en-US" b="1" sz="800">
                        <a:solidFill>
                          <a:srgbClr val="FFFFFF"/>
                        </a:solidFill>
                      </a:rPr>
                      <a:t>22 </a:t>
                    </a:r>
                    <a:r>
                      <a:rPr lang="en-US" b="1" sz="900">
                        <a:solidFill>
                          <a:srgbClr val="1B5E2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Sheet1!$B$2:$B$3</c:f>
              <c:numCache>
                <c:formatCode>0</c:formatCode>
                <c:ptCount val="2"/>
                <c:pt idx="0">
                  <c:v>10.440590706374602</c:v>
                </c:pt>
                <c:pt idx="1">
                  <c:v>22.265884758664374</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21</a:t>
                    </a:r>
                  </a:p>
                </c:rich>
              </c:tx>
              <c:showLegendKey val="0"/>
              <c:showVal val="0"/>
              <c:showCatName val="0"/>
              <c:showSerName val="0"/>
              <c:showPercent val="0"/>
              <c:showBubbleSize val="0"/>
            </c:dLbl>
            <c:dLbl>
              <c:idx val="1"/>
              <c:tx>
                <c:rich>
                  <a:bodyPr/>
                  <a:lstStyle/>
                  <a:p>
                    <a:r>
                      <a:rPr lang="en-US" b="1" sz="800">
                        <a:solidFill>
                          <a:srgbClr val="FFFFFF"/>
                        </a:solidFill>
                      </a:rPr>
                      <a:t>40 </a:t>
                    </a:r>
                    <a:r>
                      <a:rPr lang="en-US" b="1" sz="900">
                        <a:solidFill>
                          <a:srgbClr val="1B5E2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Sheet1!$C$2:$C$3</c:f>
              <c:numCache>
                <c:formatCode>0</c:formatCode>
                <c:ptCount val="2"/>
                <c:pt idx="0">
                  <c:v>20.714194973275447</c:v>
                </c:pt>
                <c:pt idx="1">
                  <c:v>39.516691182191714</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30</a:t>
                    </a:r>
                  </a:p>
                </c:rich>
              </c:tx>
              <c:showLegendKey val="0"/>
              <c:showVal val="0"/>
              <c:showCatName val="0"/>
              <c:showSerName val="0"/>
              <c:showPercent val="0"/>
              <c:showBubbleSize val="0"/>
            </c:dLbl>
            <c:dLbl>
              <c:idx val="1"/>
              <c:tx>
                <c:rich>
                  <a:bodyPr/>
                  <a:lstStyle/>
                  <a:p>
                    <a:r>
                      <a:rPr lang="en-US" b="1" sz="800">
                        <a:solidFill>
                          <a:srgbClr val="2D3142"/>
                        </a:solidFill>
                      </a:rPr>
                      <a:t>23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Sheet1!$D$2:$D$3</c:f>
              <c:numCache>
                <c:formatCode>0</c:formatCode>
                <c:ptCount val="2"/>
                <c:pt idx="0">
                  <c:v>30.439862988632704</c:v>
                </c:pt>
                <c:pt idx="1">
                  <c:v>22.574390517327185</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38</a:t>
                    </a:r>
                  </a:p>
                </c:rich>
              </c:tx>
              <c:showLegendKey val="0"/>
              <c:showVal val="0"/>
              <c:showCatName val="0"/>
              <c:showSerName val="0"/>
              <c:showPercent val="0"/>
              <c:showBubbleSize val="0"/>
            </c:dLbl>
            <c:dLbl>
              <c:idx val="1"/>
              <c:tx>
                <c:rich>
                  <a:bodyPr/>
                  <a:lstStyle/>
                  <a:p>
                    <a:r>
                      <a:rPr lang="en-US" b="1" sz="800">
                        <a:solidFill>
                          <a:srgbClr val="2D3142"/>
                        </a:solidFill>
                      </a:rPr>
                      <a:t>15 </a:t>
                    </a:r>
                    <a:r>
                      <a:rPr lang="en-US" b="1" sz="900">
                        <a:solidFill>
                          <a:srgbClr val="8E243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Sheet1!$E$2:$E$3</c:f>
              <c:numCache>
                <c:formatCode>0</c:formatCode>
                <c:ptCount val="2"/>
                <c:pt idx="0">
                  <c:v>37.79383703835898</c:v>
                </c:pt>
                <c:pt idx="1">
                  <c:v>15.282520619808402</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51</a:t>
                    </a:r>
                  </a:p>
                </c:rich>
              </c:tx>
              <c:showLegendKey val="0"/>
              <c:showVal val="0"/>
              <c:showCatName val="0"/>
              <c:showSerName val="0"/>
              <c:showPercent val="0"/>
              <c:showBubbleSize val="0"/>
            </c:dLbl>
            <c:dLbl>
              <c:idx val="1"/>
              <c:tx>
                <c:rich>
                  <a:bodyPr/>
                  <a:lstStyle/>
                  <a:p>
                    <a:r>
                      <a:rPr lang="en-US" b="1" sz="900">
                        <a:solidFill>
                          <a:srgbClr val="2D3142"/>
                        </a:solidFill>
                      </a:rPr>
                      <a:t>46</a:t>
                    </a:r>
                  </a:p>
                </c:rich>
              </c:tx>
              <c:showLegendKey val="0"/>
              <c:showVal val="0"/>
              <c:showCatName val="0"/>
              <c:showSerName val="0"/>
              <c:showPercent val="0"/>
              <c:showBubbleSize val="0"/>
            </c:dLbl>
            <c:dLbl>
              <c:idx val="2"/>
              <c:tx>
                <c:rich>
                  <a:bodyPr/>
                  <a:lstStyle/>
                  <a:p>
                    <a:r>
                      <a:rPr lang="en-US" b="1" sz="900">
                        <a:solidFill>
                          <a:srgbClr val="2D3142"/>
                        </a:solidFill>
                      </a:rPr>
                      <a:t>36</a:t>
                    </a:r>
                  </a:p>
                </c:rich>
              </c:tx>
              <c:showLegendKey val="0"/>
              <c:showVal val="0"/>
              <c:showCatName val="0"/>
              <c:showSerName val="0"/>
              <c:showPercent val="0"/>
              <c:showBubbleSize val="0"/>
            </c:dLbl>
            <c:dLbl>
              <c:idx val="3"/>
              <c:tx>
                <c:rich>
                  <a:bodyPr/>
                  <a:lstStyle/>
                  <a:p>
                    <a:r>
                      <a:rPr lang="en-US" b="1" sz="900">
                        <a:solidFill>
                          <a:srgbClr val="2D3142"/>
                        </a:solidFill>
                      </a:rPr>
                      <a:t>29</a:t>
                    </a:r>
                  </a:p>
                </c:rich>
              </c:tx>
              <c:showLegendKey val="0"/>
              <c:showVal val="0"/>
              <c:showCatName val="0"/>
              <c:showSerName val="0"/>
              <c:showPercent val="0"/>
              <c:showBubbleSize val="0"/>
            </c:dLbl>
            <c:dLbl>
              <c:idx val="4"/>
              <c:tx>
                <c:rich>
                  <a:bodyPr/>
                  <a:lstStyle/>
                  <a:p>
                    <a:r>
                      <a:rPr lang="en-US" b="1" sz="900">
                        <a:solidFill>
                          <a:srgbClr val="2D3142"/>
                        </a:solidFill>
                      </a:rPr>
                      <a:t>22</a:t>
                    </a:r>
                  </a:p>
                </c:rich>
              </c:tx>
              <c:showLegendKey val="0"/>
              <c:showVal val="0"/>
              <c:showCatName val="0"/>
              <c:showSerName val="0"/>
              <c:showPercent val="0"/>
              <c:showBubbleSize val="0"/>
            </c:dLbl>
            <c:dLbl>
              <c:idx val="5"/>
              <c:tx>
                <c:rich>
                  <a:bodyPr/>
                  <a:lstStyle/>
                  <a:p>
                    <a:r>
                      <a:rPr lang="en-US" b="1" sz="900">
                        <a:solidFill>
                          <a:srgbClr val="2D3142"/>
                        </a:solidFill>
                      </a:rPr>
                      <a:t>13</a:t>
                    </a:r>
                  </a:p>
                </c:rich>
              </c:tx>
              <c:showLegendKey val="0"/>
              <c:showVal val="0"/>
              <c:showCatName val="0"/>
              <c:showSerName val="0"/>
              <c:showPercent val="0"/>
              <c:showBubbleSize val="0"/>
            </c:dLbl>
            <c:dLbl>
              <c:idx val="6"/>
              <c:tx>
                <c:rich>
                  <a:bodyPr/>
                  <a:lstStyle/>
                  <a:p>
                    <a:r>
                      <a:rPr lang="en-US" b="1" sz="900">
                        <a:solidFill>
                          <a:srgbClr val="2D3142"/>
                        </a:solidFill>
                      </a:rPr>
                      <a:t>11</a:t>
                    </a:r>
                  </a:p>
                </c:rich>
              </c:tx>
              <c:showLegendKey val="0"/>
              <c:showVal val="0"/>
              <c:showCatName val="0"/>
              <c:showSerName val="0"/>
              <c:showPercent val="0"/>
              <c:showBubbleSize val="0"/>
            </c:dLbl>
            <c:dLbl>
              <c:idx val="7"/>
              <c:tx>
                <c:rich>
                  <a:bodyPr/>
                  <a:lstStyle/>
                  <a:p>
                    <a:r>
                      <a:rPr lang="en-US" b="1" sz="900">
                        <a:solidFill>
                          <a:srgbClr val="2D3142"/>
                        </a:solidFill>
                      </a:rPr>
                      <a:t>10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Sheet1!$A$2:$A$9</c:f>
              <c:strCache>
                <c:ptCount val="8"/>
                <c:pt idx="0">
                  <c:v>Your accomplishments</c:v>
                </c:pt>
                <c:pt idx="1">
                  <c:v>Your family</c:v>
                </c:pt>
                <c:pt idx="2">
                  <c:v>Your emotions and feelings</c:v>
                </c:pt>
                <c:pt idx="3">
                  <c:v>None of these</c:v>
                </c:pt>
                <c:pt idx="4">
                  <c:v>Your dating life</c:v>
                </c:pt>
                <c:pt idx="5">
                  <c:v>Personal problems you’re having</c:v>
                </c:pt>
                <c:pt idx="6">
                  <c:v>Your religious beliefs</c:v>
                </c:pt>
                <c:pt idx="7">
                  <c:v>Your political beliefs</c:v>
                </c:pt>
              </c:strCache>
            </c:strRef>
          </c:cat>
          <c:val>
            <c:numRef>
              <c:f>Sheet1!$B$2:$B$9</c:f>
              <c:numCache>
                <c:formatCode>0</c:formatCode>
                <c:ptCount val="8"/>
                <c:pt idx="0">
                  <c:v>50.83359000320944</c:v>
                </c:pt>
                <c:pt idx="1">
                  <c:v>45.8502967356738</c:v>
                </c:pt>
                <c:pt idx="2">
                  <c:v>35.59141217024265</c:v>
                </c:pt>
                <c:pt idx="3">
                  <c:v>29.234132567808825</c:v>
                </c:pt>
                <c:pt idx="4">
                  <c:v>22.48864786528177</c:v>
                </c:pt>
                <c:pt idx="5">
                  <c:v>13.43685456818357</c:v>
                </c:pt>
                <c:pt idx="6">
                  <c:v>10.8963016262439</c:v>
                </c:pt>
                <c:pt idx="7">
                  <c:v>9.584356972333842</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Yes, a lot</c:v>
                </c:pt>
              </c:strCache>
            </c:strRef>
          </c:tx>
          <c:spPr>
            <a:solidFill>
              <a:srgbClr val="4A7AB8"/>
            </a:solidFill>
          </c:spPr>
          <c:dLbls>
            <c:dLbl>
              <c:idx val="0"/>
              <c:tx>
                <c:rich>
                  <a:bodyPr/>
                  <a:lstStyle/>
                  <a:p>
                    <a:r>
                      <a:rPr lang="en-US" b="1" sz="800">
                        <a:solidFill>
                          <a:srgbClr val="FFFFFF"/>
                        </a:solidFill>
                      </a:rPr>
                      <a:t>25</a:t>
                    </a:r>
                  </a:p>
                </c:rich>
              </c:tx>
              <c:showLegendKey val="0"/>
              <c:showVal val="0"/>
              <c:showCatName val="0"/>
              <c:showSerName val="0"/>
              <c:showPercent val="0"/>
              <c:showBubbleSize val="0"/>
            </c:dLbl>
            <c:dLbl>
              <c:idx val="1"/>
              <c:tx>
                <c:rich>
                  <a:bodyPr/>
                  <a:lstStyle/>
                  <a:p>
                    <a:r>
                      <a:rPr lang="en-US" b="1" sz="800">
                        <a:solidFill>
                          <a:srgbClr val="FFFFFF"/>
                        </a:solidFill>
                      </a:rPr>
                      <a:t>29</a:t>
                    </a:r>
                  </a:p>
                </c:rich>
              </c:tx>
              <c:showLegendKey val="0"/>
              <c:showVal val="0"/>
              <c:showCatName val="0"/>
              <c:showSerName val="0"/>
              <c:showPercent val="0"/>
              <c:showBubbleSize val="0"/>
            </c:dLbl>
            <c:dLbl>
              <c:idx val="2"/>
              <c:tx>
                <c:rich>
                  <a:bodyPr/>
                  <a:lstStyle/>
                  <a:p>
                    <a:r>
                      <a:rPr lang="en-US" b="1" sz="800">
                        <a:solidFill>
                          <a:srgbClr val="FFFFFF"/>
                        </a:solidFill>
                      </a:rPr>
                      <a:t>38</a:t>
                    </a:r>
                  </a:p>
                </c:rich>
              </c:tx>
              <c:showLegendKey val="0"/>
              <c:showVal val="0"/>
              <c:showCatName val="0"/>
              <c:showSerName val="0"/>
              <c:showPercent val="0"/>
              <c:showBubbleSize val="0"/>
            </c:dLbl>
            <c:dLbl>
              <c:idx val="3"/>
              <c:tx>
                <c:rich>
                  <a:bodyPr/>
                  <a:lstStyle/>
                  <a:p>
                    <a:r>
                      <a:rPr lang="en-US" b="1" sz="800">
                        <a:solidFill>
                          <a:srgbClr val="FFFFFF"/>
                        </a:solidFill>
                      </a:rPr>
                      <a:t>26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More in touch with your friends’ feelings</c:v>
                </c:pt>
                <c:pt idx="1">
                  <c:v>Like you have a place where you can show your creative side </c:v>
                </c:pt>
                <c:pt idx="2">
                  <c:v>More connected to what’s going on in your friends’ lives</c:v>
                </c:pt>
                <c:pt idx="3">
                  <c:v>Like you have people who can support you through tough times</c:v>
                </c:pt>
              </c:strCache>
            </c:strRef>
          </c:cat>
          <c:val>
            <c:numRef>
              <c:f>Sheet1!$B$2:$B$5</c:f>
              <c:numCache>
                <c:formatCode>0</c:formatCode>
                <c:ptCount val="4"/>
                <c:pt idx="0">
                  <c:v>25.03332775270336</c:v>
                </c:pt>
                <c:pt idx="1">
                  <c:v>28.63503486449931</c:v>
                </c:pt>
                <c:pt idx="2">
                  <c:v>38.13570653903011</c:v>
                </c:pt>
                <c:pt idx="3">
                  <c:v>26.149682541580905</c:v>
                </c:pt>
              </c:numCache>
            </c:numRef>
          </c:val>
        </c:ser>
        <c:ser>
          <c:idx val="1"/>
          <c:order val="1"/>
          <c:tx>
            <c:strRef>
              <c:f>Sheet1!$C$1</c:f>
              <c:strCache>
                <c:ptCount val="1"/>
                <c:pt idx="0">
                  <c:v>Yes, a little</c:v>
                </c:pt>
              </c:strCache>
            </c:strRef>
          </c:tx>
          <c:spPr>
            <a:solidFill>
              <a:srgbClr val="5A94DE"/>
            </a:solidFill>
          </c:spPr>
          <c:dLbls>
            <c:dLbl>
              <c:idx val="0"/>
              <c:tx>
                <c:rich>
                  <a:bodyPr/>
                  <a:lstStyle/>
                  <a:p>
                    <a:r>
                      <a:rPr lang="en-US" b="1" sz="800">
                        <a:solidFill>
                          <a:srgbClr val="FFFFFF"/>
                        </a:solidFill>
                      </a:rPr>
                      <a:t>46</a:t>
                    </a:r>
                  </a:p>
                </c:rich>
              </c:tx>
              <c:showLegendKey val="0"/>
              <c:showVal val="0"/>
              <c:showCatName val="0"/>
              <c:showSerName val="0"/>
              <c:showPercent val="0"/>
              <c:showBubbleSize val="0"/>
            </c:dLbl>
            <c:dLbl>
              <c:idx val="1"/>
              <c:tx>
                <c:rich>
                  <a:bodyPr/>
                  <a:lstStyle/>
                  <a:p>
                    <a:r>
                      <a:rPr lang="en-US" b="1" sz="800">
                        <a:solidFill>
                          <a:srgbClr val="FFFFFF"/>
                        </a:solidFill>
                      </a:rPr>
                      <a:t>45</a:t>
                    </a:r>
                  </a:p>
                </c:rich>
              </c:tx>
              <c:showLegendKey val="0"/>
              <c:showVal val="0"/>
              <c:showCatName val="0"/>
              <c:showSerName val="0"/>
              <c:showPercent val="0"/>
              <c:showBubbleSize val="0"/>
            </c:dLbl>
            <c:dLbl>
              <c:idx val="2"/>
              <c:tx>
                <c:rich>
                  <a:bodyPr/>
                  <a:lstStyle/>
                  <a:p>
                    <a:r>
                      <a:rPr lang="en-US" b="1" sz="800">
                        <a:solidFill>
                          <a:srgbClr val="FFFFFF"/>
                        </a:solidFill>
                      </a:rPr>
                      <a:t>46</a:t>
                    </a:r>
                  </a:p>
                </c:rich>
              </c:tx>
              <c:showLegendKey val="0"/>
              <c:showVal val="0"/>
              <c:showCatName val="0"/>
              <c:showSerName val="0"/>
              <c:showPercent val="0"/>
              <c:showBubbleSize val="0"/>
            </c:dLbl>
            <c:dLbl>
              <c:idx val="3"/>
              <c:tx>
                <c:rich>
                  <a:bodyPr/>
                  <a:lstStyle/>
                  <a:p>
                    <a:r>
                      <a:rPr lang="en-US" b="1" sz="800">
                        <a:solidFill>
                          <a:srgbClr val="FFFFFF"/>
                        </a:solidFill>
                      </a:rPr>
                      <a:t>44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More in touch with your friends’ feelings</c:v>
                </c:pt>
                <c:pt idx="1">
                  <c:v>Like you have a place where you can show your creative side </c:v>
                </c:pt>
                <c:pt idx="2">
                  <c:v>More connected to what’s going on in your friends’ lives</c:v>
                </c:pt>
                <c:pt idx="3">
                  <c:v>Like you have people who can support you through tough times</c:v>
                </c:pt>
              </c:strCache>
            </c:strRef>
          </c:cat>
          <c:val>
            <c:numRef>
              <c:f>Sheet1!$C$2:$C$5</c:f>
              <c:numCache>
                <c:formatCode>0</c:formatCode>
                <c:ptCount val="4"/>
                <c:pt idx="0">
                  <c:v>46.26393858376258</c:v>
                </c:pt>
                <c:pt idx="1">
                  <c:v>45.42050672512492</c:v>
                </c:pt>
                <c:pt idx="2">
                  <c:v>45.55134443891104</c:v>
                </c:pt>
                <c:pt idx="3">
                  <c:v>44.09429121559298</c:v>
                </c:pt>
              </c:numCache>
            </c:numRef>
          </c:val>
        </c:ser>
        <c:ser>
          <c:idx val="2"/>
          <c:order val="2"/>
          <c:tx>
            <c:strRef>
              <c:f>Sheet1!$D$1</c:f>
              <c:strCache>
                <c:ptCount val="1"/>
                <c:pt idx="0">
                  <c:v>No</c:v>
                </c:pt>
              </c:strCache>
            </c:strRef>
          </c:tx>
          <c:spPr>
            <a:solidFill>
              <a:srgbClr val="8EBAEB"/>
            </a:solidFill>
          </c:spPr>
          <c:dLbls>
            <c:dLbl>
              <c:idx val="0"/>
              <c:tx>
                <c:rich>
                  <a:bodyPr/>
                  <a:lstStyle/>
                  <a:p>
                    <a:r>
                      <a:rPr lang="en-US" b="1" sz="800">
                        <a:solidFill>
                          <a:srgbClr val="2D3142"/>
                        </a:solidFill>
                      </a:rPr>
                      <a:t>28</a:t>
                    </a:r>
                  </a:p>
                </c:rich>
              </c:tx>
              <c:showLegendKey val="0"/>
              <c:showVal val="0"/>
              <c:showCatName val="0"/>
              <c:showSerName val="0"/>
              <c:showPercent val="0"/>
              <c:showBubbleSize val="0"/>
            </c:dLbl>
            <c:dLbl>
              <c:idx val="1"/>
              <c:tx>
                <c:rich>
                  <a:bodyPr/>
                  <a:lstStyle/>
                  <a:p>
                    <a:r>
                      <a:rPr lang="en-US" b="1" sz="800">
                        <a:solidFill>
                          <a:srgbClr val="2D3142"/>
                        </a:solidFill>
                      </a:rPr>
                      <a:t>26</a:t>
                    </a:r>
                  </a:p>
                </c:rich>
              </c:tx>
              <c:showLegendKey val="0"/>
              <c:showVal val="0"/>
              <c:showCatName val="0"/>
              <c:showSerName val="0"/>
              <c:showPercent val="0"/>
              <c:showBubbleSize val="0"/>
            </c:dLbl>
            <c:dLbl>
              <c:idx val="2"/>
              <c:tx>
                <c:rich>
                  <a:bodyPr/>
                  <a:lstStyle/>
                  <a:p>
                    <a:r>
                      <a:rPr lang="en-US" b="1" sz="800">
                        <a:solidFill>
                          <a:srgbClr val="2D3142"/>
                        </a:solidFill>
                      </a:rPr>
                      <a:t>16</a:t>
                    </a:r>
                  </a:p>
                </c:rich>
              </c:tx>
              <c:showLegendKey val="0"/>
              <c:showVal val="0"/>
              <c:showCatName val="0"/>
              <c:showSerName val="0"/>
              <c:showPercent val="0"/>
              <c:showBubbleSize val="0"/>
            </c:dLbl>
            <c:dLbl>
              <c:idx val="3"/>
              <c:tx>
                <c:rich>
                  <a:bodyPr/>
                  <a:lstStyle/>
                  <a:p>
                    <a:r>
                      <a:rPr lang="en-US" b="1" sz="800">
                        <a:solidFill>
                          <a:srgbClr val="2D3142"/>
                        </a:solidFill>
                      </a:rPr>
                      <a:t>29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More in touch with your friends’ feelings</c:v>
                </c:pt>
                <c:pt idx="1">
                  <c:v>Like you have a place where you can show your creative side </c:v>
                </c:pt>
                <c:pt idx="2">
                  <c:v>More connected to what’s going on in your friends’ lives</c:v>
                </c:pt>
                <c:pt idx="3">
                  <c:v>Like you have people who can support you through tough times</c:v>
                </c:pt>
              </c:strCache>
            </c:strRef>
          </c:cat>
          <c:val>
            <c:numRef>
              <c:f>Sheet1!$D$2:$D$5</c:f>
              <c:numCache>
                <c:formatCode>0</c:formatCode>
                <c:ptCount val="4"/>
                <c:pt idx="0">
                  <c:v>28.16504803177281</c:v>
                </c:pt>
                <c:pt idx="1">
                  <c:v>25.51818292205641</c:v>
                </c:pt>
                <c:pt idx="2">
                  <c:v>15.83885865818414</c:v>
                </c:pt>
                <c:pt idx="3">
                  <c:v>29.146434296990982</c:v>
                </c:pt>
              </c:numCache>
            </c:numRef>
          </c:val>
        </c:ser>
        <c:ser>
          <c:idx val="3"/>
          <c:order val="3"/>
          <c:tx>
            <c:strRef>
              <c:f>Sheet1!$E$1</c:f>
              <c:strCache>
                <c:ptCount val="1"/>
                <c:pt idx="0">
                  <c:v>DON’T KNOW</c:v>
                </c:pt>
              </c:strCache>
            </c:strRef>
          </c:tx>
          <c:spPr>
            <a:solidFill>
              <a:srgbClr val="C3DDF7"/>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More in touch with your friends’ feelings</c:v>
                </c:pt>
                <c:pt idx="1">
                  <c:v>Like you have a place where you can show your creative side </c:v>
                </c:pt>
                <c:pt idx="2">
                  <c:v>More connected to what’s going on in your friends’ lives</c:v>
                </c:pt>
                <c:pt idx="3">
                  <c:v>Like you have people who can support you through tough times</c:v>
                </c:pt>
              </c:strCache>
            </c:strRef>
          </c:cat>
          <c:val>
            <c:numRef>
              <c:f>Sheet1!$E$2:$E$5</c:f>
              <c:numCache>
                <c:formatCode>0</c:formatCode>
                <c:ptCount val="4"/>
                <c:pt idx="0">
                  <c:v>0.11141014344189483</c:v>
                </c:pt>
                <c:pt idx="1">
                  <c:v>0.0</c:v>
                </c:pt>
                <c:pt idx="2">
                  <c:v>0.0</c:v>
                </c:pt>
                <c:pt idx="3">
                  <c:v>0.11141014344189483</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Yes, a lot</c:v>
                </c:pt>
              </c:strCache>
            </c:strRef>
          </c:tx>
          <c:spPr>
            <a:solidFill>
              <a:srgbClr val="4A7AB8"/>
            </a:solidFill>
          </c:spPr>
          <c:dLbls>
            <c:dLbl>
              <c:idx val="0"/>
              <c:tx>
                <c:rich>
                  <a:bodyPr/>
                  <a:lstStyle/>
                  <a:p>
                    <a:r>
                      <a:rPr lang="en-US" b="1" sz="800">
                        <a:solidFill>
                          <a:srgbClr val="FFFFFF"/>
                        </a:solidFill>
                      </a:rPr>
                      <a:t>4</a:t>
                    </a:r>
                  </a:p>
                </c:rich>
              </c:tx>
              <c:showLegendKey val="0"/>
              <c:showVal val="0"/>
              <c:showCatName val="0"/>
              <c:showSerName val="0"/>
              <c:showPercent val="0"/>
              <c:showBubbleSize val="0"/>
            </c:dLbl>
            <c:dLbl>
              <c:idx val="1"/>
              <c:tx>
                <c:rich>
                  <a:bodyPr/>
                  <a:lstStyle/>
                  <a:p>
                    <a:r>
                      <a:rPr lang="en-US" b="1" sz="800">
                        <a:solidFill>
                          <a:srgbClr val="FFFFFF"/>
                        </a:solidFill>
                      </a:rPr>
                      <a:t>13</a:t>
                    </a:r>
                  </a:p>
                </c:rich>
              </c:tx>
              <c:showLegendKey val="0"/>
              <c:showVal val="0"/>
              <c:showCatName val="0"/>
              <c:showSerName val="0"/>
              <c:showPercent val="0"/>
              <c:showBubbleSize val="0"/>
            </c:dLbl>
            <c:dLbl>
              <c:idx val="2"/>
              <c:tx>
                <c:rich>
                  <a:bodyPr/>
                  <a:lstStyle/>
                  <a:p>
                    <a:r>
                      <a:rPr lang="en-US" b="1" sz="800">
                        <a:solidFill>
                          <a:srgbClr val="FFFFFF"/>
                        </a:solidFill>
                      </a:rPr>
                      <a:t>13</a:t>
                    </a:r>
                  </a:p>
                </c:rich>
              </c:tx>
              <c:showLegendKey val="0"/>
              <c:showVal val="0"/>
              <c:showCatName val="0"/>
              <c:showSerName val="0"/>
              <c:showPercent val="0"/>
              <c:showBubbleSize val="0"/>
            </c:dLbl>
            <c:dLbl>
              <c:idx val="3"/>
              <c:tx>
                <c:rich>
                  <a:bodyPr/>
                  <a:lstStyle/>
                  <a:p>
                    <a:r>
                      <a:rPr lang="en-US" b="1" sz="800">
                        <a:solidFill>
                          <a:srgbClr val="FFFFFF"/>
                        </a:solidFill>
                      </a:rPr>
                      <a:t>15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Worse about your own life</c:v>
                </c:pt>
                <c:pt idx="1">
                  <c:v>Overwhelmed because of all the drama</c:v>
                </c:pt>
                <c:pt idx="2">
                  <c:v>Pressure to post content that will get lots of comments or likes</c:v>
                </c:pt>
                <c:pt idx="3">
                  <c:v>Pressure to only post content that makes you look good to others</c:v>
                </c:pt>
              </c:strCache>
            </c:strRef>
          </c:cat>
          <c:val>
            <c:numRef>
              <c:f>Sheet1!$B$2:$B$5</c:f>
              <c:numCache>
                <c:formatCode>0</c:formatCode>
                <c:ptCount val="4"/>
                <c:pt idx="0">
                  <c:v>4.349937825976656</c:v>
                </c:pt>
                <c:pt idx="1">
                  <c:v>13.120382273602235</c:v>
                </c:pt>
                <c:pt idx="2">
                  <c:v>13.016856217169792</c:v>
                </c:pt>
                <c:pt idx="3">
                  <c:v>15.313884535457948</c:v>
                </c:pt>
              </c:numCache>
            </c:numRef>
          </c:val>
        </c:ser>
        <c:ser>
          <c:idx val="1"/>
          <c:order val="1"/>
          <c:tx>
            <c:strRef>
              <c:f>Sheet1!$C$1</c:f>
              <c:strCache>
                <c:ptCount val="1"/>
                <c:pt idx="0">
                  <c:v>Yes, a little</c:v>
                </c:pt>
              </c:strCache>
            </c:strRef>
          </c:tx>
          <c:spPr>
            <a:solidFill>
              <a:srgbClr val="5A94DE"/>
            </a:solidFill>
          </c:spPr>
          <c:dLbls>
            <c:dLbl>
              <c:idx val="0"/>
              <c:tx>
                <c:rich>
                  <a:bodyPr/>
                  <a:lstStyle/>
                  <a:p>
                    <a:r>
                      <a:rPr lang="en-US" b="1" sz="800">
                        <a:solidFill>
                          <a:srgbClr val="FFFFFF"/>
                        </a:solidFill>
                      </a:rPr>
                      <a:t>22</a:t>
                    </a:r>
                  </a:p>
                </c:rich>
              </c:tx>
              <c:showLegendKey val="0"/>
              <c:showVal val="0"/>
              <c:showCatName val="0"/>
              <c:showSerName val="0"/>
              <c:showPercent val="0"/>
              <c:showBubbleSize val="0"/>
            </c:dLbl>
            <c:dLbl>
              <c:idx val="1"/>
              <c:tx>
                <c:rich>
                  <a:bodyPr/>
                  <a:lstStyle/>
                  <a:p>
                    <a:r>
                      <a:rPr lang="en-US" b="1" sz="800">
                        <a:solidFill>
                          <a:srgbClr val="FFFFFF"/>
                        </a:solidFill>
                      </a:rPr>
                      <a:t>34</a:t>
                    </a:r>
                  </a:p>
                </c:rich>
              </c:tx>
              <c:showLegendKey val="0"/>
              <c:showVal val="0"/>
              <c:showCatName val="0"/>
              <c:showSerName val="0"/>
              <c:showPercent val="0"/>
              <c:showBubbleSize val="0"/>
            </c:dLbl>
            <c:dLbl>
              <c:idx val="2"/>
              <c:tx>
                <c:rich>
                  <a:bodyPr/>
                  <a:lstStyle/>
                  <a:p>
                    <a:r>
                      <a:rPr lang="en-US" b="1" sz="800">
                        <a:solidFill>
                          <a:srgbClr val="FFFFFF"/>
                        </a:solidFill>
                      </a:rPr>
                      <a:t>26</a:t>
                    </a:r>
                  </a:p>
                </c:rich>
              </c:tx>
              <c:showLegendKey val="0"/>
              <c:showVal val="0"/>
              <c:showCatName val="0"/>
              <c:showSerName val="0"/>
              <c:showPercent val="0"/>
              <c:showBubbleSize val="0"/>
            </c:dLbl>
            <c:dLbl>
              <c:idx val="3"/>
              <c:tx>
                <c:rich>
                  <a:bodyPr/>
                  <a:lstStyle/>
                  <a:p>
                    <a:r>
                      <a:rPr lang="en-US" b="1" sz="800">
                        <a:solidFill>
                          <a:srgbClr val="FFFFFF"/>
                        </a:solidFill>
                      </a:rPr>
                      <a:t>29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Worse about your own life</c:v>
                </c:pt>
                <c:pt idx="1">
                  <c:v>Overwhelmed because of all the drama</c:v>
                </c:pt>
                <c:pt idx="2">
                  <c:v>Pressure to post content that will get lots of comments or likes</c:v>
                </c:pt>
                <c:pt idx="3">
                  <c:v>Pressure to only post content that makes you look good to others</c:v>
                </c:pt>
              </c:strCache>
            </c:strRef>
          </c:cat>
          <c:val>
            <c:numRef>
              <c:f>Sheet1!$C$2:$C$5</c:f>
              <c:numCache>
                <c:formatCode>0</c:formatCode>
                <c:ptCount val="4"/>
                <c:pt idx="0">
                  <c:v>22.36267628640834</c:v>
                </c:pt>
                <c:pt idx="1">
                  <c:v>33.9142051374922</c:v>
                </c:pt>
                <c:pt idx="2">
                  <c:v>25.689721116064867</c:v>
                </c:pt>
                <c:pt idx="3">
                  <c:v>29.196392007011767</c:v>
                </c:pt>
              </c:numCache>
            </c:numRef>
          </c:val>
        </c:ser>
        <c:ser>
          <c:idx val="2"/>
          <c:order val="2"/>
          <c:tx>
            <c:strRef>
              <c:f>Sheet1!$D$1</c:f>
              <c:strCache>
                <c:ptCount val="1"/>
                <c:pt idx="0">
                  <c:v>No</c:v>
                </c:pt>
              </c:strCache>
            </c:strRef>
          </c:tx>
          <c:spPr>
            <a:solidFill>
              <a:srgbClr val="8EBAEB"/>
            </a:solidFill>
          </c:spPr>
          <c:dLbls>
            <c:dLbl>
              <c:idx val="0"/>
              <c:tx>
                <c:rich>
                  <a:bodyPr/>
                  <a:lstStyle/>
                  <a:p>
                    <a:r>
                      <a:rPr lang="en-US" b="1" sz="800">
                        <a:solidFill>
                          <a:srgbClr val="2D3142"/>
                        </a:solidFill>
                      </a:rPr>
                      <a:t>73</a:t>
                    </a:r>
                  </a:p>
                </c:rich>
              </c:tx>
              <c:showLegendKey val="0"/>
              <c:showVal val="0"/>
              <c:showCatName val="0"/>
              <c:showSerName val="0"/>
              <c:showPercent val="0"/>
              <c:showBubbleSize val="0"/>
            </c:dLbl>
            <c:dLbl>
              <c:idx val="1"/>
              <c:tx>
                <c:rich>
                  <a:bodyPr/>
                  <a:lstStyle/>
                  <a:p>
                    <a:r>
                      <a:rPr lang="en-US" b="1" sz="800">
                        <a:solidFill>
                          <a:srgbClr val="2D3142"/>
                        </a:solidFill>
                      </a:rPr>
                      <a:t>53</a:t>
                    </a:r>
                  </a:p>
                </c:rich>
              </c:tx>
              <c:showLegendKey val="0"/>
              <c:showVal val="0"/>
              <c:showCatName val="0"/>
              <c:showSerName val="0"/>
              <c:showPercent val="0"/>
              <c:showBubbleSize val="0"/>
            </c:dLbl>
            <c:dLbl>
              <c:idx val="2"/>
              <c:tx>
                <c:rich>
                  <a:bodyPr/>
                  <a:lstStyle/>
                  <a:p>
                    <a:r>
                      <a:rPr lang="en-US" b="1" sz="800">
                        <a:solidFill>
                          <a:srgbClr val="2D3142"/>
                        </a:solidFill>
                      </a:rPr>
                      <a:t>61</a:t>
                    </a:r>
                  </a:p>
                </c:rich>
              </c:tx>
              <c:showLegendKey val="0"/>
              <c:showVal val="0"/>
              <c:showCatName val="0"/>
              <c:showSerName val="0"/>
              <c:showPercent val="0"/>
              <c:showBubbleSize val="0"/>
            </c:dLbl>
            <c:dLbl>
              <c:idx val="3"/>
              <c:tx>
                <c:rich>
                  <a:bodyPr/>
                  <a:lstStyle/>
                  <a:p>
                    <a:r>
                      <a:rPr lang="en-US" b="1" sz="800">
                        <a:solidFill>
                          <a:srgbClr val="2D3142"/>
                        </a:solidFill>
                      </a:rPr>
                      <a:t>55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Worse about your own life</c:v>
                </c:pt>
                <c:pt idx="1">
                  <c:v>Overwhelmed because of all the drama</c:v>
                </c:pt>
                <c:pt idx="2">
                  <c:v>Pressure to post content that will get lots of comments or likes</c:v>
                </c:pt>
                <c:pt idx="3">
                  <c:v>Pressure to only post content that makes you look good to others</c:v>
                </c:pt>
              </c:strCache>
            </c:strRef>
          </c:cat>
          <c:val>
            <c:numRef>
              <c:f>Sheet1!$D$2:$D$5</c:f>
              <c:numCache>
                <c:formatCode>0</c:formatCode>
                <c:ptCount val="4"/>
                <c:pt idx="0">
                  <c:v>72.94020899749732</c:v>
                </c:pt>
                <c:pt idx="1">
                  <c:v>52.61823569878787</c:v>
                </c:pt>
                <c:pt idx="2">
                  <c:v>60.83213540515143</c:v>
                </c:pt>
                <c:pt idx="3">
                  <c:v>55.22526673978982</c:v>
                </c:pt>
              </c:numCache>
            </c:numRef>
          </c:val>
        </c:ser>
        <c:ser>
          <c:idx val="3"/>
          <c:order val="3"/>
          <c:tx>
            <c:strRef>
              <c:f>Sheet1!$E$1</c:f>
              <c:strCache>
                <c:ptCount val="1"/>
                <c:pt idx="0">
                  <c:v>DON’T KNOW</c:v>
                </c:pt>
              </c:strCache>
            </c:strRef>
          </c:tx>
          <c:spPr>
            <a:solidFill>
              <a:srgbClr val="C3DDF7"/>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Worse about your own life</c:v>
                </c:pt>
                <c:pt idx="1">
                  <c:v>Overwhelmed because of all the drama</c:v>
                </c:pt>
                <c:pt idx="2">
                  <c:v>Pressure to post content that will get lots of comments or likes</c:v>
                </c:pt>
                <c:pt idx="3">
                  <c:v>Pressure to only post content that makes you look good to others</c:v>
                </c:pt>
              </c:strCache>
            </c:strRef>
          </c:cat>
          <c:val>
            <c:numRef>
              <c:f>Sheet1!$E$2:$E$5</c:f>
              <c:numCache>
                <c:formatCode>0</c:formatCode>
                <c:ptCount val="4"/>
                <c:pt idx="0">
                  <c:v>0.0</c:v>
                </c:pt>
                <c:pt idx="1">
                  <c:v>0.0</c:v>
                </c:pt>
                <c:pt idx="2">
                  <c:v>0.11206614278954667</c:v>
                </c:pt>
                <c:pt idx="3">
                  <c:v>0.0</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Yes, a lot</c:v>
                </c:pt>
              </c:strCache>
            </c:strRef>
          </c:tx>
          <c:spPr>
            <a:solidFill>
              <a:srgbClr val="4A7AB8"/>
            </a:solidFill>
          </c:spPr>
          <c:dLbls>
            <c:dLbl>
              <c:idx val="0"/>
              <c:tx>
                <c:rich>
                  <a:bodyPr/>
                  <a:lstStyle/>
                  <a:p>
                    <a:r>
                      <a:rPr lang="en-US" b="1" sz="800">
                        <a:solidFill>
                          <a:srgbClr val="FFFFFF"/>
                        </a:solidFill>
                      </a:rPr>
                      <a:t>10</a:t>
                    </a:r>
                  </a:p>
                </c:rich>
              </c:tx>
              <c:showLegendKey val="0"/>
              <c:showVal val="0"/>
              <c:showCatName val="0"/>
              <c:showSerName val="0"/>
              <c:showPercent val="0"/>
              <c:showBubbleSize val="0"/>
            </c:dLbl>
            <c:dLbl>
              <c:idx val="1"/>
              <c:tx>
                <c:rich>
                  <a:bodyPr/>
                  <a:lstStyle/>
                  <a:p>
                    <a:r>
                      <a:rPr lang="en-US" b="1" sz="800">
                        <a:solidFill>
                          <a:srgbClr val="FFFFFF"/>
                        </a:solidFill>
                      </a:rPr>
                      <a:t>20 </a:t>
                    </a:r>
                    <a:r>
                      <a:rPr lang="en-US" b="1" sz="900">
                        <a:solidFill>
                          <a:srgbClr val="1B5E2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Sheet1!$B$2:$B$3</c:f>
              <c:numCache>
                <c:formatCode>0</c:formatCode>
                <c:ptCount val="2"/>
                <c:pt idx="0">
                  <c:v>10.421035150083396</c:v>
                </c:pt>
                <c:pt idx="1">
                  <c:v>19.548360857176387</c:v>
                </c:pt>
              </c:numCache>
            </c:numRef>
          </c:val>
        </c:ser>
        <c:ser>
          <c:idx val="1"/>
          <c:order val="1"/>
          <c:tx>
            <c:strRef>
              <c:f>Sheet1!$C$1</c:f>
              <c:strCache>
                <c:ptCount val="1"/>
                <c:pt idx="0">
                  <c:v>Yes, a little</c:v>
                </c:pt>
              </c:strCache>
            </c:strRef>
          </c:tx>
          <c:spPr>
            <a:solidFill>
              <a:srgbClr val="5A94DE"/>
            </a:solidFill>
          </c:spPr>
          <c:dLbls>
            <c:dLbl>
              <c:idx val="0"/>
              <c:tx>
                <c:rich>
                  <a:bodyPr/>
                  <a:lstStyle/>
                  <a:p>
                    <a:r>
                      <a:rPr lang="en-US" b="1" sz="800">
                        <a:solidFill>
                          <a:srgbClr val="FFFFFF"/>
                        </a:solidFill>
                      </a:rPr>
                      <a:t>27</a:t>
                    </a:r>
                  </a:p>
                </c:rich>
              </c:tx>
              <c:showLegendKey val="0"/>
              <c:showVal val="0"/>
              <c:showCatName val="0"/>
              <c:showSerName val="0"/>
              <c:showPercent val="0"/>
              <c:showBubbleSize val="0"/>
            </c:dLbl>
            <c:dLbl>
              <c:idx val="1"/>
              <c:tx>
                <c:rich>
                  <a:bodyPr/>
                  <a:lstStyle/>
                  <a:p>
                    <a:r>
                      <a:rPr lang="en-US" b="1" sz="800">
                        <a:solidFill>
                          <a:srgbClr val="FFFFFF"/>
                        </a:solidFill>
                      </a:rPr>
                      <a:t>32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Sheet1!$C$2:$C$3</c:f>
              <c:numCache>
                <c:formatCode>0</c:formatCode>
                <c:ptCount val="2"/>
                <c:pt idx="0">
                  <c:v>26.87786008644825</c:v>
                </c:pt>
                <c:pt idx="1">
                  <c:v>31.793238224382097</c:v>
                </c:pt>
              </c:numCache>
            </c:numRef>
          </c:val>
        </c:ser>
        <c:ser>
          <c:idx val="2"/>
          <c:order val="2"/>
          <c:tx>
            <c:strRef>
              <c:f>Sheet1!$D$1</c:f>
              <c:strCache>
                <c:ptCount val="1"/>
                <c:pt idx="0">
                  <c:v>No</c:v>
                </c:pt>
              </c:strCache>
            </c:strRef>
          </c:tx>
          <c:spPr>
            <a:solidFill>
              <a:srgbClr val="8EBAEB"/>
            </a:solidFill>
          </c:spPr>
          <c:dLbls>
            <c:dLbl>
              <c:idx val="0"/>
              <c:tx>
                <c:rich>
                  <a:bodyPr/>
                  <a:lstStyle/>
                  <a:p>
                    <a:r>
                      <a:rPr lang="en-US" b="1" sz="800">
                        <a:solidFill>
                          <a:srgbClr val="2D3142"/>
                        </a:solidFill>
                      </a:rPr>
                      <a:t>63</a:t>
                    </a:r>
                  </a:p>
                </c:rich>
              </c:tx>
              <c:showLegendKey val="0"/>
              <c:showVal val="0"/>
              <c:showCatName val="0"/>
              <c:showSerName val="0"/>
              <c:showPercent val="0"/>
              <c:showBubbleSize val="0"/>
            </c:dLbl>
            <c:dLbl>
              <c:idx val="1"/>
              <c:tx>
                <c:rich>
                  <a:bodyPr/>
                  <a:lstStyle/>
                  <a:p>
                    <a:r>
                      <a:rPr lang="en-US" b="1" sz="800">
                        <a:solidFill>
                          <a:srgbClr val="2D3142"/>
                        </a:solidFill>
                      </a:rPr>
                      <a:t>48 </a:t>
                    </a:r>
                    <a:r>
                      <a:rPr lang="en-US" b="1" sz="900">
                        <a:solidFill>
                          <a:srgbClr val="8E243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Male</c:v>
                </c:pt>
                <c:pt idx="1">
                  <c:v>Female</c:v>
                </c:pt>
              </c:strCache>
            </c:strRef>
          </c:cat>
          <c:val>
            <c:numRef>
              <c:f>Sheet1!$D$2:$D$3</c:f>
              <c:numCache>
                <c:formatCode>0</c:formatCode>
                <c:ptCount val="2"/>
                <c:pt idx="0">
                  <c:v>62.701104763468344</c:v>
                </c:pt>
                <c:pt idx="1">
                  <c:v>48.123846395101324</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4A7AB8"/>
              </a:solidFill>
            </c:spPr>
          </c:dPt>
          <c:dPt>
            <c:idx val="1"/>
            <c:spPr>
              <a:solidFill>
                <a:srgbClr val="5A94DE"/>
              </a:solidFill>
            </c:spPr>
          </c:dPt>
          <c:dPt>
            <c:idx val="2"/>
            <c:spPr>
              <a:solidFill>
                <a:srgbClr val="8EBAEB"/>
              </a:solidFill>
            </c:spPr>
          </c:dPt>
          <c:dLbls>
            <c:dLbl>
              <c:idx val="0"/>
              <c:tx>
                <c:rich>
                  <a:bodyPr/>
                  <a:lstStyle/>
                  <a:p>
                    <a:r>
                      <a:rPr lang="en-US" b="1" sz="900">
                        <a:solidFill>
                          <a:srgbClr val="2D3142"/>
                        </a:solidFill>
                      </a:rPr>
                      <a:t>66</a:t>
                    </a:r>
                  </a:p>
                </c:rich>
              </c:tx>
              <c:showLegendKey val="0"/>
              <c:showVal val="0"/>
              <c:showCatName val="0"/>
              <c:showSerName val="0"/>
              <c:showPercent val="0"/>
              <c:showBubbleSize val="0"/>
            </c:dLbl>
            <c:dLbl>
              <c:idx val="1"/>
              <c:tx>
                <c:rich>
                  <a:bodyPr/>
                  <a:lstStyle/>
                  <a:p>
                    <a:r>
                      <a:rPr lang="en-US" b="1" sz="900">
                        <a:solidFill>
                          <a:srgbClr val="2D3142"/>
                        </a:solidFill>
                      </a:rPr>
                      <a:t>34</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Authentic</c:v>
                </c:pt>
                <c:pt idx="1">
                  <c:v>Fake</c:v>
                </c:pt>
                <c:pt idx="2">
                  <c:v>DON’T KNOW</c:v>
                </c:pt>
              </c:strCache>
            </c:strRef>
          </c:cat>
          <c:val>
            <c:numRef>
              <c:f>Sheet1!$B$2:$B$4</c:f>
              <c:numCache>
                <c:formatCode>0</c:formatCode>
                <c:ptCount val="3"/>
                <c:pt idx="0">
                  <c:v>65.88013913011035</c:v>
                </c:pt>
                <c:pt idx="1">
                  <c:v>33.75198327725203</c:v>
                </c:pt>
                <c:pt idx="2">
                  <c:v>0.04954177810484363</c:v>
                </c:pt>
              </c:numCache>
            </c:numRef>
          </c:val>
        </c:ser>
        <c:dLbls>
          <c:showLegendKey val="0"/>
          <c:showVal val="0"/>
          <c:showCatName val="0"/>
          <c:showSerName val="0"/>
          <c:showPercent val="0"/>
          <c:showBubbleSize val="0"/>
          <c:showLeaderLines val="1"/>
        </c:dLbls>
        <c:firstSliceAng val="0"/>
        <c:holeSize val="50"/>
      </c:doughnutChart>
    </c:plotArea>
    <c:legend>
      <c:legendPos val="l"/>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4A7AB8"/>
              </a:solidFill>
            </c:spPr>
          </c:dPt>
          <c:dPt>
            <c:idx val="1"/>
            <c:spPr>
              <a:solidFill>
                <a:srgbClr val="5A94DE"/>
              </a:solidFill>
            </c:spPr>
          </c:dPt>
          <c:dPt>
            <c:idx val="2"/>
            <c:spPr>
              <a:solidFill>
                <a:srgbClr val="8EBAEB"/>
              </a:solidFill>
            </c:spPr>
          </c:dPt>
          <c:dLbls>
            <c:dLbl>
              <c:idx val="0"/>
              <c:tx>
                <c:rich>
                  <a:bodyPr/>
                  <a:lstStyle/>
                  <a:p>
                    <a:r>
                      <a:rPr lang="en-US" b="1" sz="900">
                        <a:solidFill>
                          <a:srgbClr val="2D3142"/>
                        </a:solidFill>
                      </a:rPr>
                      <a:t>72</a:t>
                    </a:r>
                  </a:p>
                </c:rich>
              </c:tx>
              <c:showLegendKey val="0"/>
              <c:showVal val="0"/>
              <c:showCatName val="0"/>
              <c:showSerName val="0"/>
              <c:showPercent val="0"/>
              <c:showBubbleSize val="0"/>
            </c:dLbl>
            <c:dLbl>
              <c:idx val="1"/>
              <c:tx>
                <c:rich>
                  <a:bodyPr/>
                  <a:lstStyle/>
                  <a:p>
                    <a:r>
                      <a:rPr lang="en-US" b="1" sz="900">
                        <a:solidFill>
                          <a:srgbClr val="2D3142"/>
                        </a:solidFill>
                      </a:rPr>
                      <a:t>27</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Confident</c:v>
                </c:pt>
                <c:pt idx="1">
                  <c:v>Insecure</c:v>
                </c:pt>
                <c:pt idx="2">
                  <c:v>DON’T KNOW</c:v>
                </c:pt>
              </c:strCache>
            </c:strRef>
          </c:cat>
          <c:val>
            <c:numRef>
              <c:f>Sheet1!$B$2:$B$4</c:f>
              <c:numCache>
                <c:formatCode>0</c:formatCode>
                <c:ptCount val="3"/>
                <c:pt idx="0">
                  <c:v>71.96673467679983</c:v>
                </c:pt>
                <c:pt idx="1">
                  <c:v>27.39039736806773</c:v>
                </c:pt>
                <c:pt idx="2">
                  <c:v>0.04954177810484363</c:v>
                </c:pt>
              </c:numCache>
            </c:numRef>
          </c:val>
        </c:ser>
        <c:dLbls>
          <c:showLegendKey val="0"/>
          <c:showVal val="0"/>
          <c:showCatName val="0"/>
          <c:showSerName val="0"/>
          <c:showPercent val="0"/>
          <c:showBubbleSize val="0"/>
          <c:showLeaderLines val="1"/>
        </c:dLbls>
        <c:firstSliceAng val="0"/>
        <c:holeSize val="50"/>
      </c:doughnutChart>
    </c:plotArea>
    <c:legend>
      <c:legendPos val="l"/>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4A7AB8"/>
              </a:solidFill>
            </c:spPr>
          </c:dPt>
          <c:dPt>
            <c:idx val="1"/>
            <c:spPr>
              <a:solidFill>
                <a:srgbClr val="5A94DE"/>
              </a:solidFill>
            </c:spPr>
          </c:dPt>
          <c:dPt>
            <c:idx val="2"/>
            <c:spPr>
              <a:solidFill>
                <a:srgbClr val="8EBAEB"/>
              </a:solidFill>
            </c:spPr>
          </c:dPt>
          <c:dLbls>
            <c:dLbl>
              <c:idx val="0"/>
              <c:tx>
                <c:rich>
                  <a:bodyPr/>
                  <a:lstStyle/>
                  <a:p>
                    <a:r>
                      <a:rPr lang="en-US" b="1" sz="900">
                        <a:solidFill>
                          <a:srgbClr val="2D3142"/>
                        </a:solidFill>
                      </a:rPr>
                      <a:t>36</a:t>
                    </a:r>
                  </a:p>
                </c:rich>
              </c:tx>
              <c:showLegendKey val="0"/>
              <c:showVal val="0"/>
              <c:showCatName val="0"/>
              <c:showSerName val="0"/>
              <c:showPercent val="0"/>
              <c:showBubbleSize val="0"/>
            </c:dLbl>
            <c:dLbl>
              <c:idx val="1"/>
              <c:tx>
                <c:rich>
                  <a:bodyPr/>
                  <a:lstStyle/>
                  <a:p>
                    <a:r>
                      <a:rPr lang="en-US" b="1" sz="900">
                        <a:solidFill>
                          <a:srgbClr val="2D3142"/>
                        </a:solidFill>
                      </a:rPr>
                      <a:t>63</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Reserved</c:v>
                </c:pt>
                <c:pt idx="1">
                  <c:v>Outgoing</c:v>
                </c:pt>
                <c:pt idx="2">
                  <c:v>DON’T KNOW</c:v>
                </c:pt>
              </c:strCache>
            </c:strRef>
          </c:cat>
          <c:val>
            <c:numRef>
              <c:f>Sheet1!$B$2:$B$4</c:f>
              <c:numCache>
                <c:formatCode>0</c:formatCode>
                <c:ptCount val="3"/>
                <c:pt idx="0">
                  <c:v>35.54040488387132</c:v>
                </c:pt>
                <c:pt idx="1">
                  <c:v>63.41963886396571</c:v>
                </c:pt>
                <c:pt idx="2">
                  <c:v>0.11141014344189483</c:v>
                </c:pt>
              </c:numCache>
            </c:numRef>
          </c:val>
        </c:ser>
        <c:dLbls>
          <c:showLegendKey val="0"/>
          <c:showVal val="0"/>
          <c:showCatName val="0"/>
          <c:showSerName val="0"/>
          <c:showPercent val="0"/>
          <c:showBubbleSize val="0"/>
          <c:showLeaderLines val="1"/>
        </c:dLbls>
        <c:firstSliceAng val="0"/>
        <c:holeSize val="50"/>
      </c:doughnutChart>
    </c:plotArea>
    <c:legend>
      <c:legendPos val="l"/>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4A7AB8"/>
              </a:solidFill>
            </c:spPr>
          </c:dPt>
          <c:dPt>
            <c:idx val="1"/>
            <c:spPr>
              <a:solidFill>
                <a:srgbClr val="5A94DE"/>
              </a:solidFill>
            </c:spPr>
          </c:dPt>
          <c:dPt>
            <c:idx val="2"/>
            <c:spPr>
              <a:solidFill>
                <a:srgbClr val="8EBAEB"/>
              </a:solidFill>
            </c:spPr>
          </c:dPt>
          <c:dLbls>
            <c:dLbl>
              <c:idx val="0"/>
              <c:tx>
                <c:rich>
                  <a:bodyPr/>
                  <a:lstStyle/>
                  <a:p>
                    <a:r>
                      <a:rPr lang="en-US" b="1" sz="900">
                        <a:solidFill>
                          <a:srgbClr val="2D3142"/>
                        </a:solidFill>
                      </a:rPr>
                      <a:t>74</a:t>
                    </a:r>
                  </a:p>
                </c:rich>
              </c:tx>
              <c:showLegendKey val="0"/>
              <c:showVal val="0"/>
              <c:showCatName val="0"/>
              <c:showSerName val="0"/>
              <c:showPercent val="0"/>
              <c:showBubbleSize val="0"/>
            </c:dLbl>
            <c:dLbl>
              <c:idx val="1"/>
              <c:tx>
                <c:rich>
                  <a:bodyPr/>
                  <a:lstStyle/>
                  <a:p>
                    <a:r>
                      <a:rPr lang="en-US" b="1" sz="900">
                        <a:solidFill>
                          <a:srgbClr val="2D3142"/>
                        </a:solidFill>
                      </a:rPr>
                      <a:t>26</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Included</c:v>
                </c:pt>
                <c:pt idx="1">
                  <c:v>Excluded</c:v>
                </c:pt>
                <c:pt idx="2">
                  <c:v>DON’T KNOW</c:v>
                </c:pt>
              </c:strCache>
            </c:strRef>
          </c:cat>
          <c:val>
            <c:numRef>
              <c:f>Sheet1!$B$2:$B$4</c:f>
              <c:numCache>
                <c:formatCode>0</c:formatCode>
                <c:ptCount val="3"/>
                <c:pt idx="0">
                  <c:v>73.76909101948942</c:v>
                </c:pt>
                <c:pt idx="1">
                  <c:v>25.94418346855582</c:v>
                </c:pt>
                <c:pt idx="2">
                  <c:v>0.04954177810484363</c:v>
                </c:pt>
              </c:numCache>
            </c:numRef>
          </c:val>
        </c:ser>
        <c:dLbls>
          <c:showLegendKey val="0"/>
          <c:showVal val="0"/>
          <c:showCatName val="0"/>
          <c:showSerName val="0"/>
          <c:showPercent val="0"/>
          <c:showBubbleSize val="0"/>
          <c:showLeaderLines val="1"/>
        </c:dLbls>
        <c:firstSliceAng val="0"/>
        <c:holeSize val="50"/>
      </c:doughnutChart>
    </c:plotArea>
    <c:legend>
      <c:legendPos val="l"/>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Too much</c:v>
                </c:pt>
              </c:strCache>
            </c:strRef>
          </c:tx>
          <c:spPr>
            <a:solidFill>
              <a:srgbClr val="4A7AB8"/>
            </a:solidFill>
          </c:spPr>
          <c:dLbls>
            <c:dLbl>
              <c:idx val="0"/>
              <c:tx>
                <c:rich>
                  <a:bodyPr/>
                  <a:lstStyle/>
                  <a:p>
                    <a:r>
                      <a:rPr lang="en-US" b="1" sz="800">
                        <a:solidFill>
                          <a:srgbClr val="FFFFFF"/>
                        </a:solidFill>
                      </a:rPr>
                      <a:t>55</a:t>
                    </a:r>
                  </a:p>
                </c:rich>
              </c:tx>
              <c:showLegendKey val="0"/>
              <c:showVal val="0"/>
              <c:showCatName val="0"/>
              <c:showSerName val="0"/>
              <c:showPercent val="0"/>
              <c:showBubbleSize val="0"/>
            </c:dLbl>
            <c:dLbl>
              <c:idx val="1"/>
              <c:tx>
                <c:rich>
                  <a:bodyPr/>
                  <a:lstStyle/>
                  <a:p>
                    <a:r>
                      <a:rPr lang="en-US" b="1" sz="800">
                        <a:solidFill>
                          <a:srgbClr val="FFFFFF"/>
                        </a:solidFill>
                      </a:rPr>
                      <a:t>42</a:t>
                    </a:r>
                  </a:p>
                </c:rich>
              </c:tx>
              <c:showLegendKey val="0"/>
              <c:showVal val="0"/>
              <c:showCatName val="0"/>
              <c:showSerName val="0"/>
              <c:showPercent val="0"/>
              <c:showBubbleSize val="0"/>
            </c:dLbl>
            <c:dLbl>
              <c:idx val="2"/>
              <c:tx>
                <c:rich>
                  <a:bodyPr/>
                  <a:lstStyle/>
                  <a:p>
                    <a:r>
                      <a:rPr lang="en-US" b="1" sz="800">
                        <a:solidFill>
                          <a:srgbClr val="FFFFFF"/>
                        </a:solidFill>
                      </a:rPr>
                      <a:t>29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On your cellphone</c:v>
                </c:pt>
                <c:pt idx="1">
                  <c:v>On social media</c:v>
                </c:pt>
                <c:pt idx="2">
                  <c:v>Playing video games</c:v>
                </c:pt>
              </c:strCache>
            </c:strRef>
          </c:cat>
          <c:val>
            <c:numRef>
              <c:f>Sheet1!$B$2:$B$4</c:f>
              <c:numCache>
                <c:formatCode>0</c:formatCode>
                <c:ptCount val="3"/>
                <c:pt idx="0">
                  <c:v>55.315443465063055</c:v>
                </c:pt>
                <c:pt idx="1">
                  <c:v>42.2789084465586</c:v>
                </c:pt>
                <c:pt idx="2">
                  <c:v>29.085451741038916</c:v>
                </c:pt>
              </c:numCache>
            </c:numRef>
          </c:val>
        </c:ser>
        <c:ser>
          <c:idx val="1"/>
          <c:order val="1"/>
          <c:tx>
            <c:strRef>
              <c:f>Sheet1!$C$1</c:f>
              <c:strCache>
                <c:ptCount val="1"/>
                <c:pt idx="0">
                  <c:v>Too little</c:v>
                </c:pt>
              </c:strCache>
            </c:strRef>
          </c:tx>
          <c:spPr>
            <a:solidFill>
              <a:srgbClr val="5A94DE"/>
            </a:solidFill>
          </c:spPr>
          <c:dLbls>
            <c:dLbl>
              <c:idx val="0"/>
              <c:tx>
                <c:rich>
                  <a:bodyPr/>
                  <a:lstStyle/>
                  <a:p>
                    <a:r>
                      <a:rPr lang="en-US" b="1" sz="800">
                        <a:solidFill>
                          <a:srgbClr val="FFFFFF"/>
                        </a:solidFill>
                      </a:rPr>
                      <a:t>8</a:t>
                    </a:r>
                  </a:p>
                </c:rich>
              </c:tx>
              <c:showLegendKey val="0"/>
              <c:showVal val="0"/>
              <c:showCatName val="0"/>
              <c:showSerName val="0"/>
              <c:showPercent val="0"/>
              <c:showBubbleSize val="0"/>
            </c:dLbl>
            <c:dLbl>
              <c:idx val="1"/>
              <c:tx>
                <c:rich>
                  <a:bodyPr/>
                  <a:lstStyle/>
                  <a:p>
                    <a:r>
                      <a:rPr lang="en-US" b="1" sz="800">
                        <a:solidFill>
                          <a:srgbClr val="FFFFFF"/>
                        </a:solidFill>
                      </a:rPr>
                      <a:t>13</a:t>
                    </a:r>
                  </a:p>
                </c:rich>
              </c:tx>
              <c:showLegendKey val="0"/>
              <c:showVal val="0"/>
              <c:showCatName val="0"/>
              <c:showSerName val="0"/>
              <c:showPercent val="0"/>
              <c:showBubbleSize val="0"/>
            </c:dLbl>
            <c:dLbl>
              <c:idx val="2"/>
              <c:tx>
                <c:rich>
                  <a:bodyPr/>
                  <a:lstStyle/>
                  <a:p>
                    <a:r>
                      <a:rPr lang="en-US" b="1" sz="800">
                        <a:solidFill>
                          <a:srgbClr val="FFFFFF"/>
                        </a:solidFill>
                      </a:rPr>
                      <a:t>25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On your cellphone</c:v>
                </c:pt>
                <c:pt idx="1">
                  <c:v>On social media</c:v>
                </c:pt>
                <c:pt idx="2">
                  <c:v>Playing video games</c:v>
                </c:pt>
              </c:strCache>
            </c:strRef>
          </c:cat>
          <c:val>
            <c:numRef>
              <c:f>Sheet1!$C$2:$C$4</c:f>
              <c:numCache>
                <c:formatCode>0</c:formatCode>
                <c:ptCount val="3"/>
                <c:pt idx="0">
                  <c:v>8.25731024511837</c:v>
                </c:pt>
                <c:pt idx="1">
                  <c:v>13.356810500844988</c:v>
                </c:pt>
                <c:pt idx="2">
                  <c:v>24.92733945629405</c:v>
                </c:pt>
              </c:numCache>
            </c:numRef>
          </c:val>
        </c:ser>
        <c:ser>
          <c:idx val="2"/>
          <c:order val="2"/>
          <c:tx>
            <c:strRef>
              <c:f>Sheet1!$D$1</c:f>
              <c:strCache>
                <c:ptCount val="1"/>
                <c:pt idx="0">
                  <c:v>About the right amount</c:v>
                </c:pt>
              </c:strCache>
            </c:strRef>
          </c:tx>
          <c:spPr>
            <a:solidFill>
              <a:srgbClr val="8EBAEB"/>
            </a:solidFill>
          </c:spPr>
          <c:dLbls>
            <c:dLbl>
              <c:idx val="0"/>
              <c:tx>
                <c:rich>
                  <a:bodyPr/>
                  <a:lstStyle/>
                  <a:p>
                    <a:r>
                      <a:rPr lang="en-US" b="1" sz="800">
                        <a:solidFill>
                          <a:srgbClr val="2D3142"/>
                        </a:solidFill>
                      </a:rPr>
                      <a:t>36</a:t>
                    </a:r>
                  </a:p>
                </c:rich>
              </c:tx>
              <c:showLegendKey val="0"/>
              <c:showVal val="0"/>
              <c:showCatName val="0"/>
              <c:showSerName val="0"/>
              <c:showPercent val="0"/>
              <c:showBubbleSize val="0"/>
            </c:dLbl>
            <c:dLbl>
              <c:idx val="1"/>
              <c:tx>
                <c:rich>
                  <a:bodyPr/>
                  <a:lstStyle/>
                  <a:p>
                    <a:r>
                      <a:rPr lang="en-US" b="1" sz="800">
                        <a:solidFill>
                          <a:srgbClr val="2D3142"/>
                        </a:solidFill>
                      </a:rPr>
                      <a:t>44</a:t>
                    </a:r>
                  </a:p>
                </c:rich>
              </c:tx>
              <c:showLegendKey val="0"/>
              <c:showVal val="0"/>
              <c:showCatName val="0"/>
              <c:showSerName val="0"/>
              <c:showPercent val="0"/>
              <c:showBubbleSize val="0"/>
            </c:dLbl>
            <c:dLbl>
              <c:idx val="2"/>
              <c:tx>
                <c:rich>
                  <a:bodyPr/>
                  <a:lstStyle/>
                  <a:p>
                    <a:r>
                      <a:rPr lang="en-US" b="1" sz="800">
                        <a:solidFill>
                          <a:srgbClr val="2D3142"/>
                        </a:solidFill>
                      </a:rPr>
                      <a:t>46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On your cellphone</c:v>
                </c:pt>
                <c:pt idx="1">
                  <c:v>On social media</c:v>
                </c:pt>
                <c:pt idx="2">
                  <c:v>Playing video games</c:v>
                </c:pt>
              </c:strCache>
            </c:strRef>
          </c:cat>
          <c:val>
            <c:numRef>
              <c:f>Sheet1!$D$2:$D$4</c:f>
              <c:numCache>
                <c:formatCode>0</c:formatCode>
                <c:ptCount val="3"/>
                <c:pt idx="0">
                  <c:v>36.42724628981859</c:v>
                </c:pt>
                <c:pt idx="1">
                  <c:v>44.292374738522525</c:v>
                </c:pt>
                <c:pt idx="2">
                  <c:v>45.72963532253643</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Yes</c:v>
                </c:pt>
              </c:strCache>
            </c:strRef>
          </c:tx>
          <c:spPr>
            <a:solidFill>
              <a:srgbClr val="4A7AB8"/>
            </a:solidFill>
          </c:spPr>
          <c:dLbls>
            <c:dLbl>
              <c:idx val="0"/>
              <c:tx>
                <c:rich>
                  <a:bodyPr/>
                  <a:lstStyle/>
                  <a:p>
                    <a:r>
                      <a:rPr lang="en-US" b="1" sz="800">
                        <a:solidFill>
                          <a:srgbClr val="FFFFFF"/>
                        </a:solidFill>
                      </a:rPr>
                      <a:t>54</a:t>
                    </a:r>
                  </a:p>
                </c:rich>
              </c:tx>
              <c:showLegendKey val="0"/>
              <c:showVal val="0"/>
              <c:showCatName val="0"/>
              <c:showSerName val="0"/>
              <c:showPercent val="0"/>
              <c:showBubbleSize val="0"/>
            </c:dLbl>
            <c:dLbl>
              <c:idx val="1"/>
              <c:tx>
                <c:rich>
                  <a:bodyPr/>
                  <a:lstStyle/>
                  <a:p>
                    <a:r>
                      <a:rPr lang="en-US" b="1" sz="800">
                        <a:solidFill>
                          <a:srgbClr val="FFFFFF"/>
                        </a:solidFill>
                      </a:rPr>
                      <a:t>59</a:t>
                    </a:r>
                  </a:p>
                </c:rich>
              </c:tx>
              <c:showLegendKey val="0"/>
              <c:showVal val="0"/>
              <c:showCatName val="0"/>
              <c:showSerName val="0"/>
              <c:showPercent val="0"/>
              <c:showBubbleSize val="0"/>
            </c:dLbl>
            <c:dLbl>
              <c:idx val="2"/>
              <c:tx>
                <c:rich>
                  <a:bodyPr/>
                  <a:lstStyle/>
                  <a:p>
                    <a:r>
                      <a:rPr lang="en-US" b="1" sz="800">
                        <a:solidFill>
                          <a:srgbClr val="FFFFFF"/>
                        </a:solidFill>
                      </a:rPr>
                      <a:t>64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On your cellphone</c:v>
                </c:pt>
                <c:pt idx="1">
                  <c:v>On social media</c:v>
                </c:pt>
                <c:pt idx="2">
                  <c:v>Playing video games</c:v>
                </c:pt>
              </c:strCache>
            </c:strRef>
          </c:cat>
          <c:val>
            <c:numRef>
              <c:f>Sheet1!$B$2:$B$4</c:f>
              <c:numCache>
                <c:formatCode>0</c:formatCode>
                <c:ptCount val="3"/>
                <c:pt idx="0">
                  <c:v>53.851832877225405</c:v>
                </c:pt>
                <c:pt idx="1">
                  <c:v>59.087135110762944</c:v>
                </c:pt>
                <c:pt idx="2">
                  <c:v>64.21716810204482</c:v>
                </c:pt>
              </c:numCache>
            </c:numRef>
          </c:val>
        </c:ser>
        <c:ser>
          <c:idx val="1"/>
          <c:order val="1"/>
          <c:tx>
            <c:strRef>
              <c:f>Sheet1!$C$1</c:f>
              <c:strCache>
                <c:ptCount val="1"/>
                <c:pt idx="0">
                  <c:v>No</c:v>
                </c:pt>
              </c:strCache>
            </c:strRef>
          </c:tx>
          <c:spPr>
            <a:solidFill>
              <a:srgbClr val="5A94DE"/>
            </a:solidFill>
          </c:spPr>
          <c:dLbls>
            <c:dLbl>
              <c:idx val="0"/>
              <c:tx>
                <c:rich>
                  <a:bodyPr/>
                  <a:lstStyle/>
                  <a:p>
                    <a:r>
                      <a:rPr lang="en-US" b="1" sz="800">
                        <a:solidFill>
                          <a:srgbClr val="FFFFFF"/>
                        </a:solidFill>
                      </a:rPr>
                      <a:t>46</a:t>
                    </a:r>
                  </a:p>
                </c:rich>
              </c:tx>
              <c:showLegendKey val="0"/>
              <c:showVal val="0"/>
              <c:showCatName val="0"/>
              <c:showSerName val="0"/>
              <c:showPercent val="0"/>
              <c:showBubbleSize val="0"/>
            </c:dLbl>
            <c:dLbl>
              <c:idx val="1"/>
              <c:tx>
                <c:rich>
                  <a:bodyPr/>
                  <a:lstStyle/>
                  <a:p>
                    <a:r>
                      <a:rPr lang="en-US" b="1" sz="800">
                        <a:solidFill>
                          <a:srgbClr val="FFFFFF"/>
                        </a:solidFill>
                      </a:rPr>
                      <a:t>41</a:t>
                    </a:r>
                  </a:p>
                </c:rich>
              </c:tx>
              <c:showLegendKey val="0"/>
              <c:showVal val="0"/>
              <c:showCatName val="0"/>
              <c:showSerName val="0"/>
              <c:showPercent val="0"/>
              <c:showBubbleSize val="0"/>
            </c:dLbl>
            <c:dLbl>
              <c:idx val="2"/>
              <c:tx>
                <c:rich>
                  <a:bodyPr/>
                  <a:lstStyle/>
                  <a:p>
                    <a:r>
                      <a:rPr lang="en-US" b="1" sz="800">
                        <a:solidFill>
                          <a:srgbClr val="FFFFFF"/>
                        </a:solidFill>
                      </a:rPr>
                      <a:t>36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On your cellphone</c:v>
                </c:pt>
                <c:pt idx="1">
                  <c:v>On social media</c:v>
                </c:pt>
                <c:pt idx="2">
                  <c:v>Playing video games</c:v>
                </c:pt>
              </c:strCache>
            </c:strRef>
          </c:cat>
          <c:val>
            <c:numRef>
              <c:f>Sheet1!$C$2:$C$4</c:f>
              <c:numCache>
                <c:formatCode>0</c:formatCode>
                <c:ptCount val="3"/>
                <c:pt idx="0">
                  <c:v>46.148167122774595</c:v>
                </c:pt>
                <c:pt idx="1">
                  <c:v>40.91286488923706</c:v>
                </c:pt>
                <c:pt idx="2">
                  <c:v>35.650617080499664</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43</a:t>
                    </a:r>
                  </a:p>
                </c:rich>
              </c:tx>
              <c:showLegendKey val="0"/>
              <c:showVal val="0"/>
              <c:showCatName val="0"/>
              <c:showSerName val="0"/>
              <c:showPercent val="0"/>
              <c:showBubbleSize val="0"/>
            </c:dLbl>
            <c:dLbl>
              <c:idx val="1"/>
              <c:tx>
                <c:rich>
                  <a:bodyPr/>
                  <a:lstStyle/>
                  <a:p>
                    <a:r>
                      <a:rPr lang="en-US" b="1" sz="900">
                        <a:solidFill>
                          <a:srgbClr val="2D3142"/>
                        </a:solidFill>
                      </a:rPr>
                      <a:t>29</a:t>
                    </a:r>
                  </a:p>
                </c:rich>
              </c:tx>
              <c:showLegendKey val="0"/>
              <c:showVal val="0"/>
              <c:showCatName val="0"/>
              <c:showSerName val="0"/>
              <c:showPercent val="0"/>
              <c:showBubbleSize val="0"/>
            </c:dLbl>
            <c:dLbl>
              <c:idx val="2"/>
              <c:tx>
                <c:rich>
                  <a:bodyPr/>
                  <a:lstStyle/>
                  <a:p>
                    <a:r>
                      <a:rPr lang="en-US" b="1" sz="900">
                        <a:solidFill>
                          <a:srgbClr val="2D3142"/>
                        </a:solidFill>
                      </a:rPr>
                      <a:t>26</a:t>
                    </a:r>
                  </a:p>
                </c:rich>
              </c:tx>
              <c:showLegendKey val="0"/>
              <c:showVal val="0"/>
              <c:showCatName val="0"/>
              <c:showSerName val="0"/>
              <c:showPercent val="0"/>
              <c:showBubbleSize val="0"/>
            </c:dLbl>
            <c:dLbl>
              <c:idx val="3"/>
              <c:tx>
                <c:rich>
                  <a:bodyPr/>
                  <a:lstStyle/>
                  <a:p>
                    <a:r>
                      <a:rPr lang="en-US" b="1" sz="900">
                        <a:solidFill>
                          <a:srgbClr val="2D3142"/>
                        </a:solidFill>
                      </a:rPr>
                      <a:t>25</a:t>
                    </a:r>
                  </a:p>
                </c:rich>
              </c:tx>
              <c:showLegendKey val="0"/>
              <c:showVal val="0"/>
              <c:showCatName val="0"/>
              <c:showSerName val="0"/>
              <c:showPercent val="0"/>
              <c:showBubbleSize val="0"/>
            </c:dLbl>
            <c:dLbl>
              <c:idx val="4"/>
              <c:tx>
                <c:rich>
                  <a:bodyPr/>
                  <a:lstStyle/>
                  <a:p>
                    <a:r>
                      <a:rPr lang="en-US" b="1" sz="900">
                        <a:solidFill>
                          <a:srgbClr val="2D3142"/>
                        </a:solidFill>
                      </a:rPr>
                      <a:t>18</a:t>
                    </a:r>
                  </a:p>
                </c:rich>
              </c:tx>
              <c:showLegendKey val="0"/>
              <c:showVal val="0"/>
              <c:showCatName val="0"/>
              <c:showSerName val="0"/>
              <c:showPercent val="0"/>
              <c:showBubbleSize val="0"/>
            </c:dLbl>
            <c:dLbl>
              <c:idx val="5"/>
              <c:tx>
                <c:rich>
                  <a:bodyPr/>
                  <a:lstStyle/>
                  <a:p>
                    <a:r>
                      <a:rPr lang="en-US" b="1" sz="900">
                        <a:solidFill>
                          <a:srgbClr val="2D3142"/>
                        </a:solidFill>
                      </a:rPr>
                      <a:t>17</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Anxious</c:v>
                </c:pt>
                <c:pt idx="1">
                  <c:v>None of these</c:v>
                </c:pt>
                <c:pt idx="2">
                  <c:v>Lonely</c:v>
                </c:pt>
                <c:pt idx="3">
                  <c:v>Upset</c:v>
                </c:pt>
                <c:pt idx="4">
                  <c:v>Relieved</c:v>
                </c:pt>
                <c:pt idx="5">
                  <c:v>Happy</c:v>
                </c:pt>
              </c:strCache>
            </c:strRef>
          </c:cat>
          <c:val>
            <c:numRef>
              <c:f>Sheet1!$B$2:$B$7</c:f>
              <c:numCache>
                <c:formatCode>0</c:formatCode>
                <c:ptCount val="6"/>
                <c:pt idx="0">
                  <c:v>42.943154018550466</c:v>
                </c:pt>
                <c:pt idx="1">
                  <c:v>28.8931110841106</c:v>
                </c:pt>
                <c:pt idx="2">
                  <c:v>26.12934791679512</c:v>
                </c:pt>
                <c:pt idx="3">
                  <c:v>24.628313978491004</c:v>
                </c:pt>
                <c:pt idx="4">
                  <c:v>17.74247330405127</c:v>
                </c:pt>
                <c:pt idx="5">
                  <c:v>17.028436360726875</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37</a:t>
                    </a:r>
                  </a:p>
                </c:rich>
              </c:tx>
              <c:showLegendKey val="0"/>
              <c:showVal val="0"/>
              <c:showCatName val="0"/>
              <c:showSerName val="0"/>
              <c:showPercent val="0"/>
              <c:showBubbleSize val="0"/>
            </c:dLbl>
            <c:dLbl>
              <c:idx val="1"/>
              <c:tx>
                <c:rich>
                  <a:bodyPr/>
                  <a:lstStyle/>
                  <a:p>
                    <a:r>
                      <a:rPr lang="en-US" b="1" sz="800">
                        <a:solidFill>
                          <a:srgbClr val="FFFFFF"/>
                        </a:solidFill>
                      </a:rPr>
                      <a:t>30</a:t>
                    </a:r>
                  </a:p>
                </c:rich>
              </c:tx>
              <c:showLegendKey val="0"/>
              <c:showVal val="0"/>
              <c:showCatName val="0"/>
              <c:showSerName val="0"/>
              <c:showPercent val="0"/>
              <c:showBubbleSize val="0"/>
            </c:dLbl>
            <c:dLbl>
              <c:idx val="2"/>
              <c:tx>
                <c:rich>
                  <a:bodyPr/>
                  <a:lstStyle/>
                  <a:p>
                    <a:r>
                      <a:rPr lang="en-US" b="1" sz="800">
                        <a:solidFill>
                          <a:srgbClr val="FFFFFF"/>
                        </a:solidFill>
                      </a:rPr>
                      <a:t>57</a:t>
                    </a:r>
                  </a:p>
                </c:rich>
              </c:tx>
              <c:showLegendKey val="0"/>
              <c:showVal val="0"/>
              <c:showCatName val="0"/>
              <c:showSerName val="0"/>
              <c:showPercent val="0"/>
              <c:showBubbleSize val="0"/>
            </c:dLbl>
            <c:dLbl>
              <c:idx val="3"/>
              <c:tx>
                <c:rich>
                  <a:bodyPr/>
                  <a:lstStyle/>
                  <a:p>
                    <a:r>
                      <a:rPr lang="en-US" b="1" sz="800">
                        <a:solidFill>
                          <a:srgbClr val="FFFFFF"/>
                        </a:solidFill>
                      </a:rPr>
                      <a:t>11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Connecting with other people</c:v>
                </c:pt>
                <c:pt idx="1">
                  <c:v>Learning new things</c:v>
                </c:pt>
                <c:pt idx="2">
                  <c:v>Just passing time</c:v>
                </c:pt>
                <c:pt idx="3">
                  <c:v>Avoiding interacting with people</c:v>
                </c:pt>
              </c:strCache>
            </c:strRef>
          </c:cat>
          <c:val>
            <c:numRef>
              <c:f>Sheet1!$B$2:$B$5</c:f>
              <c:numCache>
                <c:formatCode>0</c:formatCode>
                <c:ptCount val="4"/>
                <c:pt idx="0">
                  <c:v>37.46548975775729</c:v>
                </c:pt>
                <c:pt idx="1">
                  <c:v>29.88125357866991</c:v>
                </c:pt>
                <c:pt idx="2">
                  <c:v>56.52200304685875</c:v>
                </c:pt>
                <c:pt idx="3">
                  <c:v>11.050520591972626</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47</a:t>
                    </a:r>
                  </a:p>
                </c:rich>
              </c:tx>
              <c:showLegendKey val="0"/>
              <c:showVal val="0"/>
              <c:showCatName val="0"/>
              <c:showSerName val="0"/>
              <c:showPercent val="0"/>
              <c:showBubbleSize val="0"/>
            </c:dLbl>
            <c:dLbl>
              <c:idx val="1"/>
              <c:tx>
                <c:rich>
                  <a:bodyPr/>
                  <a:lstStyle/>
                  <a:p>
                    <a:r>
                      <a:rPr lang="en-US" b="1" sz="800">
                        <a:solidFill>
                          <a:srgbClr val="FFFFFF"/>
                        </a:solidFill>
                      </a:rPr>
                      <a:t>53</a:t>
                    </a:r>
                  </a:p>
                </c:rich>
              </c:tx>
              <c:showLegendKey val="0"/>
              <c:showVal val="0"/>
              <c:showCatName val="0"/>
              <c:showSerName val="0"/>
              <c:showPercent val="0"/>
              <c:showBubbleSize val="0"/>
            </c:dLbl>
            <c:dLbl>
              <c:idx val="2"/>
              <c:tx>
                <c:rich>
                  <a:bodyPr/>
                  <a:lstStyle/>
                  <a:p>
                    <a:r>
                      <a:rPr lang="en-US" b="1" sz="800">
                        <a:solidFill>
                          <a:srgbClr val="FFFFFF"/>
                        </a:solidFill>
                      </a:rPr>
                      <a:t>34</a:t>
                    </a:r>
                  </a:p>
                </c:rich>
              </c:tx>
              <c:showLegendKey val="0"/>
              <c:showVal val="0"/>
              <c:showCatName val="0"/>
              <c:showSerName val="0"/>
              <c:showPercent val="0"/>
              <c:showBubbleSize val="0"/>
            </c:dLbl>
            <c:dLbl>
              <c:idx val="3"/>
              <c:tx>
                <c:rich>
                  <a:bodyPr/>
                  <a:lstStyle/>
                  <a:p>
                    <a:r>
                      <a:rPr lang="en-US" b="1" sz="800">
                        <a:solidFill>
                          <a:srgbClr val="FFFFFF"/>
                        </a:solidFill>
                      </a:rPr>
                      <a:t>32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Connecting with other people</c:v>
                </c:pt>
                <c:pt idx="1">
                  <c:v>Learning new things</c:v>
                </c:pt>
                <c:pt idx="2">
                  <c:v>Just passing time</c:v>
                </c:pt>
                <c:pt idx="3">
                  <c:v>Avoiding interacting with people</c:v>
                </c:pt>
              </c:strCache>
            </c:strRef>
          </c:cat>
          <c:val>
            <c:numRef>
              <c:f>Sheet1!$C$2:$C$5</c:f>
              <c:numCache>
                <c:formatCode>0</c:formatCode>
                <c:ptCount val="4"/>
                <c:pt idx="0">
                  <c:v>46.689135791880894</c:v>
                </c:pt>
                <c:pt idx="1">
                  <c:v>53.18190958889757</c:v>
                </c:pt>
                <c:pt idx="2">
                  <c:v>33.97285113011073</c:v>
                </c:pt>
                <c:pt idx="3">
                  <c:v>31.586639538922608</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12</a:t>
                    </a:r>
                  </a:p>
                </c:rich>
              </c:tx>
              <c:showLegendKey val="0"/>
              <c:showVal val="0"/>
              <c:showCatName val="0"/>
              <c:showSerName val="0"/>
              <c:showPercent val="0"/>
              <c:showBubbleSize val="0"/>
            </c:dLbl>
            <c:dLbl>
              <c:idx val="1"/>
              <c:tx>
                <c:rich>
                  <a:bodyPr/>
                  <a:lstStyle/>
                  <a:p>
                    <a:r>
                      <a:rPr lang="en-US" b="1" sz="800">
                        <a:solidFill>
                          <a:srgbClr val="2D3142"/>
                        </a:solidFill>
                      </a:rPr>
                      <a:t>14</a:t>
                    </a:r>
                  </a:p>
                </c:rich>
              </c:tx>
              <c:showLegendKey val="0"/>
              <c:showVal val="0"/>
              <c:showCatName val="0"/>
              <c:showSerName val="0"/>
              <c:showPercent val="0"/>
              <c:showBubbleSize val="0"/>
            </c:dLbl>
            <c:dLbl>
              <c:idx val="2"/>
              <c:tx>
                <c:rich>
                  <a:bodyPr/>
                  <a:lstStyle/>
                  <a:p>
                    <a:r>
                      <a:rPr lang="en-US" b="1" sz="800">
                        <a:solidFill>
                          <a:srgbClr val="2D3142"/>
                        </a:solidFill>
                      </a:rPr>
                      <a:t>5</a:t>
                    </a:r>
                  </a:p>
                </c:rich>
              </c:tx>
              <c:showLegendKey val="0"/>
              <c:showVal val="0"/>
              <c:showCatName val="0"/>
              <c:showSerName val="0"/>
              <c:showPercent val="0"/>
              <c:showBubbleSize val="0"/>
            </c:dLbl>
            <c:dLbl>
              <c:idx val="3"/>
              <c:tx>
                <c:rich>
                  <a:bodyPr/>
                  <a:lstStyle/>
                  <a:p>
                    <a:r>
                      <a:rPr lang="en-US" b="1" sz="800">
                        <a:solidFill>
                          <a:srgbClr val="2D3142"/>
                        </a:solidFill>
                      </a:rPr>
                      <a:t>36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Connecting with other people</c:v>
                </c:pt>
                <c:pt idx="1">
                  <c:v>Learning new things</c:v>
                </c:pt>
                <c:pt idx="2">
                  <c:v>Just passing time</c:v>
                </c:pt>
                <c:pt idx="3">
                  <c:v>Avoiding interacting with people</c:v>
                </c:pt>
              </c:strCache>
            </c:strRef>
          </c:cat>
          <c:val>
            <c:numRef>
              <c:f>Sheet1!$D$2:$D$5</c:f>
              <c:numCache>
                <c:formatCode>0</c:formatCode>
                <c:ptCount val="4"/>
                <c:pt idx="0">
                  <c:v>11.89735313004003</c:v>
                </c:pt>
                <c:pt idx="1">
                  <c:v>13.59171893683648</c:v>
                </c:pt>
                <c:pt idx="2">
                  <c:v>5.464048608429577</c:v>
                </c:pt>
                <c:pt idx="3">
                  <c:v>36.01798675886479</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4</a:t>
                    </a:r>
                  </a:p>
                </c:rich>
              </c:tx>
              <c:showLegendKey val="0"/>
              <c:showVal val="0"/>
              <c:showCatName val="0"/>
              <c:showSerName val="0"/>
              <c:showPercent val="0"/>
              <c:showBubbleSize val="0"/>
            </c:dLbl>
            <c:dLbl>
              <c:idx val="1"/>
              <c:tx>
                <c:rich>
                  <a:bodyPr/>
                  <a:lstStyle/>
                  <a:p>
                    <a:r>
                      <a:rPr lang="en-US" b="1" sz="800">
                        <a:solidFill>
                          <a:srgbClr val="2D3142"/>
                        </a:solidFill>
                      </a:rPr>
                      <a:t>3</a:t>
                    </a:r>
                  </a:p>
                </c:rich>
              </c:tx>
              <c:showLegendKey val="0"/>
              <c:showVal val="0"/>
              <c:showCatName val="0"/>
              <c:showSerName val="0"/>
              <c:showPercent val="0"/>
              <c:showBubbleSize val="0"/>
            </c:dLbl>
            <c:dLbl>
              <c:idx val="2"/>
              <c:tx>
                <c:rich>
                  <a:bodyPr/>
                  <a:lstStyle/>
                  <a:p>
                    <a:r>
                      <a:rPr lang="en-US" b="1" sz="800">
                        <a:solidFill>
                          <a:srgbClr val="2D3142"/>
                        </a:solidFill>
                      </a:rPr>
                      <a:t>4</a:t>
                    </a:r>
                  </a:p>
                </c:rich>
              </c:tx>
              <c:showLegendKey val="0"/>
              <c:showVal val="0"/>
              <c:showCatName val="0"/>
              <c:showSerName val="0"/>
              <c:showPercent val="0"/>
              <c:showBubbleSize val="0"/>
            </c:dLbl>
            <c:dLbl>
              <c:idx val="3"/>
              <c:tx>
                <c:rich>
                  <a:bodyPr/>
                  <a:lstStyle/>
                  <a:p>
                    <a:r>
                      <a:rPr lang="en-US" b="1" sz="800">
                        <a:solidFill>
                          <a:srgbClr val="2D3142"/>
                        </a:solidFill>
                      </a:rPr>
                      <a:t>21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Connecting with other people</c:v>
                </c:pt>
                <c:pt idx="1">
                  <c:v>Learning new things</c:v>
                </c:pt>
                <c:pt idx="2">
                  <c:v>Just passing time</c:v>
                </c:pt>
                <c:pt idx="3">
                  <c:v>Avoiding interacting with people</c:v>
                </c:pt>
              </c:strCache>
            </c:strRef>
          </c:cat>
          <c:val>
            <c:numRef>
              <c:f>Sheet1!$E$2:$E$5</c:f>
              <c:numCache>
                <c:formatCode>0</c:formatCode>
                <c:ptCount val="4"/>
                <c:pt idx="0">
                  <c:v>3.9480213203217964</c:v>
                </c:pt>
                <c:pt idx="1">
                  <c:v>3.3451178955960494</c:v>
                </c:pt>
                <c:pt idx="2">
                  <c:v>4.0410972146009545</c:v>
                </c:pt>
                <c:pt idx="3">
                  <c:v>21.262718968063325</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18</a:t>
                    </a:r>
                  </a:p>
                </c:rich>
              </c:tx>
              <c:showLegendKey val="0"/>
              <c:showVal val="0"/>
              <c:showCatName val="0"/>
              <c:showSerName val="0"/>
              <c:showPercent val="0"/>
              <c:showBubbleSize val="0"/>
            </c:dLbl>
            <c:dLbl>
              <c:idx val="1"/>
              <c:tx>
                <c:rich>
                  <a:bodyPr/>
                  <a:lstStyle/>
                  <a:p>
                    <a:r>
                      <a:rPr lang="en-US" b="1" sz="800">
                        <a:solidFill>
                          <a:srgbClr val="FFFFFF"/>
                        </a:solidFill>
                      </a:rPr>
                      <a:t>45</a:t>
                    </a:r>
                  </a:p>
                </c:rich>
              </c:tx>
              <c:showLegendKey val="0"/>
              <c:showVal val="0"/>
              <c:showCatName val="0"/>
              <c:showSerName val="0"/>
              <c:showPercent val="0"/>
              <c:showBubbleSize val="0"/>
            </c:dLbl>
            <c:dLbl>
              <c:idx val="2"/>
              <c:tx>
                <c:rich>
                  <a:bodyPr/>
                  <a:lstStyle/>
                  <a:p>
                    <a:r>
                      <a:rPr lang="en-US" b="1" sz="800">
                        <a:solidFill>
                          <a:srgbClr val="FFFFFF"/>
                        </a:solidFill>
                      </a:rPr>
                      <a:t>8</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Feel as if you have to respond to messages from other people immediately</c:v>
                </c:pt>
                <c:pt idx="1">
                  <c:v>Check for messages or notifications as soon as you wake up</c:v>
                </c:pt>
                <c:pt idx="2">
                  <c:v>Lose focus in class because you’re checking your cellphone</c:v>
                </c:pt>
              </c:strCache>
            </c:strRef>
          </c:cat>
          <c:val>
            <c:numRef>
              <c:f>Sheet1!$B$2:$B$4</c:f>
              <c:numCache>
                <c:formatCode>0</c:formatCode>
                <c:ptCount val="3"/>
                <c:pt idx="0">
                  <c:v>18.259621571283812</c:v>
                </c:pt>
                <c:pt idx="1">
                  <c:v>45.39353774271645</c:v>
                </c:pt>
                <c:pt idx="2">
                  <c:v>8.366957269708903</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41</a:t>
                    </a:r>
                  </a:p>
                </c:rich>
              </c:tx>
              <c:showLegendKey val="0"/>
              <c:showVal val="0"/>
              <c:showCatName val="0"/>
              <c:showSerName val="0"/>
              <c:showPercent val="0"/>
              <c:showBubbleSize val="0"/>
            </c:dLbl>
            <c:dLbl>
              <c:idx val="1"/>
              <c:tx>
                <c:rich>
                  <a:bodyPr/>
                  <a:lstStyle/>
                  <a:p>
                    <a:r>
                      <a:rPr lang="en-US" b="1" sz="800">
                        <a:solidFill>
                          <a:srgbClr val="FFFFFF"/>
                        </a:solidFill>
                      </a:rPr>
                      <a:t>29</a:t>
                    </a:r>
                  </a:p>
                </c:rich>
              </c:tx>
              <c:showLegendKey val="0"/>
              <c:showVal val="0"/>
              <c:showCatName val="0"/>
              <c:showSerName val="0"/>
              <c:showPercent val="0"/>
              <c:showBubbleSize val="0"/>
            </c:dLbl>
            <c:dLbl>
              <c:idx val="2"/>
              <c:tx>
                <c:rich>
                  <a:bodyPr/>
                  <a:lstStyle/>
                  <a:p>
                    <a:r>
                      <a:rPr lang="en-US" b="1" sz="800">
                        <a:solidFill>
                          <a:srgbClr val="FFFFFF"/>
                        </a:solidFill>
                      </a:rPr>
                      <a:t>23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Feel as if you have to respond to messages from other people immediately</c:v>
                </c:pt>
                <c:pt idx="1">
                  <c:v>Check for messages or notifications as soon as you wake up</c:v>
                </c:pt>
                <c:pt idx="2">
                  <c:v>Lose focus in class because you’re checking your cellphone</c:v>
                </c:pt>
              </c:strCache>
            </c:strRef>
          </c:cat>
          <c:val>
            <c:numRef>
              <c:f>Sheet1!$C$2:$C$4</c:f>
              <c:numCache>
                <c:formatCode>0</c:formatCode>
                <c:ptCount val="3"/>
                <c:pt idx="0">
                  <c:v>40.86019626721875</c:v>
                </c:pt>
                <c:pt idx="1">
                  <c:v>28.61693889275444</c:v>
                </c:pt>
                <c:pt idx="2">
                  <c:v>23.389502866356118</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26</a:t>
                    </a:r>
                  </a:p>
                </c:rich>
              </c:tx>
              <c:showLegendKey val="0"/>
              <c:showVal val="0"/>
              <c:showCatName val="0"/>
              <c:showSerName val="0"/>
              <c:showPercent val="0"/>
              <c:showBubbleSize val="0"/>
            </c:dLbl>
            <c:dLbl>
              <c:idx val="1"/>
              <c:tx>
                <c:rich>
                  <a:bodyPr/>
                  <a:lstStyle/>
                  <a:p>
                    <a:r>
                      <a:rPr lang="en-US" b="1" sz="800">
                        <a:solidFill>
                          <a:srgbClr val="2D3142"/>
                        </a:solidFill>
                      </a:rPr>
                      <a:t>17</a:t>
                    </a:r>
                  </a:p>
                </c:rich>
              </c:tx>
              <c:showLegendKey val="0"/>
              <c:showVal val="0"/>
              <c:showCatName val="0"/>
              <c:showSerName val="0"/>
              <c:showPercent val="0"/>
              <c:showBubbleSize val="0"/>
            </c:dLbl>
            <c:dLbl>
              <c:idx val="2"/>
              <c:tx>
                <c:rich>
                  <a:bodyPr/>
                  <a:lstStyle/>
                  <a:p>
                    <a:r>
                      <a:rPr lang="en-US" b="1" sz="800">
                        <a:solidFill>
                          <a:srgbClr val="2D3142"/>
                        </a:solidFill>
                      </a:rPr>
                      <a:t>28</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Feel as if you have to respond to messages from other people immediately</c:v>
                </c:pt>
                <c:pt idx="1">
                  <c:v>Check for messages or notifications as soon as you wake up</c:v>
                </c:pt>
                <c:pt idx="2">
                  <c:v>Lose focus in class because you’re checking your cellphone</c:v>
                </c:pt>
              </c:strCache>
            </c:strRef>
          </c:cat>
          <c:val>
            <c:numRef>
              <c:f>Sheet1!$D$2:$D$4</c:f>
              <c:numCache>
                <c:formatCode>0</c:formatCode>
                <c:ptCount val="3"/>
                <c:pt idx="0">
                  <c:v>26.177888080207378</c:v>
                </c:pt>
                <c:pt idx="1">
                  <c:v>16.581502138305215</c:v>
                </c:pt>
                <c:pt idx="2">
                  <c:v>28.482830341268922</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14</a:t>
                    </a:r>
                  </a:p>
                </c:rich>
              </c:tx>
              <c:showLegendKey val="0"/>
              <c:showVal val="0"/>
              <c:showCatName val="0"/>
              <c:showSerName val="0"/>
              <c:showPercent val="0"/>
              <c:showBubbleSize val="0"/>
            </c:dLbl>
            <c:dLbl>
              <c:idx val="1"/>
              <c:tx>
                <c:rich>
                  <a:bodyPr/>
                  <a:lstStyle/>
                  <a:p>
                    <a:r>
                      <a:rPr lang="en-US" b="1" sz="800">
                        <a:solidFill>
                          <a:srgbClr val="2D3142"/>
                        </a:solidFill>
                      </a:rPr>
                      <a:t>9</a:t>
                    </a:r>
                  </a:p>
                </c:rich>
              </c:tx>
              <c:showLegendKey val="0"/>
              <c:showVal val="0"/>
              <c:showCatName val="0"/>
              <c:showSerName val="0"/>
              <c:showPercent val="0"/>
              <c:showBubbleSize val="0"/>
            </c:dLbl>
            <c:dLbl>
              <c:idx val="2"/>
              <c:tx>
                <c:rich>
                  <a:bodyPr/>
                  <a:lstStyle/>
                  <a:p>
                    <a:r>
                      <a:rPr lang="en-US" b="1" sz="800">
                        <a:solidFill>
                          <a:srgbClr val="2D3142"/>
                        </a:solidFill>
                      </a:rPr>
                      <a:t>40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Feel as if you have to respond to messages from other people immediately</c:v>
                </c:pt>
                <c:pt idx="1">
                  <c:v>Check for messages or notifications as soon as you wake up</c:v>
                </c:pt>
                <c:pt idx="2">
                  <c:v>Lose focus in class because you’re checking your cellphone</c:v>
                </c:pt>
              </c:strCache>
            </c:strRef>
          </c:cat>
          <c:val>
            <c:numRef>
              <c:f>Sheet1!$E$2:$E$4</c:f>
              <c:numCache>
                <c:formatCode>0</c:formatCode>
                <c:ptCount val="3"/>
                <c:pt idx="0">
                  <c:v>14.409885828579034</c:v>
                </c:pt>
                <c:pt idx="1">
                  <c:v>9.094606056243771</c:v>
                </c:pt>
                <c:pt idx="2">
                  <c:v>39.589588819379365</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37</a:t>
                    </a:r>
                  </a:p>
                </c:rich>
              </c:tx>
              <c:showLegendKey val="0"/>
              <c:showVal val="0"/>
              <c:showCatName val="0"/>
              <c:showSerName val="0"/>
              <c:showPercent val="0"/>
              <c:showBubbleSize val="0"/>
            </c:dLbl>
            <c:dLbl>
              <c:idx val="2"/>
              <c:tx>
                <c:rich>
                  <a:bodyPr/>
                  <a:lstStyle/>
                  <a:p>
                    <a:r>
                      <a:rPr lang="en-US" b="1" sz="900">
                        <a:solidFill>
                          <a:srgbClr val="2D3142"/>
                        </a:solidFill>
                      </a:rPr>
                      <a:t>31</a:t>
                    </a:r>
                  </a:p>
                </c:rich>
              </c:tx>
              <c:showLegendKey val="0"/>
              <c:showVal val="0"/>
              <c:showCatName val="0"/>
              <c:showSerName val="0"/>
              <c:showPercent val="0"/>
              <c:showBubbleSize val="0"/>
            </c:dLbl>
            <c:dLbl>
              <c:idx val="3"/>
              <c:tx>
                <c:rich>
                  <a:bodyPr/>
                  <a:lstStyle/>
                  <a:p>
                    <a:r>
                      <a:rPr lang="en-US" b="1" sz="900">
                        <a:solidFill>
                          <a:srgbClr val="2D3142"/>
                        </a:solidFill>
                      </a:rPr>
                      <a:t>18</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Often</c:v>
                </c:pt>
                <c:pt idx="1">
                  <c:v>Sometimes</c:v>
                </c:pt>
                <c:pt idx="2">
                  <c:v>Rarely</c:v>
                </c:pt>
                <c:pt idx="3">
                  <c:v>Never</c:v>
                </c:pt>
              </c:strCache>
            </c:strRef>
          </c:cat>
          <c:val>
            <c:numRef>
              <c:f>Sheet1!$B$2:$B$5</c:f>
              <c:numCache>
                <c:formatCode>0</c:formatCode>
                <c:ptCount val="4"/>
                <c:pt idx="0">
                  <c:v>14.15477103832686</c:v>
                </c:pt>
                <c:pt idx="1">
                  <c:v>36.991369681756325</c:v>
                </c:pt>
                <c:pt idx="2">
                  <c:v>30.50228171049289</c:v>
                </c:pt>
                <c:pt idx="3">
                  <c:v>18.216233288844418</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12</a:t>
                    </a:r>
                  </a:p>
                </c:rich>
              </c:tx>
              <c:showLegendKey val="0"/>
              <c:showVal val="0"/>
              <c:showCatName val="0"/>
              <c:showSerName val="0"/>
              <c:showPercent val="0"/>
              <c:showBubbleSize val="0"/>
            </c:dLbl>
            <c:dLbl>
              <c:idx val="1"/>
              <c:tx>
                <c:rich>
                  <a:bodyPr/>
                  <a:lstStyle/>
                  <a:p>
                    <a:r>
                      <a:rPr lang="en-US" b="1" sz="900">
                        <a:solidFill>
                          <a:srgbClr val="2D3142"/>
                        </a:solidFill>
                      </a:rPr>
                      <a:t>34</a:t>
                    </a:r>
                  </a:p>
                </c:rich>
              </c:tx>
              <c:showLegendKey val="0"/>
              <c:showVal val="0"/>
              <c:showCatName val="0"/>
              <c:showSerName val="0"/>
              <c:showPercent val="0"/>
              <c:showBubbleSize val="0"/>
            </c:dLbl>
            <c:dLbl>
              <c:idx val="2"/>
              <c:tx>
                <c:rich>
                  <a:bodyPr/>
                  <a:lstStyle/>
                  <a:p>
                    <a:r>
                      <a:rPr lang="en-US" b="1" sz="900">
                        <a:solidFill>
                          <a:srgbClr val="2D3142"/>
                        </a:solidFill>
                      </a:rPr>
                      <a:t>31</a:t>
                    </a:r>
                  </a:p>
                </c:rich>
              </c:tx>
              <c:showLegendKey val="0"/>
              <c:showVal val="0"/>
              <c:showCatName val="0"/>
              <c:showSerName val="0"/>
              <c:showPercent val="0"/>
              <c:showBubbleSize val="0"/>
            </c:dLbl>
            <c:dLbl>
              <c:idx val="3"/>
              <c:tx>
                <c:rich>
                  <a:bodyPr/>
                  <a:lstStyle/>
                  <a:p>
                    <a:r>
                      <a:rPr lang="en-US" b="1" sz="900">
                        <a:solidFill>
                          <a:srgbClr val="2D3142"/>
                        </a:solidFill>
                      </a:rPr>
                      <a:t>22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Often</c:v>
                </c:pt>
                <c:pt idx="1">
                  <c:v>Sometimes</c:v>
                </c:pt>
                <c:pt idx="2">
                  <c:v>Rarely</c:v>
                </c:pt>
                <c:pt idx="3">
                  <c:v>Never</c:v>
                </c:pt>
              </c:strCache>
            </c:strRef>
          </c:cat>
          <c:val>
            <c:numRef>
              <c:f>Sheet1!$B$2:$B$5</c:f>
              <c:numCache>
                <c:formatCode>0</c:formatCode>
                <c:ptCount val="4"/>
                <c:pt idx="0">
                  <c:v>11.90275581925839</c:v>
                </c:pt>
                <c:pt idx="1">
                  <c:v>33.933851879381706</c:v>
                </c:pt>
                <c:pt idx="2">
                  <c:v>31.445913824176564</c:v>
                </c:pt>
                <c:pt idx="3">
                  <c:v>22.28622698878054</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53</a:t>
                    </a:r>
                  </a:p>
                </c:rich>
              </c:tx>
              <c:showLegendKey val="0"/>
              <c:showVal val="0"/>
              <c:showCatName val="0"/>
              <c:showSerName val="0"/>
              <c:showPercent val="0"/>
              <c:showBubbleSize val="0"/>
            </c:dLbl>
            <c:dLbl>
              <c:idx val="1"/>
              <c:tx>
                <c:rich>
                  <a:bodyPr/>
                  <a:lstStyle/>
                  <a:p>
                    <a:r>
                      <a:rPr lang="en-US" b="1" sz="900">
                        <a:solidFill>
                          <a:srgbClr val="2D3142"/>
                        </a:solidFill>
                      </a:rPr>
                      <a:t>52</a:t>
                    </a:r>
                  </a:p>
                </c:rich>
              </c:tx>
              <c:showLegendKey val="0"/>
              <c:showVal val="0"/>
              <c:showCatName val="0"/>
              <c:showSerName val="0"/>
              <c:showPercent val="0"/>
              <c:showBubbleSize val="0"/>
            </c:dLbl>
            <c:dLbl>
              <c:idx val="2"/>
              <c:tx>
                <c:rich>
                  <a:bodyPr/>
                  <a:lstStyle/>
                  <a:p>
                    <a:r>
                      <a:rPr lang="en-US" b="1" sz="900">
                        <a:solidFill>
                          <a:srgbClr val="2D3142"/>
                        </a:solidFill>
                      </a:rPr>
                      <a:t>37</a:t>
                    </a:r>
                  </a:p>
                </c:rich>
              </c:tx>
              <c:showLegendKey val="0"/>
              <c:showVal val="0"/>
              <c:showCatName val="0"/>
              <c:showSerName val="0"/>
              <c:showPercent val="0"/>
              <c:showBubbleSize val="0"/>
            </c:dLbl>
            <c:dLbl>
              <c:idx val="3"/>
              <c:tx>
                <c:rich>
                  <a:bodyPr/>
                  <a:lstStyle/>
                  <a:p>
                    <a:r>
                      <a:rPr lang="en-US" b="1" sz="900">
                        <a:solidFill>
                          <a:srgbClr val="2D3142"/>
                        </a:solidFill>
                      </a:rPr>
                      <a:t>36</a:t>
                    </a:r>
                  </a:p>
                </c:rich>
              </c:tx>
              <c:showLegendKey val="0"/>
              <c:showVal val="0"/>
              <c:showCatName val="0"/>
              <c:showSerName val="0"/>
              <c:showPercent val="0"/>
              <c:showBubbleSize val="0"/>
            </c:dLbl>
            <c:dLbl>
              <c:idx val="4"/>
              <c:tx>
                <c:rich>
                  <a:bodyPr/>
                  <a:lstStyle/>
                  <a:p>
                    <a:r>
                      <a:rPr lang="en-US" b="1" sz="900">
                        <a:solidFill>
                          <a:srgbClr val="2D3142"/>
                        </a:solidFill>
                      </a:rPr>
                      <a:t>34</a:t>
                    </a:r>
                  </a:p>
                </c:rich>
              </c:tx>
              <c:showLegendKey val="0"/>
              <c:showVal val="0"/>
              <c:showCatName val="0"/>
              <c:showSerName val="0"/>
              <c:showPercent val="0"/>
              <c:showBubbleSize val="0"/>
            </c:dLbl>
            <c:dLbl>
              <c:idx val="5"/>
              <c:tx>
                <c:rich>
                  <a:bodyPr/>
                  <a:lstStyle/>
                  <a:p>
                    <a:r>
                      <a:rPr lang="en-US" b="1" sz="900">
                        <a:solidFill>
                          <a:srgbClr val="2D3142"/>
                        </a:solidFill>
                      </a:rPr>
                      <a:t>24</a:t>
                    </a:r>
                  </a:p>
                </c:rich>
              </c:tx>
              <c:showLegendKey val="0"/>
              <c:showVal val="0"/>
              <c:showCatName val="0"/>
              <c:showSerName val="0"/>
              <c:showPercent val="0"/>
              <c:showBubbleSize val="0"/>
            </c:dLbl>
            <c:dLbl>
              <c:idx val="6"/>
              <c:tx>
                <c:rich>
                  <a:bodyPr/>
                  <a:lstStyle/>
                  <a:p>
                    <a:r>
                      <a:rPr lang="en-US" b="1" sz="900">
                        <a:solidFill>
                          <a:srgbClr val="2D3142"/>
                        </a:solidFill>
                      </a:rPr>
                      <a:t>19</a:t>
                    </a:r>
                  </a:p>
                </c:rich>
              </c:tx>
              <c:showLegendKey val="0"/>
              <c:showVal val="0"/>
              <c:showCatName val="0"/>
              <c:showSerName val="0"/>
              <c:showPercent val="0"/>
              <c:showBubbleSize val="0"/>
            </c:dLbl>
            <c:dLbl>
              <c:idx val="7"/>
              <c:tx>
                <c:rich>
                  <a:bodyPr/>
                  <a:lstStyle/>
                  <a:p>
                    <a:r>
                      <a:rPr lang="en-US" b="1" sz="900">
                        <a:solidFill>
                          <a:srgbClr val="2D3142"/>
                        </a:solidFill>
                      </a:rPr>
                      <a:t>16</a:t>
                    </a:r>
                  </a:p>
                </c:rich>
              </c:tx>
              <c:showLegendKey val="0"/>
              <c:showVal val="0"/>
              <c:showCatName val="0"/>
              <c:showSerName val="0"/>
              <c:showPercent val="0"/>
              <c:showBubbleSize val="0"/>
            </c:dLbl>
            <c:dLbl>
              <c:idx val="8"/>
              <c:tx>
                <c:rich>
                  <a:bodyPr/>
                  <a:lstStyle/>
                  <a:p>
                    <a:r>
                      <a:rPr lang="en-US" b="1" sz="900">
                        <a:solidFill>
                          <a:srgbClr val="2D3142"/>
                        </a:solidFill>
                      </a:rPr>
                      <a:t>12</a:t>
                    </a:r>
                  </a:p>
                </c:rich>
              </c:tx>
              <c:showLegendKey val="0"/>
              <c:showVal val="0"/>
              <c:showCatName val="0"/>
              <c:showSerName val="0"/>
              <c:showPercent val="0"/>
              <c:showBubbleSize val="0"/>
            </c:dLbl>
            <c:dLbl>
              <c:idx val="9"/>
              <c:tx>
                <c:rich>
                  <a:bodyPr/>
                  <a:lstStyle/>
                  <a:p>
                    <a:r>
                      <a:rPr lang="en-US" b="1" sz="900">
                        <a:solidFill>
                          <a:srgbClr val="2D3142"/>
                        </a:solidFill>
                      </a:rPr>
                      <a:t>11</a:t>
                    </a:r>
                  </a:p>
                </c:rich>
              </c:tx>
              <c:showLegendKey val="0"/>
              <c:showVal val="0"/>
              <c:showCatName val="0"/>
              <c:showSerName val="0"/>
              <c:showPercent val="0"/>
              <c:showBubbleSize val="0"/>
            </c:dLbl>
            <c:dLbl>
              <c:idx val="10"/>
              <c:tx>
                <c:rich>
                  <a:bodyPr/>
                  <a:lstStyle/>
                  <a:p>
                    <a:r>
                      <a:rPr lang="en-US" b="1" sz="900">
                        <a:solidFill>
                          <a:srgbClr val="2D3142"/>
                        </a:solidFill>
                      </a:rPr>
                      <a:t>10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Sheet1!$A$2:$A$12</c:f>
              <c:strCache>
                <c:ptCount val="11"/>
                <c:pt idx="0">
                  <c:v>Hobbies, including gaming</c:v>
                </c:pt>
                <c:pt idx="1">
                  <c:v>Humor</c:v>
                </c:pt>
                <c:pt idx="2">
                  <c:v>Pop culture</c:v>
                </c:pt>
                <c:pt idx="3">
                  <c:v>Sports</c:v>
                </c:pt>
                <c:pt idx="4">
                  <c:v>Fashion or style</c:v>
                </c:pt>
                <c:pt idx="5">
                  <c:v>Dating and relationships</c:v>
                </c:pt>
                <c:pt idx="6">
                  <c:v>Health and wellness</c:v>
                </c:pt>
                <c:pt idx="7">
                  <c:v>People with specific characteristics (e.g LGBT, people of color)</c:v>
                </c:pt>
                <c:pt idx="8">
                  <c:v>Politics</c:v>
                </c:pt>
                <c:pt idx="9">
                  <c:v>None of these</c:v>
                </c:pt>
                <c:pt idx="10">
                  <c:v>Religion</c:v>
                </c:pt>
              </c:strCache>
            </c:strRef>
          </c:cat>
          <c:val>
            <c:numRef>
              <c:f>Sheet1!$B$2:$B$12</c:f>
              <c:numCache>
                <c:formatCode>0</c:formatCode>
                <c:ptCount val="11"/>
                <c:pt idx="0">
                  <c:v>53.49542642420179</c:v>
                </c:pt>
                <c:pt idx="1">
                  <c:v>52.03564450163562</c:v>
                </c:pt>
                <c:pt idx="2">
                  <c:v>36.80154912780699</c:v>
                </c:pt>
                <c:pt idx="3">
                  <c:v>35.68211141702638</c:v>
                </c:pt>
                <c:pt idx="4">
                  <c:v>33.908506964422074</c:v>
                </c:pt>
                <c:pt idx="5">
                  <c:v>24.297694461650742</c:v>
                </c:pt>
                <c:pt idx="6">
                  <c:v>18.971767774094758</c:v>
                </c:pt>
                <c:pt idx="7">
                  <c:v>15.884547175180803</c:v>
                </c:pt>
                <c:pt idx="8">
                  <c:v>11.821580303145431</c:v>
                </c:pt>
                <c:pt idx="9">
                  <c:v>11.184393820941134</c:v>
                </c:pt>
                <c:pt idx="10">
                  <c:v>10.24693284526126</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Major role</c:v>
                </c:pt>
              </c:strCache>
            </c:strRef>
          </c:tx>
          <c:spPr>
            <a:solidFill>
              <a:srgbClr val="4A7AB8"/>
            </a:solidFill>
          </c:spPr>
          <c:dLbls>
            <c:dLbl>
              <c:idx val="0"/>
              <c:tx>
                <c:rich>
                  <a:bodyPr/>
                  <a:lstStyle/>
                  <a:p>
                    <a:r>
                      <a:rPr lang="en-US" b="1" sz="800">
                        <a:solidFill>
                          <a:srgbClr val="FFFFFF"/>
                        </a:solidFill>
                      </a:rPr>
                      <a:t>19</a:t>
                    </a:r>
                  </a:p>
                </c:rich>
              </c:tx>
              <c:showLegendKey val="0"/>
              <c:showVal val="0"/>
              <c:showCatName val="0"/>
              <c:showSerName val="0"/>
              <c:showPercent val="0"/>
              <c:showBubbleSize val="0"/>
            </c:dLbl>
            <c:dLbl>
              <c:idx val="1"/>
              <c:tx>
                <c:rich>
                  <a:bodyPr/>
                  <a:lstStyle/>
                  <a:p>
                    <a:r>
                      <a:rPr lang="en-US" b="1" sz="800">
                        <a:solidFill>
                          <a:srgbClr val="FFFFFF"/>
                        </a:solidFill>
                      </a:rPr>
                      <a:t>25</a:t>
                    </a:r>
                  </a:p>
                </c:rich>
              </c:tx>
              <c:showLegendKey val="0"/>
              <c:showVal val="0"/>
              <c:showCatName val="0"/>
              <c:showSerName val="0"/>
              <c:showPercent val="0"/>
              <c:showBubbleSize val="0"/>
            </c:dLbl>
            <c:dLbl>
              <c:idx val="2"/>
              <c:tx>
                <c:rich>
                  <a:bodyPr/>
                  <a:lstStyle/>
                  <a:p>
                    <a:r>
                      <a:rPr lang="en-US" b="1" sz="800">
                        <a:solidFill>
                          <a:srgbClr val="FFFFFF"/>
                        </a:solidFill>
                      </a:rPr>
                      <a:t>21</a:t>
                    </a:r>
                  </a:p>
                </c:rich>
              </c:tx>
              <c:showLegendKey val="0"/>
              <c:showVal val="0"/>
              <c:showCatName val="0"/>
              <c:showSerName val="0"/>
              <c:showPercent val="0"/>
              <c:showBubbleSize val="0"/>
            </c:dLbl>
            <c:dLbl>
              <c:idx val="3"/>
              <c:tx>
                <c:rich>
                  <a:bodyPr/>
                  <a:lstStyle/>
                  <a:p>
                    <a:r>
                      <a:rPr lang="en-US" b="1" sz="800">
                        <a:solidFill>
                          <a:srgbClr val="FFFFFF"/>
                        </a:solidFill>
                      </a:rPr>
                      <a:t>31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Helping you get through tough times in your life</c:v>
                </c:pt>
                <c:pt idx="1">
                  <c:v>Making you feel more accepted</c:v>
                </c:pt>
                <c:pt idx="2">
                  <c:v>Helping you figure out how to feel about important issues</c:v>
                </c:pt>
                <c:pt idx="3">
                  <c:v>Exposing you to new types of people</c:v>
                </c:pt>
              </c:strCache>
            </c:strRef>
          </c:cat>
          <c:val>
            <c:numRef>
              <c:f>Sheet1!$B$2:$B$5</c:f>
              <c:numCache>
                <c:formatCode>0</c:formatCode>
                <c:ptCount val="4"/>
                <c:pt idx="0">
                  <c:v>18.790636102410648</c:v>
                </c:pt>
                <c:pt idx="1">
                  <c:v>25.106260982147145</c:v>
                </c:pt>
                <c:pt idx="2">
                  <c:v>20.58533250736924</c:v>
                </c:pt>
                <c:pt idx="3">
                  <c:v>31.31980340879288</c:v>
                </c:pt>
              </c:numCache>
            </c:numRef>
          </c:val>
        </c:ser>
        <c:ser>
          <c:idx val="1"/>
          <c:order val="1"/>
          <c:tx>
            <c:strRef>
              <c:f>Sheet1!$C$1</c:f>
              <c:strCache>
                <c:ptCount val="1"/>
                <c:pt idx="0">
                  <c:v>Minor role</c:v>
                </c:pt>
              </c:strCache>
            </c:strRef>
          </c:tx>
          <c:spPr>
            <a:solidFill>
              <a:srgbClr val="5A94DE"/>
            </a:solidFill>
          </c:spPr>
          <c:dLbls>
            <c:dLbl>
              <c:idx val="0"/>
              <c:tx>
                <c:rich>
                  <a:bodyPr/>
                  <a:lstStyle/>
                  <a:p>
                    <a:r>
                      <a:rPr lang="en-US" b="1" sz="800">
                        <a:solidFill>
                          <a:srgbClr val="FFFFFF"/>
                        </a:solidFill>
                      </a:rPr>
                      <a:t>36</a:t>
                    </a:r>
                  </a:p>
                </c:rich>
              </c:tx>
              <c:showLegendKey val="0"/>
              <c:showVal val="0"/>
              <c:showCatName val="0"/>
              <c:showSerName val="0"/>
              <c:showPercent val="0"/>
              <c:showBubbleSize val="0"/>
            </c:dLbl>
            <c:dLbl>
              <c:idx val="1"/>
              <c:tx>
                <c:rich>
                  <a:bodyPr/>
                  <a:lstStyle/>
                  <a:p>
                    <a:r>
                      <a:rPr lang="en-US" b="1" sz="800">
                        <a:solidFill>
                          <a:srgbClr val="FFFFFF"/>
                        </a:solidFill>
                      </a:rPr>
                      <a:t>43</a:t>
                    </a:r>
                  </a:p>
                </c:rich>
              </c:tx>
              <c:showLegendKey val="0"/>
              <c:showVal val="0"/>
              <c:showCatName val="0"/>
              <c:showSerName val="0"/>
              <c:showPercent val="0"/>
              <c:showBubbleSize val="0"/>
            </c:dLbl>
            <c:dLbl>
              <c:idx val="2"/>
              <c:tx>
                <c:rich>
                  <a:bodyPr/>
                  <a:lstStyle/>
                  <a:p>
                    <a:r>
                      <a:rPr lang="en-US" b="1" sz="800">
                        <a:solidFill>
                          <a:srgbClr val="FFFFFF"/>
                        </a:solidFill>
                      </a:rPr>
                      <a:t>45</a:t>
                    </a:r>
                  </a:p>
                </c:rich>
              </c:tx>
              <c:showLegendKey val="0"/>
              <c:showVal val="0"/>
              <c:showCatName val="0"/>
              <c:showSerName val="0"/>
              <c:showPercent val="0"/>
              <c:showBubbleSize val="0"/>
            </c:dLbl>
            <c:dLbl>
              <c:idx val="3"/>
              <c:tx>
                <c:rich>
                  <a:bodyPr/>
                  <a:lstStyle/>
                  <a:p>
                    <a:r>
                      <a:rPr lang="en-US" b="1" sz="800">
                        <a:solidFill>
                          <a:srgbClr val="FFFFFF"/>
                        </a:solidFill>
                      </a:rPr>
                      <a:t>43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Helping you get through tough times in your life</c:v>
                </c:pt>
                <c:pt idx="1">
                  <c:v>Making you feel more accepted</c:v>
                </c:pt>
                <c:pt idx="2">
                  <c:v>Helping you figure out how to feel about important issues</c:v>
                </c:pt>
                <c:pt idx="3">
                  <c:v>Exposing you to new types of people</c:v>
                </c:pt>
              </c:strCache>
            </c:strRef>
          </c:cat>
          <c:val>
            <c:numRef>
              <c:f>Sheet1!$C$2:$C$5</c:f>
              <c:numCache>
                <c:formatCode>0</c:formatCode>
                <c:ptCount val="4"/>
                <c:pt idx="0">
                  <c:v>36.101130513581616</c:v>
                </c:pt>
                <c:pt idx="1">
                  <c:v>42.713290135661794</c:v>
                </c:pt>
                <c:pt idx="2">
                  <c:v>44.85278421575018</c:v>
                </c:pt>
                <c:pt idx="3">
                  <c:v>42.59361995869431</c:v>
                </c:pt>
              </c:numCache>
            </c:numRef>
          </c:val>
        </c:ser>
        <c:ser>
          <c:idx val="2"/>
          <c:order val="2"/>
          <c:tx>
            <c:strRef>
              <c:f>Sheet1!$D$1</c:f>
              <c:strCache>
                <c:ptCount val="1"/>
                <c:pt idx="0">
                  <c:v>No role</c:v>
                </c:pt>
              </c:strCache>
            </c:strRef>
          </c:tx>
          <c:spPr>
            <a:solidFill>
              <a:srgbClr val="8EBAEB"/>
            </a:solidFill>
          </c:spPr>
          <c:dLbls>
            <c:dLbl>
              <c:idx val="0"/>
              <c:tx>
                <c:rich>
                  <a:bodyPr/>
                  <a:lstStyle/>
                  <a:p>
                    <a:r>
                      <a:rPr lang="en-US" b="1" sz="800">
                        <a:solidFill>
                          <a:srgbClr val="2D3142"/>
                        </a:solidFill>
                      </a:rPr>
                      <a:t>44</a:t>
                    </a:r>
                  </a:p>
                </c:rich>
              </c:tx>
              <c:showLegendKey val="0"/>
              <c:showVal val="0"/>
              <c:showCatName val="0"/>
              <c:showSerName val="0"/>
              <c:showPercent val="0"/>
              <c:showBubbleSize val="0"/>
            </c:dLbl>
            <c:dLbl>
              <c:idx val="1"/>
              <c:tx>
                <c:rich>
                  <a:bodyPr/>
                  <a:lstStyle/>
                  <a:p>
                    <a:r>
                      <a:rPr lang="en-US" b="1" sz="800">
                        <a:solidFill>
                          <a:srgbClr val="2D3142"/>
                        </a:solidFill>
                      </a:rPr>
                      <a:t>31</a:t>
                    </a:r>
                  </a:p>
                </c:rich>
              </c:tx>
              <c:showLegendKey val="0"/>
              <c:showVal val="0"/>
              <c:showCatName val="0"/>
              <c:showSerName val="0"/>
              <c:showPercent val="0"/>
              <c:showBubbleSize val="0"/>
            </c:dLbl>
            <c:dLbl>
              <c:idx val="2"/>
              <c:tx>
                <c:rich>
                  <a:bodyPr/>
                  <a:lstStyle/>
                  <a:p>
                    <a:r>
                      <a:rPr lang="en-US" b="1" sz="800">
                        <a:solidFill>
                          <a:srgbClr val="2D3142"/>
                        </a:solidFill>
                      </a:rPr>
                      <a:t>34</a:t>
                    </a:r>
                  </a:p>
                </c:rich>
              </c:tx>
              <c:showLegendKey val="0"/>
              <c:showVal val="0"/>
              <c:showCatName val="0"/>
              <c:showSerName val="0"/>
              <c:showPercent val="0"/>
              <c:showBubbleSize val="0"/>
            </c:dLbl>
            <c:dLbl>
              <c:idx val="3"/>
              <c:tx>
                <c:rich>
                  <a:bodyPr/>
                  <a:lstStyle/>
                  <a:p>
                    <a:r>
                      <a:rPr lang="en-US" b="1" sz="800">
                        <a:solidFill>
                          <a:srgbClr val="2D3142"/>
                        </a:solidFill>
                      </a:rPr>
                      <a:t>25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Helping you get through tough times in your life</c:v>
                </c:pt>
                <c:pt idx="1">
                  <c:v>Making you feel more accepted</c:v>
                </c:pt>
                <c:pt idx="2">
                  <c:v>Helping you figure out how to feel about important issues</c:v>
                </c:pt>
                <c:pt idx="3">
                  <c:v>Exposing you to new types of people</c:v>
                </c:pt>
              </c:strCache>
            </c:strRef>
          </c:cat>
          <c:val>
            <c:numRef>
              <c:f>Sheet1!$D$2:$D$5</c:f>
              <c:numCache>
                <c:formatCode>0</c:formatCode>
                <c:ptCount val="4"/>
                <c:pt idx="0">
                  <c:v>43.944572766597595</c:v>
                </c:pt>
                <c:pt idx="1">
                  <c:v>30.590935741613436</c:v>
                </c:pt>
                <c:pt idx="2">
                  <c:v>33.67856043221621</c:v>
                </c:pt>
                <c:pt idx="3">
                  <c:v>25.2353079188828</c:v>
                </c:pt>
              </c:numCache>
            </c:numRef>
          </c:val>
        </c:ser>
        <c:ser>
          <c:idx val="3"/>
          <c:order val="3"/>
          <c:tx>
            <c:strRef>
              <c:f>Sheet1!$E$1</c:f>
              <c:strCache>
                <c:ptCount val="1"/>
                <c:pt idx="0">
                  <c:v>DON’T KNOW</c:v>
                </c:pt>
              </c:strCache>
            </c:strRef>
          </c:tx>
          <c:spPr>
            <a:solidFill>
              <a:srgbClr val="C3DDF7"/>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1</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Helping you get through tough times in your life</c:v>
                </c:pt>
                <c:pt idx="1">
                  <c:v>Making you feel more accepted</c:v>
                </c:pt>
                <c:pt idx="2">
                  <c:v>Helping you figure out how to feel about important issues</c:v>
                </c:pt>
                <c:pt idx="3">
                  <c:v>Exposing you to new types of people</c:v>
                </c:pt>
              </c:strCache>
            </c:strRef>
          </c:cat>
          <c:val>
            <c:numRef>
              <c:f>Sheet1!$E$2:$E$5</c:f>
              <c:numCache>
                <c:formatCode>0</c:formatCode>
                <c:ptCount val="4"/>
                <c:pt idx="0">
                  <c:v>0.1391271780921863</c:v>
                </c:pt>
                <c:pt idx="1">
                  <c:v>0.5501202547388746</c:v>
                </c:pt>
                <c:pt idx="2">
                  <c:v>0.1391271780921863</c:v>
                </c:pt>
                <c:pt idx="3">
                  <c:v>0.1391271780921863</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Major problem</c:v>
                </c:pt>
              </c:strCache>
            </c:strRef>
          </c:tx>
          <c:spPr>
            <a:solidFill>
              <a:srgbClr val="4A7AB8"/>
            </a:solidFill>
          </c:spPr>
          <c:dLbls>
            <c:dLbl>
              <c:idx val="0"/>
              <c:tx>
                <c:rich>
                  <a:bodyPr/>
                  <a:lstStyle/>
                  <a:p>
                    <a:r>
                      <a:rPr lang="en-US" b="1" sz="800">
                        <a:solidFill>
                          <a:srgbClr val="FFFFFF"/>
                        </a:solidFill>
                      </a:rPr>
                      <a:t>63</a:t>
                    </a:r>
                  </a:p>
                </c:rich>
              </c:tx>
              <c:showLegendKey val="0"/>
              <c:showVal val="0"/>
              <c:showCatName val="0"/>
              <c:showSerName val="0"/>
              <c:showPercent val="0"/>
              <c:showBubbleSize val="0"/>
            </c:dLbl>
            <c:dLbl>
              <c:idx val="1"/>
              <c:tx>
                <c:rich>
                  <a:bodyPr/>
                  <a:lstStyle/>
                  <a:p>
                    <a:r>
                      <a:rPr lang="en-US" b="1" sz="800">
                        <a:solidFill>
                          <a:srgbClr val="FFFFFF"/>
                        </a:solidFill>
                      </a:rPr>
                      <a:t>57</a:t>
                    </a:r>
                  </a:p>
                </c:rich>
              </c:tx>
              <c:showLegendKey val="0"/>
              <c:showVal val="0"/>
              <c:showCatName val="0"/>
              <c:showSerName val="0"/>
              <c:showPercent val="0"/>
              <c:showBubbleSize val="0"/>
            </c:dLbl>
            <c:dLbl>
              <c:idx val="2"/>
              <c:tx>
                <c:rich>
                  <a:bodyPr/>
                  <a:lstStyle/>
                  <a:p>
                    <a:r>
                      <a:rPr lang="en-US" b="1" sz="800">
                        <a:solidFill>
                          <a:srgbClr val="FFFFFF"/>
                        </a:solidFill>
                      </a:rPr>
                      <a:t>61</a:t>
                    </a:r>
                  </a:p>
                </c:rich>
              </c:tx>
              <c:showLegendKey val="0"/>
              <c:showVal val="0"/>
              <c:showCatName val="0"/>
              <c:showSerName val="0"/>
              <c:showPercent val="0"/>
              <c:showBubbleSize val="0"/>
            </c:dLbl>
            <c:dLbl>
              <c:idx val="3"/>
              <c:tx>
                <c:rich>
                  <a:bodyPr/>
                  <a:lstStyle/>
                  <a:p>
                    <a:r>
                      <a:rPr lang="en-US" b="1" sz="800">
                        <a:solidFill>
                          <a:srgbClr val="FFFFFF"/>
                        </a:solidFill>
                      </a:rPr>
                      <a:t>60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People being harassed or bullied</c:v>
                </c:pt>
                <c:pt idx="1">
                  <c:v>Privacy violations such as identity theft or stolen information</c:v>
                </c:pt>
                <c:pt idx="2">
                  <c:v>People seeing false or inaccurate information</c:v>
                </c:pt>
                <c:pt idx="3">
                  <c:v>People spending too much time online</c:v>
                </c:pt>
              </c:strCache>
            </c:strRef>
          </c:cat>
          <c:val>
            <c:numRef>
              <c:f>Sheet1!$B$2:$B$5</c:f>
              <c:numCache>
                <c:formatCode>0</c:formatCode>
                <c:ptCount val="4"/>
                <c:pt idx="0">
                  <c:v>62.989834253163465</c:v>
                </c:pt>
                <c:pt idx="1">
                  <c:v>57.313644228551254</c:v>
                </c:pt>
                <c:pt idx="2">
                  <c:v>60.68450225482472</c:v>
                </c:pt>
                <c:pt idx="3">
                  <c:v>60.14894232827417</c:v>
                </c:pt>
              </c:numCache>
            </c:numRef>
          </c:val>
        </c:ser>
        <c:ser>
          <c:idx val="1"/>
          <c:order val="1"/>
          <c:tx>
            <c:strRef>
              <c:f>Sheet1!$C$1</c:f>
              <c:strCache>
                <c:ptCount val="1"/>
                <c:pt idx="0">
                  <c:v>Minor problem</c:v>
                </c:pt>
              </c:strCache>
            </c:strRef>
          </c:tx>
          <c:spPr>
            <a:solidFill>
              <a:srgbClr val="5A94DE"/>
            </a:solidFill>
          </c:spPr>
          <c:dLbls>
            <c:dLbl>
              <c:idx val="0"/>
              <c:tx>
                <c:rich>
                  <a:bodyPr/>
                  <a:lstStyle/>
                  <a:p>
                    <a:r>
                      <a:rPr lang="en-US" b="1" sz="800">
                        <a:solidFill>
                          <a:srgbClr val="FFFFFF"/>
                        </a:solidFill>
                      </a:rPr>
                      <a:t>27</a:t>
                    </a:r>
                  </a:p>
                </c:rich>
              </c:tx>
              <c:showLegendKey val="0"/>
              <c:showVal val="0"/>
              <c:showCatName val="0"/>
              <c:showSerName val="0"/>
              <c:showPercent val="0"/>
              <c:showBubbleSize val="0"/>
            </c:dLbl>
            <c:dLbl>
              <c:idx val="1"/>
              <c:tx>
                <c:rich>
                  <a:bodyPr/>
                  <a:lstStyle/>
                  <a:p>
                    <a:r>
                      <a:rPr lang="en-US" b="1" sz="800">
                        <a:solidFill>
                          <a:srgbClr val="FFFFFF"/>
                        </a:solidFill>
                      </a:rPr>
                      <a:t>30</a:t>
                    </a:r>
                  </a:p>
                </c:rich>
              </c:tx>
              <c:showLegendKey val="0"/>
              <c:showVal val="0"/>
              <c:showCatName val="0"/>
              <c:showSerName val="0"/>
              <c:showPercent val="0"/>
              <c:showBubbleSize val="0"/>
            </c:dLbl>
            <c:dLbl>
              <c:idx val="2"/>
              <c:tx>
                <c:rich>
                  <a:bodyPr/>
                  <a:lstStyle/>
                  <a:p>
                    <a:r>
                      <a:rPr lang="en-US" b="1" sz="800">
                        <a:solidFill>
                          <a:srgbClr val="FFFFFF"/>
                        </a:solidFill>
                      </a:rPr>
                      <a:t>29</a:t>
                    </a:r>
                  </a:p>
                </c:rich>
              </c:tx>
              <c:showLegendKey val="0"/>
              <c:showVal val="0"/>
              <c:showCatName val="0"/>
              <c:showSerName val="0"/>
              <c:showPercent val="0"/>
              <c:showBubbleSize val="0"/>
            </c:dLbl>
            <c:dLbl>
              <c:idx val="3"/>
              <c:tx>
                <c:rich>
                  <a:bodyPr/>
                  <a:lstStyle/>
                  <a:p>
                    <a:r>
                      <a:rPr lang="en-US" b="1" sz="800">
                        <a:solidFill>
                          <a:srgbClr val="FFFFFF"/>
                        </a:solidFill>
                      </a:rPr>
                      <a:t>31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People being harassed or bullied</c:v>
                </c:pt>
                <c:pt idx="1">
                  <c:v>Privacy violations such as identity theft or stolen information</c:v>
                </c:pt>
                <c:pt idx="2">
                  <c:v>People seeing false or inaccurate information</c:v>
                </c:pt>
                <c:pt idx="3">
                  <c:v>People spending too much time online</c:v>
                </c:pt>
              </c:strCache>
            </c:strRef>
          </c:cat>
          <c:val>
            <c:numRef>
              <c:f>Sheet1!$C$2:$C$5</c:f>
              <c:numCache>
                <c:formatCode>0</c:formatCode>
                <c:ptCount val="4"/>
                <c:pt idx="0">
                  <c:v>26.666852813221226</c:v>
                </c:pt>
                <c:pt idx="1">
                  <c:v>30.209641263893914</c:v>
                </c:pt>
                <c:pt idx="2">
                  <c:v>29.349109941073888</c:v>
                </c:pt>
                <c:pt idx="3">
                  <c:v>30.65875080746486</c:v>
                </c:pt>
              </c:numCache>
            </c:numRef>
          </c:val>
        </c:ser>
        <c:ser>
          <c:idx val="2"/>
          <c:order val="2"/>
          <c:tx>
            <c:strRef>
              <c:f>Sheet1!$D$1</c:f>
              <c:strCache>
                <c:ptCount val="1"/>
                <c:pt idx="0">
                  <c:v>Not a problem</c:v>
                </c:pt>
              </c:strCache>
            </c:strRef>
          </c:tx>
          <c:spPr>
            <a:solidFill>
              <a:srgbClr val="8EBAEB"/>
            </a:solidFill>
          </c:spPr>
          <c:dLbls>
            <c:dLbl>
              <c:idx val="0"/>
              <c:tx>
                <c:rich>
                  <a:bodyPr/>
                  <a:lstStyle/>
                  <a:p>
                    <a:r>
                      <a:rPr lang="en-US" b="1" sz="800">
                        <a:solidFill>
                          <a:srgbClr val="2D3142"/>
                        </a:solidFill>
                      </a:rPr>
                      <a:t>10</a:t>
                    </a:r>
                  </a:p>
                </c:rich>
              </c:tx>
              <c:showLegendKey val="0"/>
              <c:showVal val="0"/>
              <c:showCatName val="0"/>
              <c:showSerName val="0"/>
              <c:showPercent val="0"/>
              <c:showBubbleSize val="0"/>
            </c:dLbl>
            <c:dLbl>
              <c:idx val="1"/>
              <c:tx>
                <c:rich>
                  <a:bodyPr/>
                  <a:lstStyle/>
                  <a:p>
                    <a:r>
                      <a:rPr lang="en-US" b="1" sz="800">
                        <a:solidFill>
                          <a:srgbClr val="2D3142"/>
                        </a:solidFill>
                      </a:rPr>
                      <a:t>12</a:t>
                    </a:r>
                  </a:p>
                </c:rich>
              </c:tx>
              <c:showLegendKey val="0"/>
              <c:showVal val="0"/>
              <c:showCatName val="0"/>
              <c:showSerName val="0"/>
              <c:showPercent val="0"/>
              <c:showBubbleSize val="0"/>
            </c:dLbl>
            <c:dLbl>
              <c:idx val="2"/>
              <c:tx>
                <c:rich>
                  <a:bodyPr/>
                  <a:lstStyle/>
                  <a:p>
                    <a:r>
                      <a:rPr lang="en-US" b="1" sz="800">
                        <a:solidFill>
                          <a:srgbClr val="2D3142"/>
                        </a:solidFill>
                      </a:rPr>
                      <a:t>10</a:t>
                    </a:r>
                  </a:p>
                </c:rich>
              </c:tx>
              <c:showLegendKey val="0"/>
              <c:showVal val="0"/>
              <c:showCatName val="0"/>
              <c:showSerName val="0"/>
              <c:showPercent val="0"/>
              <c:showBubbleSize val="0"/>
            </c:dLbl>
            <c:dLbl>
              <c:idx val="3"/>
              <c:tx>
                <c:rich>
                  <a:bodyPr/>
                  <a:lstStyle/>
                  <a:p>
                    <a:r>
                      <a:rPr lang="en-US" b="1" sz="800">
                        <a:solidFill>
                          <a:srgbClr val="2D3142"/>
                        </a:solidFill>
                      </a:rPr>
                      <a:t>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People being harassed or bullied</c:v>
                </c:pt>
                <c:pt idx="1">
                  <c:v>Privacy violations such as identity theft or stolen information</c:v>
                </c:pt>
                <c:pt idx="2">
                  <c:v>People seeing false or inaccurate information</c:v>
                </c:pt>
                <c:pt idx="3">
                  <c:v>People spending too much time online</c:v>
                </c:pt>
              </c:strCache>
            </c:strRef>
          </c:cat>
          <c:val>
            <c:numRef>
              <c:f>Sheet1!$D$2:$D$5</c:f>
              <c:numCache>
                <c:formatCode>0</c:formatCode>
                <c:ptCount val="4"/>
                <c:pt idx="0">
                  <c:v>9.84083081300934</c:v>
                </c:pt>
                <c:pt idx="1">
                  <c:v>12.001911408599025</c:v>
                </c:pt>
                <c:pt idx="2">
                  <c:v>9.622570476237941</c:v>
                </c:pt>
                <c:pt idx="3">
                  <c:v>8.848489536397532</c:v>
                </c:pt>
              </c:numCache>
            </c:numRef>
          </c:val>
        </c:ser>
        <c:ser>
          <c:idx val="3"/>
          <c:order val="3"/>
          <c:tx>
            <c:strRef>
              <c:f>Sheet1!$E$1</c:f>
              <c:strCache>
                <c:ptCount val="1"/>
                <c:pt idx="0">
                  <c:v>DON’T KNOW</c:v>
                </c:pt>
              </c:strCache>
            </c:strRef>
          </c:tx>
          <c:spPr>
            <a:solidFill>
              <a:srgbClr val="C3DDF7"/>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People being harassed or bullied</c:v>
                </c:pt>
                <c:pt idx="1">
                  <c:v>Privacy violations such as identity theft or stolen information</c:v>
                </c:pt>
                <c:pt idx="2">
                  <c:v>People seeing false or inaccurate information</c:v>
                </c:pt>
                <c:pt idx="3">
                  <c:v>People spending too much time online</c:v>
                </c:pt>
              </c:strCache>
            </c:strRef>
          </c:cat>
          <c:val>
            <c:numRef>
              <c:f>Sheet1!$E$2:$E$5</c:f>
              <c:numCache>
                <c:formatCode>0</c:formatCode>
                <c:ptCount val="4"/>
                <c:pt idx="0">
                  <c:v>0.0</c:v>
                </c:pt>
                <c:pt idx="1">
                  <c:v>0.10752099135318137</c:v>
                </c:pt>
                <c:pt idx="2">
                  <c:v>0.0</c:v>
                </c:pt>
                <c:pt idx="3">
                  <c:v>0.0</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Excellent</c:v>
                </c:pt>
              </c:strCache>
            </c:strRef>
          </c:tx>
          <c:spPr>
            <a:solidFill>
              <a:srgbClr val="4A7AB8"/>
            </a:solidFill>
          </c:spPr>
          <c:dLbls>
            <c:dLbl>
              <c:idx val="0"/>
              <c:tx>
                <c:rich>
                  <a:bodyPr/>
                  <a:lstStyle/>
                  <a:p>
                    <a:r>
                      <a:rPr lang="en-US" b="1" sz="800">
                        <a:solidFill>
                          <a:srgbClr val="FFFFFF"/>
                        </a:solidFill>
                      </a:rPr>
                      <a:t>7</a:t>
                    </a:r>
                  </a:p>
                </c:rich>
              </c:tx>
              <c:showLegendKey val="0"/>
              <c:showVal val="0"/>
              <c:showCatName val="0"/>
              <c:showSerName val="0"/>
              <c:showPercent val="0"/>
              <c:showBubbleSize val="0"/>
            </c:dLbl>
            <c:dLbl>
              <c:idx val="1"/>
              <c:tx>
                <c:rich>
                  <a:bodyPr/>
                  <a:lstStyle/>
                  <a:p>
                    <a:r>
                      <a:rPr lang="en-US" b="1" sz="800">
                        <a:solidFill>
                          <a:srgbClr val="FFFFFF"/>
                        </a:solidFill>
                      </a:rPr>
                      <a:t>4</a:t>
                    </a:r>
                  </a:p>
                </c:rich>
              </c:tx>
              <c:showLegendKey val="0"/>
              <c:showVal val="0"/>
              <c:showCatName val="0"/>
              <c:showSerName val="0"/>
              <c:showPercent val="0"/>
              <c:showBubbleSize val="0"/>
            </c:dLbl>
            <c:dLbl>
              <c:idx val="2"/>
              <c:tx>
                <c:rich>
                  <a:bodyPr/>
                  <a:lstStyle/>
                  <a:p>
                    <a:r>
                      <a:rPr lang="en-US" b="1" sz="800">
                        <a:solidFill>
                          <a:srgbClr val="FFFFFF"/>
                        </a:solidFill>
                      </a:rPr>
                      <a:t>10</a:t>
                    </a:r>
                  </a:p>
                </c:rich>
              </c:tx>
              <c:showLegendKey val="0"/>
              <c:showVal val="0"/>
              <c:showCatName val="0"/>
              <c:showSerName val="0"/>
              <c:showPercent val="0"/>
              <c:showBubbleSize val="0"/>
            </c:dLbl>
            <c:dLbl>
              <c:idx val="3"/>
              <c:tx>
                <c:rich>
                  <a:bodyPr/>
                  <a:lstStyle/>
                  <a:p>
                    <a:r>
                      <a:rPr lang="en-US" b="1" sz="800">
                        <a:solidFill>
                          <a:srgbClr val="FFFFFF"/>
                        </a:solidFill>
                      </a:rPr>
                      <a:t>20</a:t>
                    </a:r>
                  </a:p>
                </c:rich>
              </c:tx>
              <c:showLegendKey val="0"/>
              <c:showVal val="0"/>
              <c:showCatName val="0"/>
              <c:showSerName val="0"/>
              <c:showPercent val="0"/>
              <c:showBubbleSize val="0"/>
            </c:dLbl>
            <c:dLbl>
              <c:idx val="4"/>
              <c:tx>
                <c:rich>
                  <a:bodyPr/>
                  <a:lstStyle/>
                  <a:p>
                    <a:r>
                      <a:rPr lang="en-US" b="1" sz="800">
                        <a:solidFill>
                          <a:srgbClr val="FFFFFF"/>
                        </a:solidFill>
                      </a:rPr>
                      <a:t>10</a:t>
                    </a:r>
                  </a:p>
                </c:rich>
              </c:tx>
              <c:showLegendKey val="0"/>
              <c:showVal val="0"/>
              <c:showCatName val="0"/>
              <c:showSerName val="0"/>
              <c:showPercent val="0"/>
              <c:showBubbleSize val="0"/>
            </c:dLbl>
            <c:dLbl>
              <c:idx val="5"/>
              <c:tx>
                <c:rich>
                  <a:bodyPr/>
                  <a:lstStyle/>
                  <a:p>
                    <a:r>
                      <a:rPr lang="en-US" b="1" sz="800">
                        <a:solidFill>
                          <a:srgbClr val="FFFFFF"/>
                        </a:solidFill>
                      </a:rPr>
                      <a:t>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Social media sites</c:v>
                </c:pt>
                <c:pt idx="1">
                  <c:v>Elected officials</c:v>
                </c:pt>
                <c:pt idx="2">
                  <c:v>Law enforcement</c:v>
                </c:pt>
                <c:pt idx="3">
                  <c:v>Parents</c:v>
                </c:pt>
                <c:pt idx="4">
                  <c:v>Teachers</c:v>
                </c:pt>
                <c:pt idx="5">
                  <c:v>Other users who witness the behavior</c:v>
                </c:pt>
              </c:strCache>
            </c:strRef>
          </c:cat>
          <c:val>
            <c:numRef>
              <c:f>Sheet1!$B$2:$B$7</c:f>
              <c:numCache>
                <c:formatCode>0</c:formatCode>
                <c:ptCount val="6"/>
                <c:pt idx="0">
                  <c:v>6.760400431784983</c:v>
                </c:pt>
                <c:pt idx="1">
                  <c:v>4.087230634039622</c:v>
                </c:pt>
                <c:pt idx="2">
                  <c:v>10.499362657630058</c:v>
                </c:pt>
                <c:pt idx="3">
                  <c:v>20.41428680905112</c:v>
                </c:pt>
                <c:pt idx="4">
                  <c:v>10.089192697439433</c:v>
                </c:pt>
                <c:pt idx="5">
                  <c:v>5.339565511629714</c:v>
                </c:pt>
              </c:numCache>
            </c:numRef>
          </c:val>
        </c:ser>
        <c:ser>
          <c:idx val="1"/>
          <c:order val="1"/>
          <c:tx>
            <c:strRef>
              <c:f>Sheet1!$C$1</c:f>
              <c:strCache>
                <c:ptCount val="1"/>
                <c:pt idx="0">
                  <c:v>Good</c:v>
                </c:pt>
              </c:strCache>
            </c:strRef>
          </c:tx>
          <c:spPr>
            <a:solidFill>
              <a:srgbClr val="5A94DE"/>
            </a:solidFill>
          </c:spPr>
          <c:dLbls>
            <c:dLbl>
              <c:idx val="0"/>
              <c:tx>
                <c:rich>
                  <a:bodyPr/>
                  <a:lstStyle/>
                  <a:p>
                    <a:r>
                      <a:rPr lang="en-US" b="1" sz="800">
                        <a:solidFill>
                          <a:srgbClr val="FFFFFF"/>
                        </a:solidFill>
                      </a:rPr>
                      <a:t>26</a:t>
                    </a:r>
                  </a:p>
                </c:rich>
              </c:tx>
              <c:showLegendKey val="0"/>
              <c:showVal val="0"/>
              <c:showCatName val="0"/>
              <c:showSerName val="0"/>
              <c:showPercent val="0"/>
              <c:showBubbleSize val="0"/>
            </c:dLbl>
            <c:dLbl>
              <c:idx val="1"/>
              <c:tx>
                <c:rich>
                  <a:bodyPr/>
                  <a:lstStyle/>
                  <a:p>
                    <a:r>
                      <a:rPr lang="en-US" b="1" sz="800">
                        <a:solidFill>
                          <a:srgbClr val="FFFFFF"/>
                        </a:solidFill>
                      </a:rPr>
                      <a:t>16</a:t>
                    </a:r>
                  </a:p>
                </c:rich>
              </c:tx>
              <c:showLegendKey val="0"/>
              <c:showVal val="0"/>
              <c:showCatName val="0"/>
              <c:showSerName val="0"/>
              <c:showPercent val="0"/>
              <c:showBubbleSize val="0"/>
            </c:dLbl>
            <c:dLbl>
              <c:idx val="2"/>
              <c:tx>
                <c:rich>
                  <a:bodyPr/>
                  <a:lstStyle/>
                  <a:p>
                    <a:r>
                      <a:rPr lang="en-US" b="1" sz="800">
                        <a:solidFill>
                          <a:srgbClr val="FFFFFF"/>
                        </a:solidFill>
                      </a:rPr>
                      <a:t>33</a:t>
                    </a:r>
                  </a:p>
                </c:rich>
              </c:tx>
              <c:showLegendKey val="0"/>
              <c:showVal val="0"/>
              <c:showCatName val="0"/>
              <c:showSerName val="0"/>
              <c:showPercent val="0"/>
              <c:showBubbleSize val="0"/>
            </c:dLbl>
            <c:dLbl>
              <c:idx val="3"/>
              <c:tx>
                <c:rich>
                  <a:bodyPr/>
                  <a:lstStyle/>
                  <a:p>
                    <a:r>
                      <a:rPr lang="en-US" b="1" sz="800">
                        <a:solidFill>
                          <a:srgbClr val="FFFFFF"/>
                        </a:solidFill>
                      </a:rPr>
                      <a:t>38</a:t>
                    </a:r>
                  </a:p>
                </c:rich>
              </c:tx>
              <c:showLegendKey val="0"/>
              <c:showVal val="0"/>
              <c:showCatName val="0"/>
              <c:showSerName val="0"/>
              <c:showPercent val="0"/>
              <c:showBubbleSize val="0"/>
            </c:dLbl>
            <c:dLbl>
              <c:idx val="4"/>
              <c:tx>
                <c:rich>
                  <a:bodyPr/>
                  <a:lstStyle/>
                  <a:p>
                    <a:r>
                      <a:rPr lang="en-US" b="1" sz="800">
                        <a:solidFill>
                          <a:srgbClr val="FFFFFF"/>
                        </a:solidFill>
                      </a:rPr>
                      <a:t>32</a:t>
                    </a:r>
                  </a:p>
                </c:rich>
              </c:tx>
              <c:showLegendKey val="0"/>
              <c:showVal val="0"/>
              <c:showCatName val="0"/>
              <c:showSerName val="0"/>
              <c:showPercent val="0"/>
              <c:showBubbleSize val="0"/>
            </c:dLbl>
            <c:dLbl>
              <c:idx val="5"/>
              <c:tx>
                <c:rich>
                  <a:bodyPr/>
                  <a:lstStyle/>
                  <a:p>
                    <a:r>
                      <a:rPr lang="en-US" b="1" sz="800">
                        <a:solidFill>
                          <a:srgbClr val="FFFFFF"/>
                        </a:solidFill>
                      </a:rPr>
                      <a:t>29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Social media sites</c:v>
                </c:pt>
                <c:pt idx="1">
                  <c:v>Elected officials</c:v>
                </c:pt>
                <c:pt idx="2">
                  <c:v>Law enforcement</c:v>
                </c:pt>
                <c:pt idx="3">
                  <c:v>Parents</c:v>
                </c:pt>
                <c:pt idx="4">
                  <c:v>Teachers</c:v>
                </c:pt>
                <c:pt idx="5">
                  <c:v>Other users who witness the behavior</c:v>
                </c:pt>
              </c:strCache>
            </c:strRef>
          </c:cat>
          <c:val>
            <c:numRef>
              <c:f>Sheet1!$C$2:$C$7</c:f>
              <c:numCache>
                <c:formatCode>0</c:formatCode>
                <c:ptCount val="6"/>
                <c:pt idx="0">
                  <c:v>26.366545670039056</c:v>
                </c:pt>
                <c:pt idx="1">
                  <c:v>16.031240040223704</c:v>
                </c:pt>
                <c:pt idx="2">
                  <c:v>33.01998572424506</c:v>
                </c:pt>
                <c:pt idx="3">
                  <c:v>38.42859986489244</c:v>
                </c:pt>
                <c:pt idx="4">
                  <c:v>31.547890970478754</c:v>
                </c:pt>
                <c:pt idx="5">
                  <c:v>29.110708560866122</c:v>
                </c:pt>
              </c:numCache>
            </c:numRef>
          </c:val>
        </c:ser>
        <c:ser>
          <c:idx val="2"/>
          <c:order val="2"/>
          <c:tx>
            <c:strRef>
              <c:f>Sheet1!$D$1</c:f>
              <c:strCache>
                <c:ptCount val="1"/>
                <c:pt idx="0">
                  <c:v>Only fair</c:v>
                </c:pt>
              </c:strCache>
            </c:strRef>
          </c:tx>
          <c:spPr>
            <a:solidFill>
              <a:srgbClr val="8EBAEB"/>
            </a:solidFill>
          </c:spPr>
          <c:dLbls>
            <c:dLbl>
              <c:idx val="0"/>
              <c:tx>
                <c:rich>
                  <a:bodyPr/>
                  <a:lstStyle/>
                  <a:p>
                    <a:r>
                      <a:rPr lang="en-US" b="1" sz="800">
                        <a:solidFill>
                          <a:srgbClr val="2D3142"/>
                        </a:solidFill>
                      </a:rPr>
                      <a:t>36</a:t>
                    </a:r>
                  </a:p>
                </c:rich>
              </c:tx>
              <c:showLegendKey val="0"/>
              <c:showVal val="0"/>
              <c:showCatName val="0"/>
              <c:showSerName val="0"/>
              <c:showPercent val="0"/>
              <c:showBubbleSize val="0"/>
            </c:dLbl>
            <c:dLbl>
              <c:idx val="1"/>
              <c:tx>
                <c:rich>
                  <a:bodyPr/>
                  <a:lstStyle/>
                  <a:p>
                    <a:r>
                      <a:rPr lang="en-US" b="1" sz="800">
                        <a:solidFill>
                          <a:srgbClr val="2D3142"/>
                        </a:solidFill>
                      </a:rPr>
                      <a:t>37</a:t>
                    </a:r>
                  </a:p>
                </c:rich>
              </c:tx>
              <c:showLegendKey val="0"/>
              <c:showVal val="0"/>
              <c:showCatName val="0"/>
              <c:showSerName val="0"/>
              <c:showPercent val="0"/>
              <c:showBubbleSize val="0"/>
            </c:dLbl>
            <c:dLbl>
              <c:idx val="2"/>
              <c:tx>
                <c:rich>
                  <a:bodyPr/>
                  <a:lstStyle/>
                  <a:p>
                    <a:r>
                      <a:rPr lang="en-US" b="1" sz="800">
                        <a:solidFill>
                          <a:srgbClr val="2D3142"/>
                        </a:solidFill>
                      </a:rPr>
                      <a:t>34</a:t>
                    </a:r>
                  </a:p>
                </c:rich>
              </c:tx>
              <c:showLegendKey val="0"/>
              <c:showVal val="0"/>
              <c:showCatName val="0"/>
              <c:showSerName val="0"/>
              <c:showPercent val="0"/>
              <c:showBubbleSize val="0"/>
            </c:dLbl>
            <c:dLbl>
              <c:idx val="3"/>
              <c:tx>
                <c:rich>
                  <a:bodyPr/>
                  <a:lstStyle/>
                  <a:p>
                    <a:r>
                      <a:rPr lang="en-US" b="1" sz="800">
                        <a:solidFill>
                          <a:srgbClr val="2D3142"/>
                        </a:solidFill>
                      </a:rPr>
                      <a:t>27</a:t>
                    </a:r>
                  </a:p>
                </c:rich>
              </c:tx>
              <c:showLegendKey val="0"/>
              <c:showVal val="0"/>
              <c:showCatName val="0"/>
              <c:showSerName val="0"/>
              <c:showPercent val="0"/>
              <c:showBubbleSize val="0"/>
            </c:dLbl>
            <c:dLbl>
              <c:idx val="4"/>
              <c:tx>
                <c:rich>
                  <a:bodyPr/>
                  <a:lstStyle/>
                  <a:p>
                    <a:r>
                      <a:rPr lang="en-US" b="1" sz="800">
                        <a:solidFill>
                          <a:srgbClr val="2D3142"/>
                        </a:solidFill>
                      </a:rPr>
                      <a:t>34</a:t>
                    </a:r>
                  </a:p>
                </c:rich>
              </c:tx>
              <c:showLegendKey val="0"/>
              <c:showVal val="0"/>
              <c:showCatName val="0"/>
              <c:showSerName val="0"/>
              <c:showPercent val="0"/>
              <c:showBubbleSize val="0"/>
            </c:dLbl>
            <c:dLbl>
              <c:idx val="5"/>
              <c:tx>
                <c:rich>
                  <a:bodyPr/>
                  <a:lstStyle/>
                  <a:p>
                    <a:r>
                      <a:rPr lang="en-US" b="1" sz="800">
                        <a:solidFill>
                          <a:srgbClr val="2D3142"/>
                        </a:solidFill>
                      </a:rPr>
                      <a:t>44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Social media sites</c:v>
                </c:pt>
                <c:pt idx="1">
                  <c:v>Elected officials</c:v>
                </c:pt>
                <c:pt idx="2">
                  <c:v>Law enforcement</c:v>
                </c:pt>
                <c:pt idx="3">
                  <c:v>Parents</c:v>
                </c:pt>
                <c:pt idx="4">
                  <c:v>Teachers</c:v>
                </c:pt>
                <c:pt idx="5">
                  <c:v>Other users who witness the behavior</c:v>
                </c:pt>
              </c:strCache>
            </c:strRef>
          </c:cat>
          <c:val>
            <c:numRef>
              <c:f>Sheet1!$D$2:$D$7</c:f>
              <c:numCache>
                <c:formatCode>0</c:formatCode>
                <c:ptCount val="6"/>
                <c:pt idx="0">
                  <c:v>35.61688594618389</c:v>
                </c:pt>
                <c:pt idx="1">
                  <c:v>36.69903684658312</c:v>
                </c:pt>
                <c:pt idx="2">
                  <c:v>34.23903036218866</c:v>
                </c:pt>
                <c:pt idx="3">
                  <c:v>27.427998039777574</c:v>
                </c:pt>
                <c:pt idx="4">
                  <c:v>34.36464428733262</c:v>
                </c:pt>
                <c:pt idx="5">
                  <c:v>43.823935865517235</c:v>
                </c:pt>
              </c:numCache>
            </c:numRef>
          </c:val>
        </c:ser>
        <c:ser>
          <c:idx val="3"/>
          <c:order val="3"/>
          <c:tx>
            <c:strRef>
              <c:f>Sheet1!$E$1</c:f>
              <c:strCache>
                <c:ptCount val="1"/>
                <c:pt idx="0">
                  <c:v>Poor</c:v>
                </c:pt>
              </c:strCache>
            </c:strRef>
          </c:tx>
          <c:spPr>
            <a:solidFill>
              <a:srgbClr val="C3DDF7"/>
            </a:solidFill>
          </c:spPr>
          <c:dLbls>
            <c:dLbl>
              <c:idx val="0"/>
              <c:tx>
                <c:rich>
                  <a:bodyPr/>
                  <a:lstStyle/>
                  <a:p>
                    <a:r>
                      <a:rPr lang="en-US" b="1" sz="800">
                        <a:solidFill>
                          <a:srgbClr val="2D3142"/>
                        </a:solidFill>
                      </a:rPr>
                      <a:t>31</a:t>
                    </a:r>
                  </a:p>
                </c:rich>
              </c:tx>
              <c:showLegendKey val="0"/>
              <c:showVal val="0"/>
              <c:showCatName val="0"/>
              <c:showSerName val="0"/>
              <c:showPercent val="0"/>
              <c:showBubbleSize val="0"/>
            </c:dLbl>
            <c:dLbl>
              <c:idx val="1"/>
              <c:tx>
                <c:rich>
                  <a:bodyPr/>
                  <a:lstStyle/>
                  <a:p>
                    <a:r>
                      <a:rPr lang="en-US" b="1" sz="800">
                        <a:solidFill>
                          <a:srgbClr val="2D3142"/>
                        </a:solidFill>
                      </a:rPr>
                      <a:t>42</a:t>
                    </a:r>
                  </a:p>
                </c:rich>
              </c:tx>
              <c:showLegendKey val="0"/>
              <c:showVal val="0"/>
              <c:showCatName val="0"/>
              <c:showSerName val="0"/>
              <c:showPercent val="0"/>
              <c:showBubbleSize val="0"/>
            </c:dLbl>
            <c:dLbl>
              <c:idx val="2"/>
              <c:tx>
                <c:rich>
                  <a:bodyPr/>
                  <a:lstStyle/>
                  <a:p>
                    <a:r>
                      <a:rPr lang="en-US" b="1" sz="800">
                        <a:solidFill>
                          <a:srgbClr val="2D3142"/>
                        </a:solidFill>
                      </a:rPr>
                      <a:t>21</a:t>
                    </a:r>
                  </a:p>
                </c:rich>
              </c:tx>
              <c:showLegendKey val="0"/>
              <c:showVal val="0"/>
              <c:showCatName val="0"/>
              <c:showSerName val="0"/>
              <c:showPercent val="0"/>
              <c:showBubbleSize val="0"/>
            </c:dLbl>
            <c:dLbl>
              <c:idx val="3"/>
              <c:tx>
                <c:rich>
                  <a:bodyPr/>
                  <a:lstStyle/>
                  <a:p>
                    <a:r>
                      <a:rPr lang="en-US" b="1" sz="800">
                        <a:solidFill>
                          <a:srgbClr val="2D3142"/>
                        </a:solidFill>
                      </a:rPr>
                      <a:t>13</a:t>
                    </a:r>
                  </a:p>
                </c:rich>
              </c:tx>
              <c:showLegendKey val="0"/>
              <c:showVal val="0"/>
              <c:showCatName val="0"/>
              <c:showSerName val="0"/>
              <c:showPercent val="0"/>
              <c:showBubbleSize val="0"/>
            </c:dLbl>
            <c:dLbl>
              <c:idx val="4"/>
              <c:tx>
                <c:rich>
                  <a:bodyPr/>
                  <a:lstStyle/>
                  <a:p>
                    <a:r>
                      <a:rPr lang="en-US" b="1" sz="800">
                        <a:solidFill>
                          <a:srgbClr val="2D3142"/>
                        </a:solidFill>
                      </a:rPr>
                      <a:t>23</a:t>
                    </a:r>
                  </a:p>
                </c:rich>
              </c:tx>
              <c:showLegendKey val="0"/>
              <c:showVal val="0"/>
              <c:showCatName val="0"/>
              <c:showSerName val="0"/>
              <c:showPercent val="0"/>
              <c:showBubbleSize val="0"/>
            </c:dLbl>
            <c:dLbl>
              <c:idx val="5"/>
              <c:tx>
                <c:rich>
                  <a:bodyPr/>
                  <a:lstStyle/>
                  <a:p>
                    <a:r>
                      <a:rPr lang="en-US" b="1" sz="800">
                        <a:solidFill>
                          <a:srgbClr val="2D3142"/>
                        </a:solidFill>
                      </a:rPr>
                      <a:t>21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Social media sites</c:v>
                </c:pt>
                <c:pt idx="1">
                  <c:v>Elected officials</c:v>
                </c:pt>
                <c:pt idx="2">
                  <c:v>Law enforcement</c:v>
                </c:pt>
                <c:pt idx="3">
                  <c:v>Parents</c:v>
                </c:pt>
                <c:pt idx="4">
                  <c:v>Teachers</c:v>
                </c:pt>
                <c:pt idx="5">
                  <c:v>Other users who witness the behavior</c:v>
                </c:pt>
              </c:strCache>
            </c:strRef>
          </c:cat>
          <c:val>
            <c:numRef>
              <c:f>Sheet1!$E$2:$E$7</c:f>
              <c:numCache>
                <c:formatCode>0</c:formatCode>
                <c:ptCount val="6"/>
                <c:pt idx="0">
                  <c:v>30.60440784581222</c:v>
                </c:pt>
                <c:pt idx="1">
                  <c:v>42.14364186728818</c:v>
                </c:pt>
                <c:pt idx="2">
                  <c:v>21.136957528787235</c:v>
                </c:pt>
                <c:pt idx="3">
                  <c:v>12.990932325814782</c:v>
                </c:pt>
                <c:pt idx="4">
                  <c:v>23.169792995823514</c:v>
                </c:pt>
                <c:pt idx="5">
                  <c:v>20.642639924998427</c:v>
                </c:pt>
              </c:numCache>
            </c:numRef>
          </c:val>
        </c:ser>
        <c:ser>
          <c:idx val="4"/>
          <c:order val="4"/>
          <c:tx>
            <c:strRef>
              <c:f>Sheet1!$F$1</c:f>
              <c:strCache>
                <c:ptCount val="1"/>
                <c:pt idx="0">
                  <c:v>DON’T KNOW</c:v>
                </c:pt>
              </c:strCache>
            </c:strRef>
          </c:tx>
          <c:spPr>
            <a:solidFill>
              <a:srgbClr val="E1EDFA"/>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dLbl>
              <c:idx val="4"/>
              <c:tx>
                <c:rich>
                  <a:bodyPr/>
                  <a:lstStyle/>
                  <a:p>
                    <a:r>
                      <a:rPr lang="en-US" b="1" sz="800">
                        <a:solidFill>
                          <a:srgbClr val="2D3142"/>
                        </a:solidFill>
                      </a:rPr>
                      <a:t>0</a:t>
                    </a:r>
                  </a:p>
                </c:rich>
              </c:tx>
              <c:showLegendKey val="0"/>
              <c:showVal val="0"/>
              <c:showCatName val="0"/>
              <c:showSerName val="0"/>
              <c:showPercent val="0"/>
              <c:showBubbleSize val="0"/>
            </c:dLbl>
            <c:dLbl>
              <c:idx val="5"/>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Social media sites</c:v>
                </c:pt>
                <c:pt idx="1">
                  <c:v>Elected officials</c:v>
                </c:pt>
                <c:pt idx="2">
                  <c:v>Law enforcement</c:v>
                </c:pt>
                <c:pt idx="3">
                  <c:v>Parents</c:v>
                </c:pt>
                <c:pt idx="4">
                  <c:v>Teachers</c:v>
                </c:pt>
                <c:pt idx="5">
                  <c:v>Other users who witness the behavior</c:v>
                </c:pt>
              </c:strCache>
            </c:strRef>
          </c:cat>
          <c:val>
            <c:numRef>
              <c:f>Sheet1!$F$2:$F$7</c:f>
              <c:numCache>
                <c:formatCode>0</c:formatCode>
                <c:ptCount val="6"/>
                <c:pt idx="0">
                  <c:v>0.0</c:v>
                </c:pt>
                <c:pt idx="1">
                  <c:v>0.2449458581055288</c:v>
                </c:pt>
                <c:pt idx="2">
                  <c:v>0.2449458581055288</c:v>
                </c:pt>
                <c:pt idx="3">
                  <c:v>0.13742486675234744</c:v>
                </c:pt>
                <c:pt idx="4">
                  <c:v>0.3176258129167633</c:v>
                </c:pt>
                <c:pt idx="5">
                  <c:v>0.10752099135318137</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42</a:t>
                    </a:r>
                  </a:p>
                </c:rich>
              </c:tx>
              <c:showLegendKey val="0"/>
              <c:showVal val="0"/>
              <c:showCatName val="0"/>
              <c:showSerName val="0"/>
              <c:showPercent val="0"/>
              <c:showBubbleSize val="0"/>
            </c:dLbl>
            <c:dLbl>
              <c:idx val="1"/>
              <c:tx>
                <c:rich>
                  <a:bodyPr/>
                  <a:lstStyle/>
                  <a:p>
                    <a:r>
                      <a:rPr lang="en-US" b="1" sz="900">
                        <a:solidFill>
                          <a:srgbClr val="2D3142"/>
                        </a:solidFill>
                      </a:rPr>
                      <a:t>40</a:t>
                    </a:r>
                  </a:p>
                </c:rich>
              </c:tx>
              <c:showLegendKey val="0"/>
              <c:showVal val="0"/>
              <c:showCatName val="0"/>
              <c:showSerName val="0"/>
              <c:showPercent val="0"/>
              <c:showBubbleSize val="0"/>
            </c:dLbl>
            <c:dLbl>
              <c:idx val="2"/>
              <c:tx>
                <c:rich>
                  <a:bodyPr/>
                  <a:lstStyle/>
                  <a:p>
                    <a:r>
                      <a:rPr lang="en-US" b="1" sz="900">
                        <a:solidFill>
                          <a:srgbClr val="2D3142"/>
                        </a:solidFill>
                      </a:rPr>
                      <a:t>32</a:t>
                    </a:r>
                  </a:p>
                </c:rich>
              </c:tx>
              <c:showLegendKey val="0"/>
              <c:showVal val="0"/>
              <c:showCatName val="0"/>
              <c:showSerName val="0"/>
              <c:showPercent val="0"/>
              <c:showBubbleSize val="0"/>
            </c:dLbl>
            <c:dLbl>
              <c:idx val="3"/>
              <c:tx>
                <c:rich>
                  <a:bodyPr/>
                  <a:lstStyle/>
                  <a:p>
                    <a:r>
                      <a:rPr lang="en-US" b="1" sz="900">
                        <a:solidFill>
                          <a:srgbClr val="2D3142"/>
                        </a:solidFill>
                      </a:rPr>
                      <a:t>25</a:t>
                    </a:r>
                  </a:p>
                </c:rich>
              </c:tx>
              <c:showLegendKey val="0"/>
              <c:showVal val="0"/>
              <c:showCatName val="0"/>
              <c:showSerName val="0"/>
              <c:showPercent val="0"/>
              <c:showBubbleSize val="0"/>
            </c:dLbl>
            <c:dLbl>
              <c:idx val="4"/>
              <c:tx>
                <c:rich>
                  <a:bodyPr/>
                  <a:lstStyle/>
                  <a:p>
                    <a:r>
                      <a:rPr lang="en-US" b="1" sz="900">
                        <a:solidFill>
                          <a:srgbClr val="2D3142"/>
                        </a:solidFill>
                      </a:rPr>
                      <a:t>21</a:t>
                    </a:r>
                  </a:p>
                </c:rich>
              </c:tx>
              <c:showLegendKey val="0"/>
              <c:showVal val="0"/>
              <c:showCatName val="0"/>
              <c:showSerName val="0"/>
              <c:showPercent val="0"/>
              <c:showBubbleSize val="0"/>
            </c:dLbl>
            <c:dLbl>
              <c:idx val="5"/>
              <c:tx>
                <c:rich>
                  <a:bodyPr/>
                  <a:lstStyle/>
                  <a:p>
                    <a:r>
                      <a:rPr lang="en-US" b="1" sz="900">
                        <a:solidFill>
                          <a:srgbClr val="2D3142"/>
                        </a:solidFill>
                      </a:rPr>
                      <a:t>16</a:t>
                    </a:r>
                  </a:p>
                </c:rich>
              </c:tx>
              <c:showLegendKey val="0"/>
              <c:showVal val="0"/>
              <c:showCatName val="0"/>
              <c:showSerName val="0"/>
              <c:showPercent val="0"/>
              <c:showBubbleSize val="0"/>
            </c:dLbl>
            <c:dLbl>
              <c:idx val="6"/>
              <c:tx>
                <c:rich>
                  <a:bodyPr/>
                  <a:lstStyle/>
                  <a:p>
                    <a:r>
                      <a:rPr lang="en-US" b="1" sz="900">
                        <a:solidFill>
                          <a:srgbClr val="2D3142"/>
                        </a:solidFill>
                      </a:rPr>
                      <a:t>7</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Sheet1!$A$2:$A$8</c:f>
              <c:strCache>
                <c:ptCount val="7"/>
                <c:pt idx="0">
                  <c:v>Been called offensive names</c:v>
                </c:pt>
                <c:pt idx="1">
                  <c:v>None of these</c:v>
                </c:pt>
                <c:pt idx="2">
                  <c:v>Had someone spread false rumors about you</c:v>
                </c:pt>
                <c:pt idx="3">
                  <c:v>Had someone send you explicit images you did not ask for</c:v>
                </c:pt>
                <c:pt idx="4">
                  <c:v>Had someone, other than a parent, constantly ask you where you where, who you were with or what you were doing</c:v>
                </c:pt>
                <c:pt idx="5">
                  <c:v>Been physically threatened</c:v>
                </c:pt>
                <c:pt idx="6">
                  <c:v>Had someone share explicit images of you without your consent</c:v>
                </c:pt>
              </c:strCache>
            </c:strRef>
          </c:cat>
          <c:val>
            <c:numRef>
              <c:f>Sheet1!$B$2:$B$8</c:f>
              <c:numCache>
                <c:formatCode>0</c:formatCode>
                <c:ptCount val="7"/>
                <c:pt idx="0">
                  <c:v>41.89338937504053</c:v>
                </c:pt>
                <c:pt idx="1">
                  <c:v>40.10152710992147</c:v>
                </c:pt>
                <c:pt idx="2">
                  <c:v>32.45229636825117</c:v>
                </c:pt>
                <c:pt idx="3">
                  <c:v>24.51299520694801</c:v>
                </c:pt>
                <c:pt idx="4">
                  <c:v>20.77829483523258</c:v>
                </c:pt>
                <c:pt idx="5">
                  <c:v>16.19914485368955</c:v>
                </c:pt>
                <c:pt idx="6">
                  <c:v>6.9140483009557885</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Male</c:v>
                </c:pt>
              </c:strCache>
            </c:strRef>
          </c:tx>
          <c:spPr>
            <a:solidFill>
              <a:srgbClr val="4A7AB8"/>
            </a:solidFill>
          </c:spPr>
          <c:dLbls>
            <c:dLbl>
              <c:idx val="0"/>
              <c:tx>
                <c:rich>
                  <a:bodyPr/>
                  <a:lstStyle/>
                  <a:p>
                    <a:r>
                      <a:rPr lang="en-US" b="1" sz="900">
                        <a:solidFill>
                          <a:srgbClr val="2D3142"/>
                        </a:solidFill>
                      </a:rPr>
                      <a:t>42</a:t>
                    </a:r>
                  </a:p>
                </c:rich>
              </c:tx>
              <c:showLegendKey val="0"/>
              <c:showVal val="0"/>
              <c:showCatName val="0"/>
              <c:showSerName val="0"/>
              <c:showPercent val="0"/>
              <c:showBubbleSize val="0"/>
            </c:dLbl>
            <c:dLbl>
              <c:idx val="1"/>
              <c:tx>
                <c:rich>
                  <a:bodyPr/>
                  <a:lstStyle/>
                  <a:p>
                    <a:r>
                      <a:rPr lang="en-US" b="1" sz="900">
                        <a:solidFill>
                          <a:srgbClr val="2D3142"/>
                        </a:solidFill>
                      </a:rPr>
                      <a:t>16</a:t>
                    </a:r>
                  </a:p>
                </c:rich>
              </c:tx>
              <c:showLegendKey val="0"/>
              <c:showVal val="0"/>
              <c:showCatName val="0"/>
              <c:showSerName val="0"/>
              <c:showPercent val="0"/>
              <c:showBubbleSize val="0"/>
            </c:dLbl>
            <c:dLbl>
              <c:idx val="2"/>
              <c:tx>
                <c:rich>
                  <a:bodyPr/>
                  <a:lstStyle/>
                  <a:p>
                    <a:r>
                      <a:rPr lang="en-US" b="1" sz="900">
                        <a:solidFill>
                          <a:srgbClr val="2D3142"/>
                        </a:solidFill>
                      </a:rPr>
                      <a:t>26</a:t>
                    </a:r>
                  </a:p>
                </c:rich>
              </c:tx>
              <c:showLegendKey val="0"/>
              <c:showVal val="0"/>
              <c:showCatName val="0"/>
              <c:showSerName val="0"/>
              <c:showPercent val="0"/>
              <c:showBubbleSize val="0"/>
            </c:dLbl>
            <c:dLbl>
              <c:idx val="3"/>
              <c:tx>
                <c:rich>
                  <a:bodyPr/>
                  <a:lstStyle/>
                  <a:p>
                    <a:r>
                      <a:rPr lang="en-US" b="1" sz="900">
                        <a:solidFill>
                          <a:srgbClr val="2D3142"/>
                        </a:solidFill>
                      </a:rPr>
                      <a:t>5</a:t>
                    </a:r>
                  </a:p>
                </c:rich>
              </c:tx>
              <c:showLegendKey val="0"/>
              <c:showVal val="0"/>
              <c:showCatName val="0"/>
              <c:showSerName val="0"/>
              <c:showPercent val="0"/>
              <c:showBubbleSize val="0"/>
            </c:dLbl>
            <c:dLbl>
              <c:idx val="4"/>
              <c:tx>
                <c:rich>
                  <a:bodyPr/>
                  <a:lstStyle/>
                  <a:p>
                    <a:r>
                      <a:rPr lang="en-US" b="1" sz="900">
                        <a:solidFill>
                          <a:srgbClr val="2D3142"/>
                        </a:solidFill>
                      </a:rPr>
                      <a:t>20</a:t>
                    </a:r>
                  </a:p>
                </c:rich>
              </c:tx>
              <c:showLegendKey val="0"/>
              <c:showVal val="0"/>
              <c:showCatName val="0"/>
              <c:showSerName val="0"/>
              <c:showPercent val="0"/>
              <c:showBubbleSize val="0"/>
            </c:dLbl>
            <c:dLbl>
              <c:idx val="5"/>
              <c:tx>
                <c:rich>
                  <a:bodyPr/>
                  <a:lstStyle/>
                  <a:p>
                    <a:r>
                      <a:rPr lang="en-US" b="1" sz="900">
                        <a:solidFill>
                          <a:srgbClr val="2D3142"/>
                        </a:solidFill>
                      </a:rPr>
                      <a:t>18</a:t>
                    </a:r>
                  </a:p>
                </c:rich>
              </c:tx>
              <c:showLegendKey val="0"/>
              <c:showVal val="0"/>
              <c:showCatName val="0"/>
              <c:showSerName val="0"/>
              <c:showPercent val="0"/>
              <c:showBubbleSize val="0"/>
            </c:dLbl>
            <c:dLbl>
              <c:idx val="6"/>
              <c:tx>
                <c:rich>
                  <a:bodyPr/>
                  <a:lstStyle/>
                  <a:p>
                    <a:r>
                      <a:rPr lang="en-US" b="1" sz="900">
                        <a:solidFill>
                          <a:srgbClr val="2D3142"/>
                        </a:solidFill>
                      </a:rPr>
                      <a:t>41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Sheet1!$A$2:$A$8</c:f>
              <c:strCache>
                <c:ptCount val="7"/>
                <c:pt idx="0">
                  <c:v>Been called offensive names</c:v>
                </c:pt>
                <c:pt idx="1">
                  <c:v>Been physically threatened</c:v>
                </c:pt>
                <c:pt idx="2">
                  <c:v>Had someone spread false rumors about you</c:v>
                </c:pt>
                <c:pt idx="3">
                  <c:v>Had someone share explicit images of you without your consent</c:v>
                </c:pt>
                <c:pt idx="4">
                  <c:v>Had someone send you explicit images you did not ask for</c:v>
                </c:pt>
                <c:pt idx="5">
                  <c:v>Had someone, other than a parent, constantly ask you where you where, who you were with or what you were doing</c:v>
                </c:pt>
                <c:pt idx="6">
                  <c:v>None of these</c:v>
                </c:pt>
              </c:strCache>
            </c:strRef>
          </c:cat>
          <c:val>
            <c:numRef>
              <c:f>Sheet1!$B$2:$B$8</c:f>
              <c:numCache>
                <c:formatCode>0</c:formatCode>
                <c:ptCount val="7"/>
                <c:pt idx="0">
                  <c:v>42.436678572732454</c:v>
                </c:pt>
                <c:pt idx="1">
                  <c:v>16.296803752003512</c:v>
                </c:pt>
                <c:pt idx="2">
                  <c:v>25.829033923450297</c:v>
                </c:pt>
                <c:pt idx="3">
                  <c:v>5.397374261343851</c:v>
                </c:pt>
                <c:pt idx="4">
                  <c:v>20.077148687504312</c:v>
                </c:pt>
                <c:pt idx="5">
                  <c:v>18.379041923524504</c:v>
                </c:pt>
                <c:pt idx="6">
                  <c:v>40.53230014541635</c:v>
                </c:pt>
              </c:numCache>
            </c:numRef>
          </c:val>
        </c:ser>
        <c:ser>
          <c:idx val="1"/>
          <c:order val="1"/>
          <c:tx>
            <c:strRef>
              <c:f>Sheet1!$C$1</c:f>
              <c:strCache>
                <c:ptCount val="1"/>
                <c:pt idx="0">
                  <c:v>Female</c:v>
                </c:pt>
              </c:strCache>
            </c:strRef>
          </c:tx>
          <c:spPr>
            <a:solidFill>
              <a:srgbClr val="5A94DE"/>
            </a:solidFill>
          </c:spPr>
          <c:dLbls>
            <c:dLbl>
              <c:idx val="0"/>
              <c:tx>
                <c:rich>
                  <a:bodyPr/>
                  <a:lstStyle/>
                  <a:p>
                    <a:r>
                      <a:rPr lang="en-US" b="1" sz="900">
                        <a:solidFill>
                          <a:srgbClr val="2D3142"/>
                        </a:solidFill>
                      </a:rPr>
                      <a:t>41</a:t>
                    </a:r>
                  </a:p>
                </c:rich>
              </c:tx>
              <c:showLegendKey val="0"/>
              <c:showVal val="0"/>
              <c:showCatName val="0"/>
              <c:showSerName val="0"/>
              <c:showPercent val="0"/>
              <c:showBubbleSize val="0"/>
            </c:dLbl>
            <c:dLbl>
              <c:idx val="1"/>
              <c:tx>
                <c:rich>
                  <a:bodyPr/>
                  <a:lstStyle/>
                  <a:p>
                    <a:r>
                      <a:rPr lang="en-US" b="1" sz="900">
                        <a:solidFill>
                          <a:srgbClr val="2D3142"/>
                        </a:solidFill>
                      </a:rPr>
                      <a:t>16</a:t>
                    </a:r>
                  </a:p>
                </c:rich>
              </c:tx>
              <c:showLegendKey val="0"/>
              <c:showVal val="0"/>
              <c:showCatName val="0"/>
              <c:showSerName val="0"/>
              <c:showPercent val="0"/>
              <c:showBubbleSize val="0"/>
            </c:dLbl>
            <c:dLbl>
              <c:idx val="2"/>
              <c:tx>
                <c:rich>
                  <a:bodyPr/>
                  <a:lstStyle/>
                  <a:p>
                    <a:r>
                      <a:rPr lang="en-US" b="1" sz="900">
                        <a:solidFill>
                          <a:srgbClr val="2D3142"/>
                        </a:solidFill>
                      </a:rPr>
                      <a:t>39 </a:t>
                    </a:r>
                    <a:r>
                      <a:rPr lang="en-US" b="1" sz="900">
                        <a:solidFill>
                          <a:srgbClr val="1B5E20"/>
                        </a:solidFill>
                      </a:rPr>
                      <a:t>▲</a:t>
                    </a:r>
                  </a:p>
                </c:rich>
              </c:tx>
              <c:showLegendKey val="0"/>
              <c:showVal val="0"/>
              <c:showCatName val="0"/>
              <c:showSerName val="0"/>
              <c:showPercent val="0"/>
              <c:showBubbleSize val="0"/>
            </c:dLbl>
            <c:dLbl>
              <c:idx val="3"/>
              <c:tx>
                <c:rich>
                  <a:bodyPr/>
                  <a:lstStyle/>
                  <a:p>
                    <a:r>
                      <a:rPr lang="en-US" b="1" sz="900">
                        <a:solidFill>
                          <a:srgbClr val="2D3142"/>
                        </a:solidFill>
                      </a:rPr>
                      <a:t>9</a:t>
                    </a:r>
                  </a:p>
                </c:rich>
              </c:tx>
              <c:showLegendKey val="0"/>
              <c:showVal val="0"/>
              <c:showCatName val="0"/>
              <c:showSerName val="0"/>
              <c:showPercent val="0"/>
              <c:showBubbleSize val="0"/>
            </c:dLbl>
            <c:dLbl>
              <c:idx val="4"/>
              <c:tx>
                <c:rich>
                  <a:bodyPr/>
                  <a:lstStyle/>
                  <a:p>
                    <a:r>
                      <a:rPr lang="en-US" b="1" sz="900">
                        <a:solidFill>
                          <a:srgbClr val="2D3142"/>
                        </a:solidFill>
                      </a:rPr>
                      <a:t>29 </a:t>
                    </a:r>
                    <a:r>
                      <a:rPr lang="en-US" b="1" sz="900">
                        <a:solidFill>
                          <a:srgbClr val="66BB6A"/>
                        </a:solidFill>
                      </a:rPr>
                      <a:t>↑</a:t>
                    </a:r>
                  </a:p>
                </c:rich>
              </c:tx>
              <c:showLegendKey val="0"/>
              <c:showVal val="0"/>
              <c:showCatName val="0"/>
              <c:showSerName val="0"/>
              <c:showPercent val="0"/>
              <c:showBubbleSize val="0"/>
            </c:dLbl>
            <c:dLbl>
              <c:idx val="5"/>
              <c:tx>
                <c:rich>
                  <a:bodyPr/>
                  <a:lstStyle/>
                  <a:p>
                    <a:r>
                      <a:rPr lang="en-US" b="1" sz="900">
                        <a:solidFill>
                          <a:srgbClr val="2D3142"/>
                        </a:solidFill>
                      </a:rPr>
                      <a:t>23</a:t>
                    </a:r>
                  </a:p>
                </c:rich>
              </c:tx>
              <c:showLegendKey val="0"/>
              <c:showVal val="0"/>
              <c:showCatName val="0"/>
              <c:showSerName val="0"/>
              <c:showPercent val="0"/>
              <c:showBubbleSize val="0"/>
            </c:dLbl>
            <c:dLbl>
              <c:idx val="6"/>
              <c:tx>
                <c:rich>
                  <a:bodyPr/>
                  <a:lstStyle/>
                  <a:p>
                    <a:r>
                      <a:rPr lang="en-US" b="1" sz="900">
                        <a:solidFill>
                          <a:srgbClr val="2D3142"/>
                        </a:solidFill>
                      </a:rPr>
                      <a:t>39</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Sheet1!$A$2:$A$8</c:f>
              <c:strCache>
                <c:ptCount val="7"/>
                <c:pt idx="0">
                  <c:v>Been called offensive names</c:v>
                </c:pt>
                <c:pt idx="1">
                  <c:v>Been physically threatened</c:v>
                </c:pt>
                <c:pt idx="2">
                  <c:v>Had someone spread false rumors about you</c:v>
                </c:pt>
                <c:pt idx="3">
                  <c:v>Had someone share explicit images of you without your consent</c:v>
                </c:pt>
                <c:pt idx="4">
                  <c:v>Had someone send you explicit images you did not ask for</c:v>
                </c:pt>
                <c:pt idx="5">
                  <c:v>Had someone, other than a parent, constantly ask you where you where, who you were with or what you were doing</c:v>
                </c:pt>
                <c:pt idx="6">
                  <c:v>None of these</c:v>
                </c:pt>
              </c:strCache>
            </c:strRef>
          </c:cat>
          <c:val>
            <c:numRef>
              <c:f>Sheet1!$C$2:$C$8</c:f>
              <c:numCache>
                <c:formatCode>0</c:formatCode>
                <c:ptCount val="7"/>
                <c:pt idx="0">
                  <c:v>41.41158701967241</c:v>
                </c:pt>
                <c:pt idx="1">
                  <c:v>16.23332044848084</c:v>
                </c:pt>
                <c:pt idx="2">
                  <c:v>39.15376409713488</c:v>
                </c:pt>
                <c:pt idx="3">
                  <c:v>8.507497289687773</c:v>
                </c:pt>
                <c:pt idx="4">
                  <c:v>29.208651852712226</c:v>
                </c:pt>
                <c:pt idx="5">
                  <c:v>23.379868361265174</c:v>
                </c:pt>
                <c:pt idx="6">
                  <c:v>39.44848964980652</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Often</c:v>
                </c:pt>
              </c:strCache>
            </c:strRef>
          </c:tx>
          <c:spPr>
            <a:solidFill>
              <a:srgbClr val="4A7AB8"/>
            </a:solidFill>
          </c:spPr>
          <c:dLbls>
            <c:dLbl>
              <c:idx val="0"/>
              <c:tx>
                <c:rich>
                  <a:bodyPr/>
                  <a:lstStyle/>
                  <a:p>
                    <a:r>
                      <a:rPr lang="en-US" b="1" sz="800">
                        <a:solidFill>
                          <a:srgbClr val="FFFFFF"/>
                        </a:solidFill>
                      </a:rPr>
                      <a:t>15</a:t>
                    </a:r>
                  </a:p>
                </c:rich>
              </c:tx>
              <c:showLegendKey val="0"/>
              <c:showVal val="0"/>
              <c:showCatName val="0"/>
              <c:showSerName val="0"/>
              <c:showPercent val="0"/>
              <c:showBubbleSize val="0"/>
            </c:dLbl>
            <c:dLbl>
              <c:idx val="1"/>
              <c:tx>
                <c:rich>
                  <a:bodyPr/>
                  <a:lstStyle/>
                  <a:p>
                    <a:r>
                      <a:rPr lang="en-US" b="1" sz="800">
                        <a:solidFill>
                          <a:srgbClr val="FFFFFF"/>
                        </a:solidFill>
                      </a:rPr>
                      <a:t>10</a:t>
                    </a:r>
                  </a:p>
                </c:rich>
              </c:tx>
              <c:showLegendKey val="0"/>
              <c:showVal val="0"/>
              <c:showCatName val="0"/>
              <c:showSerName val="0"/>
              <c:showPercent val="0"/>
              <c:showBubbleSize val="0"/>
            </c:dLbl>
            <c:dLbl>
              <c:idx val="2"/>
              <c:tx>
                <c:rich>
                  <a:bodyPr/>
                  <a:lstStyle/>
                  <a:p>
                    <a:r>
                      <a:rPr lang="en-US" b="1" sz="800">
                        <a:solidFill>
                          <a:srgbClr val="FFFFFF"/>
                        </a:solidFill>
                      </a:rPr>
                      <a:t>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Organize your feed to only see certain types of content</c:v>
                </c:pt>
                <c:pt idx="1">
                  <c:v>Delete or restrict access to things you post because you are concerned they could negatively impact you later in life</c:v>
                </c:pt>
                <c:pt idx="2">
                  <c:v>Delete or restrict access to things you post because you don’t want your parents to see them</c:v>
                </c:pt>
              </c:strCache>
            </c:strRef>
          </c:cat>
          <c:val>
            <c:numRef>
              <c:f>Sheet1!$B$2:$B$4</c:f>
              <c:numCache>
                <c:formatCode>0</c:formatCode>
                <c:ptCount val="3"/>
                <c:pt idx="0">
                  <c:v>15.061135192916836</c:v>
                </c:pt>
                <c:pt idx="1">
                  <c:v>9.645862964838493</c:v>
                </c:pt>
                <c:pt idx="2">
                  <c:v>8.963744678181238</c:v>
                </c:pt>
              </c:numCache>
            </c:numRef>
          </c:val>
        </c:ser>
        <c:ser>
          <c:idx val="1"/>
          <c:order val="1"/>
          <c:tx>
            <c:strRef>
              <c:f>Sheet1!$C$1</c:f>
              <c:strCache>
                <c:ptCount val="1"/>
                <c:pt idx="0">
                  <c:v>Sometimes</c:v>
                </c:pt>
              </c:strCache>
            </c:strRef>
          </c:tx>
          <c:spPr>
            <a:solidFill>
              <a:srgbClr val="5A94DE"/>
            </a:solidFill>
          </c:spPr>
          <c:dLbls>
            <c:dLbl>
              <c:idx val="0"/>
              <c:tx>
                <c:rich>
                  <a:bodyPr/>
                  <a:lstStyle/>
                  <a:p>
                    <a:r>
                      <a:rPr lang="en-US" b="1" sz="800">
                        <a:solidFill>
                          <a:srgbClr val="FFFFFF"/>
                        </a:solidFill>
                      </a:rPr>
                      <a:t>32</a:t>
                    </a:r>
                  </a:p>
                </c:rich>
              </c:tx>
              <c:showLegendKey val="0"/>
              <c:showVal val="0"/>
              <c:showCatName val="0"/>
              <c:showSerName val="0"/>
              <c:showPercent val="0"/>
              <c:showBubbleSize val="0"/>
            </c:dLbl>
            <c:dLbl>
              <c:idx val="1"/>
              <c:tx>
                <c:rich>
                  <a:bodyPr/>
                  <a:lstStyle/>
                  <a:p>
                    <a:r>
                      <a:rPr lang="en-US" b="1" sz="800">
                        <a:solidFill>
                          <a:srgbClr val="FFFFFF"/>
                        </a:solidFill>
                      </a:rPr>
                      <a:t>24</a:t>
                    </a:r>
                  </a:p>
                </c:rich>
              </c:tx>
              <c:showLegendKey val="0"/>
              <c:showVal val="0"/>
              <c:showCatName val="0"/>
              <c:showSerName val="0"/>
              <c:showPercent val="0"/>
              <c:showBubbleSize val="0"/>
            </c:dLbl>
            <c:dLbl>
              <c:idx val="2"/>
              <c:tx>
                <c:rich>
                  <a:bodyPr/>
                  <a:lstStyle/>
                  <a:p>
                    <a:r>
                      <a:rPr lang="en-US" b="1" sz="800">
                        <a:solidFill>
                          <a:srgbClr val="FFFFFF"/>
                        </a:solidFill>
                      </a:rPr>
                      <a:t>21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Organize your feed to only see certain types of content</c:v>
                </c:pt>
                <c:pt idx="1">
                  <c:v>Delete or restrict access to things you post because you are concerned they could negatively impact you later in life</c:v>
                </c:pt>
                <c:pt idx="2">
                  <c:v>Delete or restrict access to things you post because you don’t want your parents to see them</c:v>
                </c:pt>
              </c:strCache>
            </c:strRef>
          </c:cat>
          <c:val>
            <c:numRef>
              <c:f>Sheet1!$C$2:$C$4</c:f>
              <c:numCache>
                <c:formatCode>0</c:formatCode>
                <c:ptCount val="3"/>
                <c:pt idx="0">
                  <c:v>32.33683288437521</c:v>
                </c:pt>
                <c:pt idx="1">
                  <c:v>24.144277704582432</c:v>
                </c:pt>
                <c:pt idx="2">
                  <c:v>21.077500165162306</c:v>
                </c:pt>
              </c:numCache>
            </c:numRef>
          </c:val>
        </c:ser>
        <c:ser>
          <c:idx val="2"/>
          <c:order val="2"/>
          <c:tx>
            <c:strRef>
              <c:f>Sheet1!$D$1</c:f>
              <c:strCache>
                <c:ptCount val="1"/>
                <c:pt idx="0">
                  <c:v>Rarely</c:v>
                </c:pt>
              </c:strCache>
            </c:strRef>
          </c:tx>
          <c:spPr>
            <a:solidFill>
              <a:srgbClr val="8EBAEB"/>
            </a:solidFill>
          </c:spPr>
          <c:dLbls>
            <c:dLbl>
              <c:idx val="0"/>
              <c:tx>
                <c:rich>
                  <a:bodyPr/>
                  <a:lstStyle/>
                  <a:p>
                    <a:r>
                      <a:rPr lang="en-US" b="1" sz="800">
                        <a:solidFill>
                          <a:srgbClr val="2D3142"/>
                        </a:solidFill>
                      </a:rPr>
                      <a:t>22</a:t>
                    </a:r>
                  </a:p>
                </c:rich>
              </c:tx>
              <c:showLegendKey val="0"/>
              <c:showVal val="0"/>
              <c:showCatName val="0"/>
              <c:showSerName val="0"/>
              <c:showPercent val="0"/>
              <c:showBubbleSize val="0"/>
            </c:dLbl>
            <c:dLbl>
              <c:idx val="1"/>
              <c:tx>
                <c:rich>
                  <a:bodyPr/>
                  <a:lstStyle/>
                  <a:p>
                    <a:r>
                      <a:rPr lang="en-US" b="1" sz="800">
                        <a:solidFill>
                          <a:srgbClr val="2D3142"/>
                        </a:solidFill>
                      </a:rPr>
                      <a:t>27</a:t>
                    </a:r>
                  </a:p>
                </c:rich>
              </c:tx>
              <c:showLegendKey val="0"/>
              <c:showVal val="0"/>
              <c:showCatName val="0"/>
              <c:showSerName val="0"/>
              <c:showPercent val="0"/>
              <c:showBubbleSize val="0"/>
            </c:dLbl>
            <c:dLbl>
              <c:idx val="2"/>
              <c:tx>
                <c:rich>
                  <a:bodyPr/>
                  <a:lstStyle/>
                  <a:p>
                    <a:r>
                      <a:rPr lang="en-US" b="1" sz="800">
                        <a:solidFill>
                          <a:srgbClr val="2D3142"/>
                        </a:solidFill>
                      </a:rPr>
                      <a:t>26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Organize your feed to only see certain types of content</c:v>
                </c:pt>
                <c:pt idx="1">
                  <c:v>Delete or restrict access to things you post because you are concerned they could negatively impact you later in life</c:v>
                </c:pt>
                <c:pt idx="2">
                  <c:v>Delete or restrict access to things you post because you don’t want your parents to see them</c:v>
                </c:pt>
              </c:strCache>
            </c:strRef>
          </c:cat>
          <c:val>
            <c:numRef>
              <c:f>Sheet1!$D$2:$D$4</c:f>
              <c:numCache>
                <c:formatCode>0</c:formatCode>
                <c:ptCount val="3"/>
                <c:pt idx="0">
                  <c:v>22.32549340888477</c:v>
                </c:pt>
                <c:pt idx="1">
                  <c:v>27.22291257018507</c:v>
                </c:pt>
                <c:pt idx="2">
                  <c:v>26.32282987739482</c:v>
                </c:pt>
              </c:numCache>
            </c:numRef>
          </c:val>
        </c:ser>
        <c:ser>
          <c:idx val="3"/>
          <c:order val="3"/>
          <c:tx>
            <c:strRef>
              <c:f>Sheet1!$E$1</c:f>
              <c:strCache>
                <c:ptCount val="1"/>
                <c:pt idx="0">
                  <c:v>Never</c:v>
                </c:pt>
              </c:strCache>
            </c:strRef>
          </c:tx>
          <c:spPr>
            <a:solidFill>
              <a:srgbClr val="C3DDF7"/>
            </a:solidFill>
          </c:spPr>
          <c:dLbls>
            <c:dLbl>
              <c:idx val="0"/>
              <c:tx>
                <c:rich>
                  <a:bodyPr/>
                  <a:lstStyle/>
                  <a:p>
                    <a:r>
                      <a:rPr lang="en-US" b="1" sz="800">
                        <a:solidFill>
                          <a:srgbClr val="2D3142"/>
                        </a:solidFill>
                      </a:rPr>
                      <a:t>30</a:t>
                    </a:r>
                  </a:p>
                </c:rich>
              </c:tx>
              <c:showLegendKey val="0"/>
              <c:showVal val="0"/>
              <c:showCatName val="0"/>
              <c:showSerName val="0"/>
              <c:showPercent val="0"/>
              <c:showBubbleSize val="0"/>
            </c:dLbl>
            <c:dLbl>
              <c:idx val="1"/>
              <c:tx>
                <c:rich>
                  <a:bodyPr/>
                  <a:lstStyle/>
                  <a:p>
                    <a:r>
                      <a:rPr lang="en-US" b="1" sz="800">
                        <a:solidFill>
                          <a:srgbClr val="2D3142"/>
                        </a:solidFill>
                      </a:rPr>
                      <a:t>39</a:t>
                    </a:r>
                  </a:p>
                </c:rich>
              </c:tx>
              <c:showLegendKey val="0"/>
              <c:showVal val="0"/>
              <c:showCatName val="0"/>
              <c:showSerName val="0"/>
              <c:showPercent val="0"/>
              <c:showBubbleSize val="0"/>
            </c:dLbl>
            <c:dLbl>
              <c:idx val="2"/>
              <c:tx>
                <c:rich>
                  <a:bodyPr/>
                  <a:lstStyle/>
                  <a:p>
                    <a:r>
                      <a:rPr lang="en-US" b="1" sz="800">
                        <a:solidFill>
                          <a:srgbClr val="2D3142"/>
                        </a:solidFill>
                      </a:rPr>
                      <a:t>43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Sheet1!$A$2:$A$4</c:f>
              <c:strCache>
                <c:ptCount val="3"/>
                <c:pt idx="0">
                  <c:v>Organize your feed to only see certain types of content</c:v>
                </c:pt>
                <c:pt idx="1">
                  <c:v>Delete or restrict access to things you post because you are concerned they could negatively impact you later in life</c:v>
                </c:pt>
                <c:pt idx="2">
                  <c:v>Delete or restrict access to things you post because you don’t want your parents to see them</c:v>
                </c:pt>
              </c:strCache>
            </c:strRef>
          </c:cat>
          <c:val>
            <c:numRef>
              <c:f>Sheet1!$E$2:$E$4</c:f>
              <c:numCache>
                <c:formatCode>0</c:formatCode>
                <c:ptCount val="3"/>
                <c:pt idx="0">
                  <c:v>29.80074326463682</c:v>
                </c:pt>
                <c:pt idx="1">
                  <c:v>38.62484418116608</c:v>
                </c:pt>
                <c:pt idx="2">
                  <c:v>43.27382270003371</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31</a:t>
                    </a:r>
                  </a:p>
                </c:rich>
              </c:tx>
              <c:showLegendKey val="0"/>
              <c:showVal val="0"/>
              <c:showCatName val="0"/>
              <c:showSerName val="0"/>
              <c:showPercent val="0"/>
              <c:showBubbleSize val="0"/>
            </c:dLbl>
            <c:dLbl>
              <c:idx val="2"/>
              <c:tx>
                <c:rich>
                  <a:bodyPr/>
                  <a:lstStyle/>
                  <a:p>
                    <a:r>
                      <a:rPr lang="en-US" b="1" sz="900">
                        <a:solidFill>
                          <a:srgbClr val="2D3142"/>
                        </a:solidFill>
                      </a:rPr>
                      <a:t>40</a:t>
                    </a:r>
                  </a:p>
                </c:rich>
              </c:tx>
              <c:showLegendKey val="0"/>
              <c:showVal val="0"/>
              <c:showCatName val="0"/>
              <c:showSerName val="0"/>
              <c:showPercent val="0"/>
              <c:showBubbleSize val="0"/>
            </c:dLbl>
            <c:dLbl>
              <c:idx val="3"/>
              <c:tx>
                <c:rich>
                  <a:bodyPr/>
                  <a:lstStyle/>
                  <a:p>
                    <a:r>
                      <a:rPr lang="en-US" b="1" sz="900">
                        <a:solidFill>
                          <a:srgbClr val="2D3142"/>
                        </a:solidFill>
                      </a:rPr>
                      <a:t>14</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Often</c:v>
                </c:pt>
                <c:pt idx="1">
                  <c:v>Sometimes</c:v>
                </c:pt>
                <c:pt idx="2">
                  <c:v>Rarely</c:v>
                </c:pt>
                <c:pt idx="3">
                  <c:v>Never</c:v>
                </c:pt>
              </c:strCache>
            </c:strRef>
          </c:cat>
          <c:val>
            <c:numRef>
              <c:f>Sheet1!$B$2:$B$5</c:f>
              <c:numCache>
                <c:formatCode>0</c:formatCode>
                <c:ptCount val="4"/>
                <c:pt idx="0">
                  <c:v>14.403066140921773</c:v>
                </c:pt>
                <c:pt idx="1">
                  <c:v>31.002928421725507</c:v>
                </c:pt>
                <c:pt idx="2">
                  <c:v>40.22552258453803</c:v>
                </c:pt>
                <c:pt idx="3">
                  <c:v>14.13931207430361</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78</a:t>
                    </a:r>
                  </a:p>
                </c:rich>
              </c:tx>
              <c:showLegendKey val="0"/>
              <c:showVal val="0"/>
              <c:showCatName val="0"/>
              <c:showSerName val="0"/>
              <c:showPercent val="0"/>
              <c:showBubbleSize val="0"/>
            </c:dLbl>
            <c:dLbl>
              <c:idx val="1"/>
              <c:tx>
                <c:rich>
                  <a:bodyPr/>
                  <a:lstStyle/>
                  <a:p>
                    <a:r>
                      <a:rPr lang="en-US" b="1" sz="900">
                        <a:solidFill>
                          <a:srgbClr val="2D3142"/>
                        </a:solidFill>
                      </a:rPr>
                      <a:t>54</a:t>
                    </a:r>
                  </a:p>
                </c:rich>
              </c:tx>
              <c:showLegendKey val="0"/>
              <c:showVal val="0"/>
              <c:showCatName val="0"/>
              <c:showSerName val="0"/>
              <c:showPercent val="0"/>
              <c:showBubbleSize val="0"/>
            </c:dLbl>
            <c:dLbl>
              <c:idx val="2"/>
              <c:tx>
                <c:rich>
                  <a:bodyPr/>
                  <a:lstStyle/>
                  <a:p>
                    <a:r>
                      <a:rPr lang="en-US" b="1" sz="900">
                        <a:solidFill>
                          <a:srgbClr val="2D3142"/>
                        </a:solidFill>
                      </a:rPr>
                      <a:t>52</a:t>
                    </a:r>
                  </a:p>
                </c:rich>
              </c:tx>
              <c:showLegendKey val="0"/>
              <c:showVal val="0"/>
              <c:showCatName val="0"/>
              <c:showSerName val="0"/>
              <c:showPercent val="0"/>
              <c:showBubbleSize val="0"/>
            </c:dLbl>
            <c:dLbl>
              <c:idx val="3"/>
              <c:tx>
                <c:rich>
                  <a:bodyPr/>
                  <a:lstStyle/>
                  <a:p>
                    <a:r>
                      <a:rPr lang="en-US" b="1" sz="900">
                        <a:solidFill>
                          <a:srgbClr val="2D3142"/>
                        </a:solidFill>
                      </a:rPr>
                      <a:t>43</a:t>
                    </a:r>
                  </a:p>
                </c:rich>
              </c:tx>
              <c:showLegendKey val="0"/>
              <c:showVal val="0"/>
              <c:showCatName val="0"/>
              <c:showSerName val="0"/>
              <c:showPercent val="0"/>
              <c:showBubbleSize val="0"/>
            </c:dLbl>
            <c:dLbl>
              <c:idx val="4"/>
              <c:tx>
                <c:rich>
                  <a:bodyPr/>
                  <a:lstStyle/>
                  <a:p>
                    <a:r>
                      <a:rPr lang="en-US" b="1" sz="900">
                        <a:solidFill>
                          <a:srgbClr val="2D3142"/>
                        </a:solidFill>
                      </a:rPr>
                      <a:t>22</a:t>
                    </a:r>
                  </a:p>
                </c:rich>
              </c:tx>
              <c:showLegendKey val="0"/>
              <c:showVal val="0"/>
              <c:showCatName val="0"/>
              <c:showSerName val="0"/>
              <c:showPercent val="0"/>
              <c:showBubbleSize val="0"/>
            </c:dLbl>
            <c:dLbl>
              <c:idx val="5"/>
              <c:tx>
                <c:rich>
                  <a:bodyPr/>
                  <a:lstStyle/>
                  <a:p>
                    <a:r>
                      <a:rPr lang="en-US" b="1" sz="900">
                        <a:solidFill>
                          <a:srgbClr val="2D3142"/>
                        </a:solidFill>
                      </a:rPr>
                      <a:t>5</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They create too much drama]</c:v>
                </c:pt>
                <c:pt idx="1">
                  <c:v>They post too much or too often</c:v>
                </c:pt>
                <c:pt idx="2">
                  <c:v>They bully you or others</c:v>
                </c:pt>
                <c:pt idx="3">
                  <c:v>They act differently online than they do offline</c:v>
                </c:pt>
                <c:pt idx="4">
                  <c:v>They post political views you disagree with</c:v>
                </c:pt>
                <c:pt idx="5">
                  <c:v>None of these</c:v>
                </c:pt>
              </c:strCache>
            </c:strRef>
          </c:cat>
          <c:val>
            <c:numRef>
              <c:f>Sheet1!$B$2:$B$7</c:f>
              <c:numCache>
                <c:formatCode>0</c:formatCode>
                <c:ptCount val="6"/>
                <c:pt idx="0">
                  <c:v>78.40142811906847</c:v>
                </c:pt>
                <c:pt idx="1">
                  <c:v>54.13910493161828</c:v>
                </c:pt>
                <c:pt idx="2">
                  <c:v>52.46579939177091</c:v>
                </c:pt>
                <c:pt idx="3">
                  <c:v>43.489591194697695</c:v>
                </c:pt>
                <c:pt idx="4">
                  <c:v>22.256252306679958</c:v>
                </c:pt>
                <c:pt idx="5">
                  <c:v>5.065841592937672</c:v>
                </c:pt>
              </c:numCache>
            </c:numRef>
          </c:val>
        </c:ser>
        <c:gapWidth val="65"/>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A lot</c:v>
                </c:pt>
              </c:strCache>
            </c:strRef>
          </c:tx>
          <c:spPr>
            <a:solidFill>
              <a:srgbClr val="4A7AB8"/>
            </a:solidFill>
          </c:spPr>
          <c:dLbls>
            <c:dLbl>
              <c:idx val="0"/>
              <c:tx>
                <c:rich>
                  <a:bodyPr/>
                  <a:lstStyle/>
                  <a:p>
                    <a:r>
                      <a:rPr lang="en-US" b="1" sz="800">
                        <a:solidFill>
                          <a:srgbClr val="FFFFFF"/>
                        </a:solidFill>
                      </a:rPr>
                      <a:t>34</a:t>
                    </a:r>
                  </a:p>
                </c:rich>
              </c:tx>
              <c:showLegendKey val="0"/>
              <c:showVal val="0"/>
              <c:showCatName val="0"/>
              <c:showSerName val="0"/>
              <c:showPercent val="0"/>
              <c:showBubbleSize val="0"/>
            </c:dLbl>
            <c:dLbl>
              <c:idx val="1"/>
              <c:tx>
                <c:rich>
                  <a:bodyPr/>
                  <a:lstStyle/>
                  <a:p>
                    <a:r>
                      <a:rPr lang="en-US" b="1" sz="800">
                        <a:solidFill>
                          <a:srgbClr val="FFFFFF"/>
                        </a:solidFill>
                      </a:rPr>
                      <a:t>7</a:t>
                    </a:r>
                  </a:p>
                </c:rich>
              </c:tx>
              <c:showLegendKey val="0"/>
              <c:showVal val="0"/>
              <c:showCatName val="0"/>
              <c:showSerName val="0"/>
              <c:showPercent val="0"/>
              <c:showBubbleSize val="0"/>
            </c:dLbl>
            <c:dLbl>
              <c:idx val="2"/>
              <c:tx>
                <c:rich>
                  <a:bodyPr/>
                  <a:lstStyle/>
                  <a:p>
                    <a:r>
                      <a:rPr lang="en-US" b="1" sz="800">
                        <a:solidFill>
                          <a:srgbClr val="FFFFFF"/>
                        </a:solidFill>
                      </a:rPr>
                      <a:t>30</a:t>
                    </a:r>
                  </a:p>
                </c:rich>
              </c:tx>
              <c:showLegendKey val="0"/>
              <c:showVal val="0"/>
              <c:showCatName val="0"/>
              <c:showSerName val="0"/>
              <c:showPercent val="0"/>
              <c:showBubbleSize val="0"/>
            </c:dLbl>
            <c:dLbl>
              <c:idx val="3"/>
              <c:tx>
                <c:rich>
                  <a:bodyPr/>
                  <a:lstStyle/>
                  <a:p>
                    <a:r>
                      <a:rPr lang="en-US" b="1" sz="800">
                        <a:solidFill>
                          <a:srgbClr val="FFFFFF"/>
                        </a:solidFill>
                      </a:rPr>
                      <a:t>29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Interact with people from different backgrounds and experiences</c:v>
                </c:pt>
                <c:pt idx="1">
                  <c:v>Find trustworthy information]</c:v>
                </c:pt>
                <c:pt idx="2">
                  <c:v>Find different points of view</c:v>
                </c:pt>
                <c:pt idx="3">
                  <c:v>Show their support for causes or issues</c:v>
                </c:pt>
              </c:strCache>
            </c:strRef>
          </c:cat>
          <c:val>
            <c:numRef>
              <c:f>Sheet1!$B$2:$B$5</c:f>
              <c:numCache>
                <c:formatCode>0</c:formatCode>
                <c:ptCount val="4"/>
                <c:pt idx="0">
                  <c:v>34.20802838089717</c:v>
                </c:pt>
                <c:pt idx="1">
                  <c:v>6.781759178314442</c:v>
                </c:pt>
                <c:pt idx="2">
                  <c:v>30.300748355775987</c:v>
                </c:pt>
                <c:pt idx="3">
                  <c:v>28.622877036694245</c:v>
                </c:pt>
              </c:numCache>
            </c:numRef>
          </c:val>
        </c:ser>
        <c:ser>
          <c:idx val="1"/>
          <c:order val="1"/>
          <c:tx>
            <c:strRef>
              <c:f>Sheet1!$C$1</c:f>
              <c:strCache>
                <c:ptCount val="1"/>
                <c:pt idx="0">
                  <c:v>Some</c:v>
                </c:pt>
              </c:strCache>
            </c:strRef>
          </c:tx>
          <c:spPr>
            <a:solidFill>
              <a:srgbClr val="5A94DE"/>
            </a:solidFill>
          </c:spPr>
          <c:dLbls>
            <c:dLbl>
              <c:idx val="0"/>
              <c:tx>
                <c:rich>
                  <a:bodyPr/>
                  <a:lstStyle/>
                  <a:p>
                    <a:r>
                      <a:rPr lang="en-US" b="1" sz="800">
                        <a:solidFill>
                          <a:srgbClr val="FFFFFF"/>
                        </a:solidFill>
                      </a:rPr>
                      <a:t>35</a:t>
                    </a:r>
                  </a:p>
                </c:rich>
              </c:tx>
              <c:showLegendKey val="0"/>
              <c:showVal val="0"/>
              <c:showCatName val="0"/>
              <c:showSerName val="0"/>
              <c:showPercent val="0"/>
              <c:showBubbleSize val="0"/>
            </c:dLbl>
            <c:dLbl>
              <c:idx val="1"/>
              <c:tx>
                <c:rich>
                  <a:bodyPr/>
                  <a:lstStyle/>
                  <a:p>
                    <a:r>
                      <a:rPr lang="en-US" b="1" sz="800">
                        <a:solidFill>
                          <a:srgbClr val="FFFFFF"/>
                        </a:solidFill>
                      </a:rPr>
                      <a:t>30</a:t>
                    </a:r>
                  </a:p>
                </c:rich>
              </c:tx>
              <c:showLegendKey val="0"/>
              <c:showVal val="0"/>
              <c:showCatName val="0"/>
              <c:showSerName val="0"/>
              <c:showPercent val="0"/>
              <c:showBubbleSize val="0"/>
            </c:dLbl>
            <c:dLbl>
              <c:idx val="2"/>
              <c:tx>
                <c:rich>
                  <a:bodyPr/>
                  <a:lstStyle/>
                  <a:p>
                    <a:r>
                      <a:rPr lang="en-US" b="1" sz="800">
                        <a:solidFill>
                          <a:srgbClr val="FFFFFF"/>
                        </a:solidFill>
                      </a:rPr>
                      <a:t>37</a:t>
                    </a:r>
                  </a:p>
                </c:rich>
              </c:tx>
              <c:showLegendKey val="0"/>
              <c:showVal val="0"/>
              <c:showCatName val="0"/>
              <c:showSerName val="0"/>
              <c:showPercent val="0"/>
              <c:showBubbleSize val="0"/>
            </c:dLbl>
            <c:dLbl>
              <c:idx val="3"/>
              <c:tx>
                <c:rich>
                  <a:bodyPr/>
                  <a:lstStyle/>
                  <a:p>
                    <a:r>
                      <a:rPr lang="en-US" b="1" sz="800">
                        <a:solidFill>
                          <a:srgbClr val="FFFFFF"/>
                        </a:solidFill>
                      </a:rPr>
                      <a:t>37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Interact with people from different backgrounds and experiences</c:v>
                </c:pt>
                <c:pt idx="1">
                  <c:v>Find trustworthy information]</c:v>
                </c:pt>
                <c:pt idx="2">
                  <c:v>Find different points of view</c:v>
                </c:pt>
                <c:pt idx="3">
                  <c:v>Show their support for causes or issues</c:v>
                </c:pt>
              </c:strCache>
            </c:strRef>
          </c:cat>
          <c:val>
            <c:numRef>
              <c:f>Sheet1!$C$2:$C$5</c:f>
              <c:numCache>
                <c:formatCode>0</c:formatCode>
                <c:ptCount val="4"/>
                <c:pt idx="0">
                  <c:v>35.28512945007992</c:v>
                </c:pt>
                <c:pt idx="1">
                  <c:v>30.415104267170207</c:v>
                </c:pt>
                <c:pt idx="2">
                  <c:v>36.66772762500064</c:v>
                </c:pt>
                <c:pt idx="3">
                  <c:v>37.07300840983911</c:v>
                </c:pt>
              </c:numCache>
            </c:numRef>
          </c:val>
        </c:ser>
        <c:ser>
          <c:idx val="2"/>
          <c:order val="2"/>
          <c:tx>
            <c:strRef>
              <c:f>Sheet1!$D$1</c:f>
              <c:strCache>
                <c:ptCount val="1"/>
                <c:pt idx="0">
                  <c:v>Only a little</c:v>
                </c:pt>
              </c:strCache>
            </c:strRef>
          </c:tx>
          <c:spPr>
            <a:solidFill>
              <a:srgbClr val="8EBAEB"/>
            </a:solidFill>
          </c:spPr>
          <c:dLbls>
            <c:dLbl>
              <c:idx val="0"/>
              <c:tx>
                <c:rich>
                  <a:bodyPr/>
                  <a:lstStyle/>
                  <a:p>
                    <a:r>
                      <a:rPr lang="en-US" b="1" sz="800">
                        <a:solidFill>
                          <a:srgbClr val="2D3142"/>
                        </a:solidFill>
                      </a:rPr>
                      <a:t>18</a:t>
                    </a:r>
                  </a:p>
                </c:rich>
              </c:tx>
              <c:showLegendKey val="0"/>
              <c:showVal val="0"/>
              <c:showCatName val="0"/>
              <c:showSerName val="0"/>
              <c:showPercent val="0"/>
              <c:showBubbleSize val="0"/>
            </c:dLbl>
            <c:dLbl>
              <c:idx val="1"/>
              <c:tx>
                <c:rich>
                  <a:bodyPr/>
                  <a:lstStyle/>
                  <a:p>
                    <a:r>
                      <a:rPr lang="en-US" b="1" sz="800">
                        <a:solidFill>
                          <a:srgbClr val="2D3142"/>
                        </a:solidFill>
                      </a:rPr>
                      <a:t>41</a:t>
                    </a:r>
                  </a:p>
                </c:rich>
              </c:tx>
              <c:showLegendKey val="0"/>
              <c:showVal val="0"/>
              <c:showCatName val="0"/>
              <c:showSerName val="0"/>
              <c:showPercent val="0"/>
              <c:showBubbleSize val="0"/>
            </c:dLbl>
            <c:dLbl>
              <c:idx val="2"/>
              <c:tx>
                <c:rich>
                  <a:bodyPr/>
                  <a:lstStyle/>
                  <a:p>
                    <a:r>
                      <a:rPr lang="en-US" b="1" sz="800">
                        <a:solidFill>
                          <a:srgbClr val="2D3142"/>
                        </a:solidFill>
                      </a:rPr>
                      <a:t>20</a:t>
                    </a:r>
                  </a:p>
                </c:rich>
              </c:tx>
              <c:showLegendKey val="0"/>
              <c:showVal val="0"/>
              <c:showCatName val="0"/>
              <c:showSerName val="0"/>
              <c:showPercent val="0"/>
              <c:showBubbleSize val="0"/>
            </c:dLbl>
            <c:dLbl>
              <c:idx val="3"/>
              <c:tx>
                <c:rich>
                  <a:bodyPr/>
                  <a:lstStyle/>
                  <a:p>
                    <a:r>
                      <a:rPr lang="en-US" b="1" sz="800">
                        <a:solidFill>
                          <a:srgbClr val="2D3142"/>
                        </a:solidFill>
                      </a:rPr>
                      <a:t>21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Interact with people from different backgrounds and experiences</c:v>
                </c:pt>
                <c:pt idx="1">
                  <c:v>Find trustworthy information]</c:v>
                </c:pt>
                <c:pt idx="2">
                  <c:v>Find different points of view</c:v>
                </c:pt>
                <c:pt idx="3">
                  <c:v>Show their support for causes or issues</c:v>
                </c:pt>
              </c:strCache>
            </c:strRef>
          </c:cat>
          <c:val>
            <c:numRef>
              <c:f>Sheet1!$D$2:$D$5</c:f>
              <c:numCache>
                <c:formatCode>0</c:formatCode>
                <c:ptCount val="4"/>
                <c:pt idx="0">
                  <c:v>18.35545376509709</c:v>
                </c:pt>
                <c:pt idx="1">
                  <c:v>41.08957966500785</c:v>
                </c:pt>
                <c:pt idx="2">
                  <c:v>19.917428405600074</c:v>
                </c:pt>
                <c:pt idx="3">
                  <c:v>20.76163542611105</c:v>
                </c:pt>
              </c:numCache>
            </c:numRef>
          </c:val>
        </c:ser>
        <c:ser>
          <c:idx val="3"/>
          <c:order val="3"/>
          <c:tx>
            <c:strRef>
              <c:f>Sheet1!$E$1</c:f>
              <c:strCache>
                <c:ptCount val="1"/>
                <c:pt idx="0">
                  <c:v>Not at all</c:v>
                </c:pt>
              </c:strCache>
            </c:strRef>
          </c:tx>
          <c:spPr>
            <a:solidFill>
              <a:srgbClr val="C3DDF7"/>
            </a:solidFill>
          </c:spPr>
          <c:dLbls>
            <c:dLbl>
              <c:idx val="0"/>
              <c:tx>
                <c:rich>
                  <a:bodyPr/>
                  <a:lstStyle/>
                  <a:p>
                    <a:r>
                      <a:rPr lang="en-US" b="1" sz="800">
                        <a:solidFill>
                          <a:srgbClr val="2D3142"/>
                        </a:solidFill>
                      </a:rPr>
                      <a:t>3</a:t>
                    </a:r>
                  </a:p>
                </c:rich>
              </c:tx>
              <c:showLegendKey val="0"/>
              <c:showVal val="0"/>
              <c:showCatName val="0"/>
              <c:showSerName val="0"/>
              <c:showPercent val="0"/>
              <c:showBubbleSize val="0"/>
            </c:dLbl>
            <c:dLbl>
              <c:idx val="1"/>
              <c:tx>
                <c:rich>
                  <a:bodyPr/>
                  <a:lstStyle/>
                  <a:p>
                    <a:r>
                      <a:rPr lang="en-US" b="1" sz="800">
                        <a:solidFill>
                          <a:srgbClr val="2D3142"/>
                        </a:solidFill>
                      </a:rPr>
                      <a:t>12</a:t>
                    </a:r>
                  </a:p>
                </c:rich>
              </c:tx>
              <c:showLegendKey val="0"/>
              <c:showVal val="0"/>
              <c:showCatName val="0"/>
              <c:showSerName val="0"/>
              <c:showPercent val="0"/>
              <c:showBubbleSize val="0"/>
            </c:dLbl>
            <c:dLbl>
              <c:idx val="2"/>
              <c:tx>
                <c:rich>
                  <a:bodyPr/>
                  <a:lstStyle/>
                  <a:p>
                    <a:r>
                      <a:rPr lang="en-US" b="1" sz="800">
                        <a:solidFill>
                          <a:srgbClr val="2D3142"/>
                        </a:solidFill>
                      </a:rPr>
                      <a:t>6</a:t>
                    </a:r>
                  </a:p>
                </c:rich>
              </c:tx>
              <c:showLegendKey val="0"/>
              <c:showVal val="0"/>
              <c:showCatName val="0"/>
              <c:showSerName val="0"/>
              <c:showPercent val="0"/>
              <c:showBubbleSize val="0"/>
            </c:dLbl>
            <c:dLbl>
              <c:idx val="3"/>
              <c:tx>
                <c:rich>
                  <a:bodyPr/>
                  <a:lstStyle/>
                  <a:p>
                    <a:r>
                      <a:rPr lang="en-US" b="1" sz="800">
                        <a:solidFill>
                          <a:srgbClr val="2D3142"/>
                        </a:solidFill>
                      </a:rPr>
                      <a:t>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Interact with people from different backgrounds and experiences</c:v>
                </c:pt>
                <c:pt idx="1">
                  <c:v>Find trustworthy information]</c:v>
                </c:pt>
                <c:pt idx="2">
                  <c:v>Find different points of view</c:v>
                </c:pt>
                <c:pt idx="3">
                  <c:v>Show their support for causes or issues</c:v>
                </c:pt>
              </c:strCache>
            </c:strRef>
          </c:cat>
          <c:val>
            <c:numRef>
              <c:f>Sheet1!$E$2:$E$5</c:f>
              <c:numCache>
                <c:formatCode>0</c:formatCode>
                <c:ptCount val="4"/>
                <c:pt idx="0">
                  <c:v>2.80752490827565</c:v>
                </c:pt>
                <c:pt idx="1">
                  <c:v>11.845938788139195</c:v>
                </c:pt>
                <c:pt idx="2">
                  <c:v>6.011774371650024</c:v>
                </c:pt>
                <c:pt idx="3">
                  <c:v>5.819705059266652</c:v>
                </c:pt>
              </c:numCache>
            </c:numRef>
          </c:val>
        </c:ser>
        <c:ser>
          <c:idx val="4"/>
          <c:order val="4"/>
          <c:tx>
            <c:strRef>
              <c:f>Sheet1!$F$1</c:f>
              <c:strCache>
                <c:ptCount val="1"/>
                <c:pt idx="0">
                  <c:v>DON’T KNOW</c:v>
                </c:pt>
              </c:strCache>
            </c:strRef>
          </c:tx>
          <c:spPr>
            <a:solidFill>
              <a:srgbClr val="E1EDFA"/>
            </a:solidFill>
          </c:spPr>
          <c:dLbls>
            <c:dLbl>
              <c:idx val="0"/>
              <c:tx>
                <c:rich>
                  <a:bodyPr/>
                  <a:lstStyle/>
                  <a:p>
                    <a:r>
                      <a:rPr lang="en-US" b="1" sz="800">
                        <a:solidFill>
                          <a:srgbClr val="2D3142"/>
                        </a:solidFill>
                      </a:rPr>
                      <a:t>9</a:t>
                    </a:r>
                  </a:p>
                </c:rich>
              </c:tx>
              <c:showLegendKey val="0"/>
              <c:showVal val="0"/>
              <c:showCatName val="0"/>
              <c:showSerName val="0"/>
              <c:showPercent val="0"/>
              <c:showBubbleSize val="0"/>
            </c:dLbl>
            <c:dLbl>
              <c:idx val="1"/>
              <c:tx>
                <c:rich>
                  <a:bodyPr/>
                  <a:lstStyle/>
                  <a:p>
                    <a:r>
                      <a:rPr lang="en-US" b="1" sz="800">
                        <a:solidFill>
                          <a:srgbClr val="2D3142"/>
                        </a:solidFill>
                      </a:rPr>
                      <a:t>10</a:t>
                    </a:r>
                  </a:p>
                </c:rich>
              </c:tx>
              <c:showLegendKey val="0"/>
              <c:showVal val="0"/>
              <c:showCatName val="0"/>
              <c:showSerName val="0"/>
              <c:showPercent val="0"/>
              <c:showBubbleSize val="0"/>
            </c:dLbl>
            <c:dLbl>
              <c:idx val="2"/>
              <c:tx>
                <c:rich>
                  <a:bodyPr/>
                  <a:lstStyle/>
                  <a:p>
                    <a:r>
                      <a:rPr lang="en-US" b="1" sz="800">
                        <a:solidFill>
                          <a:srgbClr val="2D3142"/>
                        </a:solidFill>
                      </a:rPr>
                      <a:t>7</a:t>
                    </a:r>
                  </a:p>
                </c:rich>
              </c:tx>
              <c:showLegendKey val="0"/>
              <c:showVal val="0"/>
              <c:showCatName val="0"/>
              <c:showSerName val="0"/>
              <c:showPercent val="0"/>
              <c:showBubbleSize val="0"/>
            </c:dLbl>
            <c:dLbl>
              <c:idx val="3"/>
              <c:tx>
                <c:rich>
                  <a:bodyPr/>
                  <a:lstStyle/>
                  <a:p>
                    <a:r>
                      <a:rPr lang="en-US" b="1" sz="800">
                        <a:solidFill>
                          <a:srgbClr val="2D3142"/>
                        </a:solidFill>
                      </a:rPr>
                      <a:t>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Interact with people from different backgrounds and experiences</c:v>
                </c:pt>
                <c:pt idx="1">
                  <c:v>Find trustworthy information]</c:v>
                </c:pt>
                <c:pt idx="2">
                  <c:v>Find different points of view</c:v>
                </c:pt>
                <c:pt idx="3">
                  <c:v>Show their support for causes or issues</c:v>
                </c:pt>
              </c:strCache>
            </c:strRef>
          </c:cat>
          <c:val>
            <c:numRef>
              <c:f>Sheet1!$F$2:$F$5</c:f>
              <c:numCache>
                <c:formatCode>0</c:formatCode>
                <c:ptCount val="4"/>
                <c:pt idx="0">
                  <c:v>9.03818029147925</c:v>
                </c:pt>
                <c:pt idx="1">
                  <c:v>9.636636999686463</c:v>
                </c:pt>
                <c:pt idx="2">
                  <c:v>6.8713401402914265</c:v>
                </c:pt>
                <c:pt idx="3">
                  <c:v>7.236053650358734</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5A94DE"/>
            </a:solidFill>
          </c:spPr>
          <c:dLbls>
            <c:dLbl>
              <c:idx val="0"/>
              <c:tx>
                <c:rich>
                  <a:bodyPr/>
                  <a:lstStyle/>
                  <a:p>
                    <a:r>
                      <a:rPr lang="en-US" b="1" sz="900">
                        <a:solidFill>
                          <a:srgbClr val="2D3142"/>
                        </a:solidFill>
                      </a:rPr>
                      <a:t>25</a:t>
                    </a:r>
                  </a:p>
                </c:rich>
              </c:tx>
              <c:showLegendKey val="0"/>
              <c:showVal val="0"/>
              <c:showCatName val="0"/>
              <c:showSerName val="0"/>
              <c:showPercent val="0"/>
              <c:showBubbleSize val="0"/>
            </c:dLbl>
            <c:dLbl>
              <c:idx val="1"/>
              <c:tx>
                <c:rich>
                  <a:bodyPr/>
                  <a:lstStyle/>
                  <a:p>
                    <a:r>
                      <a:rPr lang="en-US" b="1" sz="900">
                        <a:solidFill>
                          <a:srgbClr val="2D3142"/>
                        </a:solidFill>
                      </a:rPr>
                      <a:t>32</a:t>
                    </a:r>
                  </a:p>
                </c:rich>
              </c:tx>
              <c:showLegendKey val="0"/>
              <c:showVal val="0"/>
              <c:showCatName val="0"/>
              <c:showSerName val="0"/>
              <c:showPercent val="0"/>
              <c:showBubbleSize val="0"/>
            </c:dLbl>
            <c:dLbl>
              <c:idx val="2"/>
              <c:tx>
                <c:rich>
                  <a:bodyPr/>
                  <a:lstStyle/>
                  <a:p>
                    <a:r>
                      <a:rPr lang="en-US" b="1" sz="900">
                        <a:solidFill>
                          <a:srgbClr val="2D3142"/>
                        </a:solidFill>
                      </a:rPr>
                      <a:t>29</a:t>
                    </a:r>
                  </a:p>
                </c:rich>
              </c:tx>
              <c:showLegendKey val="0"/>
              <c:showVal val="0"/>
              <c:showCatName val="0"/>
              <c:showSerName val="0"/>
              <c:showPercent val="0"/>
              <c:showBubbleSize val="0"/>
            </c:dLbl>
            <c:dLbl>
              <c:idx val="3"/>
              <c:tx>
                <c:rich>
                  <a:bodyPr/>
                  <a:lstStyle/>
                  <a:p>
                    <a:r>
                      <a:rPr lang="en-US" b="1" sz="900">
                        <a:solidFill>
                          <a:srgbClr val="2D3142"/>
                        </a:solidFill>
                      </a:rPr>
                      <a:t>13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Very worried</c:v>
                </c:pt>
                <c:pt idx="1">
                  <c:v>Somewhat worried</c:v>
                </c:pt>
                <c:pt idx="2">
                  <c:v>Not too worried</c:v>
                </c:pt>
                <c:pt idx="3">
                  <c:v>Not at all worried</c:v>
                </c:pt>
              </c:strCache>
            </c:strRef>
          </c:cat>
          <c:val>
            <c:numRef>
              <c:f>Sheet1!$B$2:$B$5</c:f>
              <c:numCache>
                <c:formatCode>0</c:formatCode>
                <c:ptCount val="4"/>
                <c:pt idx="0">
                  <c:v>24.880136543034297</c:v>
                </c:pt>
                <c:pt idx="1">
                  <c:v>32.40293274806871</c:v>
                </c:pt>
                <c:pt idx="2">
                  <c:v>29.456693252198406</c:v>
                </c:pt>
                <c:pt idx="3">
                  <c:v>13.214091722905309</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dispBlanksAs val="gap"/>
  </c:chart>
  <c:txPr>
    <a:bodyPr/>
    <a:lstStyle/>
    <a:p>
      <a:pPr>
        <a:defRPr sz="1800"/>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Male</c:v>
                </c:pt>
              </c:strCache>
            </c:strRef>
          </c:tx>
          <c:spPr>
            <a:solidFill>
              <a:srgbClr val="4A7AB8"/>
            </a:solidFill>
          </c:spPr>
          <c:dLbls>
            <c:dLbl>
              <c:idx val="0"/>
              <c:tx>
                <c:rich>
                  <a:bodyPr/>
                  <a:lstStyle/>
                  <a:p>
                    <a:r>
                      <a:rPr lang="en-US" b="1" sz="900">
                        <a:solidFill>
                          <a:srgbClr val="2D3142"/>
                        </a:solidFill>
                      </a:rPr>
                      <a:t>22</a:t>
                    </a:r>
                  </a:p>
                </c:rich>
              </c:tx>
              <c:showLegendKey val="0"/>
              <c:showVal val="0"/>
              <c:showCatName val="0"/>
              <c:showSerName val="0"/>
              <c:showPercent val="0"/>
              <c:showBubbleSize val="0"/>
            </c:dLbl>
            <c:dLbl>
              <c:idx val="1"/>
              <c:tx>
                <c:rich>
                  <a:bodyPr/>
                  <a:lstStyle/>
                  <a:p>
                    <a:r>
                      <a:rPr lang="en-US" b="1" sz="900">
                        <a:solidFill>
                          <a:srgbClr val="2D3142"/>
                        </a:solidFill>
                      </a:rPr>
                      <a:t>29</a:t>
                    </a:r>
                  </a:p>
                </c:rich>
              </c:tx>
              <c:showLegendKey val="0"/>
              <c:showVal val="0"/>
              <c:showCatName val="0"/>
              <c:showSerName val="0"/>
              <c:showPercent val="0"/>
              <c:showBubbleSize val="0"/>
            </c:dLbl>
            <c:dLbl>
              <c:idx val="2"/>
              <c:tx>
                <c:rich>
                  <a:bodyPr/>
                  <a:lstStyle/>
                  <a:p>
                    <a:r>
                      <a:rPr lang="en-US" b="1" sz="900">
                        <a:solidFill>
                          <a:srgbClr val="2D3142"/>
                        </a:solidFill>
                      </a:rPr>
                      <a:t>32</a:t>
                    </a:r>
                  </a:p>
                </c:rich>
              </c:tx>
              <c:showLegendKey val="0"/>
              <c:showVal val="0"/>
              <c:showCatName val="0"/>
              <c:showSerName val="0"/>
              <c:showPercent val="0"/>
              <c:showBubbleSize val="0"/>
            </c:dLbl>
            <c:dLbl>
              <c:idx val="3"/>
              <c:tx>
                <c:rich>
                  <a:bodyPr/>
                  <a:lstStyle/>
                  <a:p>
                    <a:r>
                      <a:rPr lang="en-US" b="1" sz="900">
                        <a:solidFill>
                          <a:srgbClr val="2D3142"/>
                        </a:solidFill>
                      </a:rPr>
                      <a:t>17</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Very worried</c:v>
                </c:pt>
                <c:pt idx="1">
                  <c:v>Somewhat worried</c:v>
                </c:pt>
                <c:pt idx="2">
                  <c:v>Not too worried</c:v>
                </c:pt>
                <c:pt idx="3">
                  <c:v>Not at all worried</c:v>
                </c:pt>
              </c:strCache>
            </c:strRef>
          </c:cat>
          <c:val>
            <c:numRef>
              <c:f>Sheet1!$B$2:$B$5</c:f>
              <c:numCache>
                <c:formatCode>0</c:formatCode>
                <c:ptCount val="4"/>
                <c:pt idx="0">
                  <c:v>21.516445683302294</c:v>
                </c:pt>
                <c:pt idx="1">
                  <c:v>29.41480167169165</c:v>
                </c:pt>
                <c:pt idx="2">
                  <c:v>32.153267535015004</c:v>
                </c:pt>
                <c:pt idx="3">
                  <c:v>16.823418687096403</c:v>
                </c:pt>
              </c:numCache>
            </c:numRef>
          </c:val>
        </c:ser>
        <c:ser>
          <c:idx val="1"/>
          <c:order val="1"/>
          <c:tx>
            <c:strRef>
              <c:f>Sheet1!$C$1</c:f>
              <c:strCache>
                <c:ptCount val="1"/>
                <c:pt idx="0">
                  <c:v>Female</c:v>
                </c:pt>
              </c:strCache>
            </c:strRef>
          </c:tx>
          <c:spPr>
            <a:solidFill>
              <a:srgbClr val="5A94DE"/>
            </a:solidFill>
          </c:spPr>
          <c:dLbls>
            <c:dLbl>
              <c:idx val="0"/>
              <c:tx>
                <c:rich>
                  <a:bodyPr/>
                  <a:lstStyle/>
                  <a:p>
                    <a:r>
                      <a:rPr lang="en-US" b="1" sz="900">
                        <a:solidFill>
                          <a:srgbClr val="2D3142"/>
                        </a:solidFill>
                      </a:rPr>
                      <a:t>28</a:t>
                    </a:r>
                  </a:p>
                </c:rich>
              </c:tx>
              <c:showLegendKey val="0"/>
              <c:showVal val="0"/>
              <c:showCatName val="0"/>
              <c:showSerName val="0"/>
              <c:showPercent val="0"/>
              <c:showBubbleSize val="0"/>
            </c:dLbl>
            <c:dLbl>
              <c:idx val="1"/>
              <c:tx>
                <c:rich>
                  <a:bodyPr/>
                  <a:lstStyle/>
                  <a:p>
                    <a:r>
                      <a:rPr lang="en-US" b="1" sz="900">
                        <a:solidFill>
                          <a:srgbClr val="2D3142"/>
                        </a:solidFill>
                      </a:rPr>
                      <a:t>35</a:t>
                    </a:r>
                  </a:p>
                </c:rich>
              </c:tx>
              <c:showLegendKey val="0"/>
              <c:showVal val="0"/>
              <c:showCatName val="0"/>
              <c:showSerName val="0"/>
              <c:showPercent val="0"/>
              <c:showBubbleSize val="0"/>
            </c:dLbl>
            <c:dLbl>
              <c:idx val="2"/>
              <c:tx>
                <c:rich>
                  <a:bodyPr/>
                  <a:lstStyle/>
                  <a:p>
                    <a:r>
                      <a:rPr lang="en-US" b="1" sz="900">
                        <a:solidFill>
                          <a:srgbClr val="2D3142"/>
                        </a:solidFill>
                      </a:rPr>
                      <a:t>26</a:t>
                    </a:r>
                  </a:p>
                </c:rich>
              </c:tx>
              <c:showLegendKey val="0"/>
              <c:showVal val="0"/>
              <c:showCatName val="0"/>
              <c:showSerName val="0"/>
              <c:showPercent val="0"/>
              <c:showBubbleSize val="0"/>
            </c:dLbl>
            <c:dLbl>
              <c:idx val="3"/>
              <c:tx>
                <c:rich>
                  <a:bodyPr/>
                  <a:lstStyle/>
                  <a:p>
                    <a:r>
                      <a:rPr lang="en-US" b="1" sz="900">
                        <a:solidFill>
                          <a:srgbClr val="2D3142"/>
                        </a:solidFill>
                      </a:rPr>
                      <a:t>10 </a:t>
                    </a:r>
                    <a:r>
                      <a:rPr lang="en-US" b="1" sz="900">
                        <a:solidFill>
                          <a:srgbClr val="EF9A9A"/>
                        </a:solidFill>
                      </a:rPr>
                      <a:t>↓</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Very worried</c:v>
                </c:pt>
                <c:pt idx="1">
                  <c:v>Somewhat worried</c:v>
                </c:pt>
                <c:pt idx="2">
                  <c:v>Not too worried</c:v>
                </c:pt>
                <c:pt idx="3">
                  <c:v>Not at all worried</c:v>
                </c:pt>
              </c:strCache>
            </c:strRef>
          </c:cat>
          <c:val>
            <c:numRef>
              <c:f>Sheet1!$C$2:$C$5</c:f>
              <c:numCache>
                <c:formatCode>0</c:formatCode>
                <c:ptCount val="4"/>
                <c:pt idx="0">
                  <c:v>28.492546420570054</c:v>
                </c:pt>
                <c:pt idx="1">
                  <c:v>35.42102989232895</c:v>
                </c:pt>
                <c:pt idx="2">
                  <c:v>26.420563623666965</c:v>
                </c:pt>
                <c:pt idx="3">
                  <c:v>9.665860063434017</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Very effective</c:v>
                </c:pt>
              </c:strCache>
            </c:strRef>
          </c:tx>
          <c:spPr>
            <a:solidFill>
              <a:srgbClr val="4A7AB8"/>
            </a:solidFill>
          </c:spPr>
          <c:dLbls>
            <c:dLbl>
              <c:idx val="0"/>
              <c:tx>
                <c:rich>
                  <a:bodyPr/>
                  <a:lstStyle/>
                  <a:p>
                    <a:r>
                      <a:rPr lang="en-US" b="1" sz="800">
                        <a:solidFill>
                          <a:srgbClr val="FFFFFF"/>
                        </a:solidFill>
                      </a:rPr>
                      <a:t>57</a:t>
                    </a:r>
                  </a:p>
                </c:rich>
              </c:tx>
              <c:showLegendKey val="0"/>
              <c:showVal val="0"/>
              <c:showCatName val="0"/>
              <c:showSerName val="0"/>
              <c:showPercent val="0"/>
              <c:showBubbleSize val="0"/>
            </c:dLbl>
            <c:dLbl>
              <c:idx val="1"/>
              <c:tx>
                <c:rich>
                  <a:bodyPr/>
                  <a:lstStyle/>
                  <a:p>
                    <a:r>
                      <a:rPr lang="en-US" b="1" sz="800">
                        <a:solidFill>
                          <a:srgbClr val="FFFFFF"/>
                        </a:solidFill>
                      </a:rPr>
                      <a:t>39</a:t>
                    </a:r>
                  </a:p>
                </c:rich>
              </c:tx>
              <c:showLegendKey val="0"/>
              <c:showVal val="0"/>
              <c:showCatName val="0"/>
              <c:showSerName val="0"/>
              <c:showPercent val="0"/>
              <c:showBubbleSize val="0"/>
            </c:dLbl>
            <c:dLbl>
              <c:idx val="2"/>
              <c:tx>
                <c:rich>
                  <a:bodyPr/>
                  <a:lstStyle/>
                  <a:p>
                    <a:r>
                      <a:rPr lang="en-US" b="1" sz="800">
                        <a:solidFill>
                          <a:srgbClr val="FFFFFF"/>
                        </a:solidFill>
                      </a:rPr>
                      <a:t>12</a:t>
                    </a:r>
                  </a:p>
                </c:rich>
              </c:tx>
              <c:showLegendKey val="0"/>
              <c:showVal val="0"/>
              <c:showCatName val="0"/>
              <c:showSerName val="0"/>
              <c:showPercent val="0"/>
              <c:showBubbleSize val="0"/>
            </c:dLbl>
            <c:dLbl>
              <c:idx val="3"/>
              <c:tx>
                <c:rich>
                  <a:bodyPr/>
                  <a:lstStyle/>
                  <a:p>
                    <a:r>
                      <a:rPr lang="en-US" b="1" sz="800">
                        <a:solidFill>
                          <a:srgbClr val="FFFFFF"/>
                        </a:solidFill>
                      </a:rPr>
                      <a:t>55</a:t>
                    </a:r>
                  </a:p>
                </c:rich>
              </c:tx>
              <c:showLegendKey val="0"/>
              <c:showVal val="0"/>
              <c:showCatName val="0"/>
              <c:showSerName val="0"/>
              <c:showPercent val="0"/>
              <c:showBubbleSize val="0"/>
            </c:dLbl>
            <c:dLbl>
              <c:idx val="4"/>
              <c:tx>
                <c:rich>
                  <a:bodyPr/>
                  <a:lstStyle/>
                  <a:p>
                    <a:r>
                      <a:rPr lang="en-US" b="1" sz="800">
                        <a:solidFill>
                          <a:srgbClr val="FFFFFF"/>
                        </a:solidFill>
                      </a:rPr>
                      <a:t>40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Preventing people with mental illnesses from purchasing guns </c:v>
                </c:pt>
                <c:pt idx="1">
                  <c:v>Banning assault-style weapons</c:v>
                </c:pt>
                <c:pt idx="2">
                  <c:v>Allowing teachers and school officials to carry guns in schools</c:v>
                </c:pt>
                <c:pt idx="3">
                  <c:v>Improving mental health screening and treatment</c:v>
                </c:pt>
                <c:pt idx="4">
                  <c:v>Having metal detectors in schools</c:v>
                </c:pt>
              </c:strCache>
            </c:strRef>
          </c:cat>
          <c:val>
            <c:numRef>
              <c:f>Sheet1!$B$2:$B$6</c:f>
              <c:numCache>
                <c:formatCode>0</c:formatCode>
                <c:ptCount val="5"/>
                <c:pt idx="0">
                  <c:v>56.56357249636087</c:v>
                </c:pt>
                <c:pt idx="1">
                  <c:v>38.974390486523234</c:v>
                </c:pt>
                <c:pt idx="2">
                  <c:v>11.553513885679248</c:v>
                </c:pt>
                <c:pt idx="3">
                  <c:v>55.16788260007445</c:v>
                </c:pt>
                <c:pt idx="4">
                  <c:v>40.3186736162492</c:v>
                </c:pt>
              </c:numCache>
            </c:numRef>
          </c:val>
        </c:ser>
        <c:ser>
          <c:idx val="1"/>
          <c:order val="1"/>
          <c:tx>
            <c:strRef>
              <c:f>Sheet1!$C$1</c:f>
              <c:strCache>
                <c:ptCount val="1"/>
                <c:pt idx="0">
                  <c:v>Somewhat effective</c:v>
                </c:pt>
              </c:strCache>
            </c:strRef>
          </c:tx>
          <c:spPr>
            <a:solidFill>
              <a:srgbClr val="5A94DE"/>
            </a:solidFill>
          </c:spPr>
          <c:dLbls>
            <c:dLbl>
              <c:idx val="0"/>
              <c:tx>
                <c:rich>
                  <a:bodyPr/>
                  <a:lstStyle/>
                  <a:p>
                    <a:r>
                      <a:rPr lang="en-US" b="1" sz="800">
                        <a:solidFill>
                          <a:srgbClr val="FFFFFF"/>
                        </a:solidFill>
                      </a:rPr>
                      <a:t>29</a:t>
                    </a:r>
                  </a:p>
                </c:rich>
              </c:tx>
              <c:showLegendKey val="0"/>
              <c:showVal val="0"/>
              <c:showCatName val="0"/>
              <c:showSerName val="0"/>
              <c:showPercent val="0"/>
              <c:showBubbleSize val="0"/>
            </c:dLbl>
            <c:dLbl>
              <c:idx val="1"/>
              <c:tx>
                <c:rich>
                  <a:bodyPr/>
                  <a:lstStyle/>
                  <a:p>
                    <a:r>
                      <a:rPr lang="en-US" b="1" sz="800">
                        <a:solidFill>
                          <a:srgbClr val="FFFFFF"/>
                        </a:solidFill>
                      </a:rPr>
                      <a:t>27</a:t>
                    </a:r>
                  </a:p>
                </c:rich>
              </c:tx>
              <c:showLegendKey val="0"/>
              <c:showVal val="0"/>
              <c:showCatName val="0"/>
              <c:showSerName val="0"/>
              <c:showPercent val="0"/>
              <c:showBubbleSize val="0"/>
            </c:dLbl>
            <c:dLbl>
              <c:idx val="2"/>
              <c:tx>
                <c:rich>
                  <a:bodyPr/>
                  <a:lstStyle/>
                  <a:p>
                    <a:r>
                      <a:rPr lang="en-US" b="1" sz="800">
                        <a:solidFill>
                          <a:srgbClr val="FFFFFF"/>
                        </a:solidFill>
                      </a:rPr>
                      <a:t>27</a:t>
                    </a:r>
                  </a:p>
                </c:rich>
              </c:tx>
              <c:showLegendKey val="0"/>
              <c:showVal val="0"/>
              <c:showCatName val="0"/>
              <c:showSerName val="0"/>
              <c:showPercent val="0"/>
              <c:showBubbleSize val="0"/>
            </c:dLbl>
            <c:dLbl>
              <c:idx val="3"/>
              <c:tx>
                <c:rich>
                  <a:bodyPr/>
                  <a:lstStyle/>
                  <a:p>
                    <a:r>
                      <a:rPr lang="en-US" b="1" sz="800">
                        <a:solidFill>
                          <a:srgbClr val="FFFFFF"/>
                        </a:solidFill>
                      </a:rPr>
                      <a:t>31</a:t>
                    </a:r>
                  </a:p>
                </c:rich>
              </c:tx>
              <c:showLegendKey val="0"/>
              <c:showVal val="0"/>
              <c:showCatName val="0"/>
              <c:showSerName val="0"/>
              <c:showPercent val="0"/>
              <c:showBubbleSize val="0"/>
            </c:dLbl>
            <c:dLbl>
              <c:idx val="4"/>
              <c:tx>
                <c:rich>
                  <a:bodyPr/>
                  <a:lstStyle/>
                  <a:p>
                    <a:r>
                      <a:rPr lang="en-US" b="1" sz="800">
                        <a:solidFill>
                          <a:srgbClr val="FFFFFF"/>
                        </a:solidFill>
                      </a:rPr>
                      <a:t>39</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Preventing people with mental illnesses from purchasing guns </c:v>
                </c:pt>
                <c:pt idx="1">
                  <c:v>Banning assault-style weapons</c:v>
                </c:pt>
                <c:pt idx="2">
                  <c:v>Allowing teachers and school officials to carry guns in schools</c:v>
                </c:pt>
                <c:pt idx="3">
                  <c:v>Improving mental health screening and treatment</c:v>
                </c:pt>
                <c:pt idx="4">
                  <c:v>Having metal detectors in schools</c:v>
                </c:pt>
              </c:strCache>
            </c:strRef>
          </c:cat>
          <c:val>
            <c:numRef>
              <c:f>Sheet1!$C$2:$C$6</c:f>
              <c:numCache>
                <c:formatCode>0</c:formatCode>
                <c:ptCount val="5"/>
                <c:pt idx="0">
                  <c:v>29.306929516191826</c:v>
                </c:pt>
                <c:pt idx="1">
                  <c:v>27.052530065562237</c:v>
                </c:pt>
                <c:pt idx="2">
                  <c:v>27.257053657929898</c:v>
                </c:pt>
                <c:pt idx="3">
                  <c:v>31.107530881789025</c:v>
                </c:pt>
                <c:pt idx="4">
                  <c:v>38.51406430470502</c:v>
                </c:pt>
              </c:numCache>
            </c:numRef>
          </c:val>
        </c:ser>
        <c:ser>
          <c:idx val="2"/>
          <c:order val="2"/>
          <c:tx>
            <c:strRef>
              <c:f>Sheet1!$D$1</c:f>
              <c:strCache>
                <c:ptCount val="1"/>
                <c:pt idx="0">
                  <c:v>Not too effective</c:v>
                </c:pt>
              </c:strCache>
            </c:strRef>
          </c:tx>
          <c:spPr>
            <a:solidFill>
              <a:srgbClr val="8EBAEB"/>
            </a:solidFill>
          </c:spPr>
          <c:dLbls>
            <c:dLbl>
              <c:idx val="0"/>
              <c:tx>
                <c:rich>
                  <a:bodyPr/>
                  <a:lstStyle/>
                  <a:p>
                    <a:r>
                      <a:rPr lang="en-US" b="1" sz="800">
                        <a:solidFill>
                          <a:srgbClr val="2D3142"/>
                        </a:solidFill>
                      </a:rPr>
                      <a:t>10</a:t>
                    </a:r>
                  </a:p>
                </c:rich>
              </c:tx>
              <c:showLegendKey val="0"/>
              <c:showVal val="0"/>
              <c:showCatName val="0"/>
              <c:showSerName val="0"/>
              <c:showPercent val="0"/>
              <c:showBubbleSize val="0"/>
            </c:dLbl>
            <c:dLbl>
              <c:idx val="1"/>
              <c:tx>
                <c:rich>
                  <a:bodyPr/>
                  <a:lstStyle/>
                  <a:p>
                    <a:r>
                      <a:rPr lang="en-US" b="1" sz="800">
                        <a:solidFill>
                          <a:srgbClr val="2D3142"/>
                        </a:solidFill>
                      </a:rPr>
                      <a:t>17</a:t>
                    </a:r>
                  </a:p>
                </c:rich>
              </c:tx>
              <c:showLegendKey val="0"/>
              <c:showVal val="0"/>
              <c:showCatName val="0"/>
              <c:showSerName val="0"/>
              <c:showPercent val="0"/>
              <c:showBubbleSize val="0"/>
            </c:dLbl>
            <c:dLbl>
              <c:idx val="2"/>
              <c:tx>
                <c:rich>
                  <a:bodyPr/>
                  <a:lstStyle/>
                  <a:p>
                    <a:r>
                      <a:rPr lang="en-US" b="1" sz="800">
                        <a:solidFill>
                          <a:srgbClr val="2D3142"/>
                        </a:solidFill>
                      </a:rPr>
                      <a:t>26</a:t>
                    </a:r>
                  </a:p>
                </c:rich>
              </c:tx>
              <c:showLegendKey val="0"/>
              <c:showVal val="0"/>
              <c:showCatName val="0"/>
              <c:showSerName val="0"/>
              <c:showPercent val="0"/>
              <c:showBubbleSize val="0"/>
            </c:dLbl>
            <c:dLbl>
              <c:idx val="3"/>
              <c:tx>
                <c:rich>
                  <a:bodyPr/>
                  <a:lstStyle/>
                  <a:p>
                    <a:r>
                      <a:rPr lang="en-US" b="1" sz="800">
                        <a:solidFill>
                          <a:srgbClr val="2D3142"/>
                        </a:solidFill>
                      </a:rPr>
                      <a:t>9</a:t>
                    </a:r>
                  </a:p>
                </c:rich>
              </c:tx>
              <c:showLegendKey val="0"/>
              <c:showVal val="0"/>
              <c:showCatName val="0"/>
              <c:showSerName val="0"/>
              <c:showPercent val="0"/>
              <c:showBubbleSize val="0"/>
            </c:dLbl>
            <c:dLbl>
              <c:idx val="4"/>
              <c:tx>
                <c:rich>
                  <a:bodyPr/>
                  <a:lstStyle/>
                  <a:p>
                    <a:r>
                      <a:rPr lang="en-US" b="1" sz="800">
                        <a:solidFill>
                          <a:srgbClr val="2D3142"/>
                        </a:solidFill>
                      </a:rPr>
                      <a:t>13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Preventing people with mental illnesses from purchasing guns </c:v>
                </c:pt>
                <c:pt idx="1">
                  <c:v>Banning assault-style weapons</c:v>
                </c:pt>
                <c:pt idx="2">
                  <c:v>Allowing teachers and school officials to carry guns in schools</c:v>
                </c:pt>
                <c:pt idx="3">
                  <c:v>Improving mental health screening and treatment</c:v>
                </c:pt>
                <c:pt idx="4">
                  <c:v>Having metal detectors in schools</c:v>
                </c:pt>
              </c:strCache>
            </c:strRef>
          </c:cat>
          <c:val>
            <c:numRef>
              <c:f>Sheet1!$D$2:$D$6</c:f>
              <c:numCache>
                <c:formatCode>0</c:formatCode>
                <c:ptCount val="5"/>
                <c:pt idx="0">
                  <c:v>9.90181930981132</c:v>
                </c:pt>
                <c:pt idx="1">
                  <c:v>17.219306540491267</c:v>
                </c:pt>
                <c:pt idx="2">
                  <c:v>26.431643259539804</c:v>
                </c:pt>
                <c:pt idx="3">
                  <c:v>9.48855411440709</c:v>
                </c:pt>
                <c:pt idx="4">
                  <c:v>13.455089663304742</c:v>
                </c:pt>
              </c:numCache>
            </c:numRef>
          </c:val>
        </c:ser>
        <c:ser>
          <c:idx val="3"/>
          <c:order val="3"/>
          <c:tx>
            <c:strRef>
              <c:f>Sheet1!$E$1</c:f>
              <c:strCache>
                <c:ptCount val="1"/>
                <c:pt idx="0">
                  <c:v>Not at all effective</c:v>
                </c:pt>
              </c:strCache>
            </c:strRef>
          </c:tx>
          <c:spPr>
            <a:solidFill>
              <a:srgbClr val="C3DDF7"/>
            </a:solidFill>
          </c:spPr>
          <c:dLbls>
            <c:dLbl>
              <c:idx val="0"/>
              <c:tx>
                <c:rich>
                  <a:bodyPr/>
                  <a:lstStyle/>
                  <a:p>
                    <a:r>
                      <a:rPr lang="en-US" b="1" sz="800">
                        <a:solidFill>
                          <a:srgbClr val="2D3142"/>
                        </a:solidFill>
                      </a:rPr>
                      <a:t>4</a:t>
                    </a:r>
                  </a:p>
                </c:rich>
              </c:tx>
              <c:showLegendKey val="0"/>
              <c:showVal val="0"/>
              <c:showCatName val="0"/>
              <c:showSerName val="0"/>
              <c:showPercent val="0"/>
              <c:showBubbleSize val="0"/>
            </c:dLbl>
            <c:dLbl>
              <c:idx val="1"/>
              <c:tx>
                <c:rich>
                  <a:bodyPr/>
                  <a:lstStyle/>
                  <a:p>
                    <a:r>
                      <a:rPr lang="en-US" b="1" sz="800">
                        <a:solidFill>
                          <a:srgbClr val="2D3142"/>
                        </a:solidFill>
                      </a:rPr>
                      <a:t>17</a:t>
                    </a:r>
                  </a:p>
                </c:rich>
              </c:tx>
              <c:showLegendKey val="0"/>
              <c:showVal val="0"/>
              <c:showCatName val="0"/>
              <c:showSerName val="0"/>
              <c:showPercent val="0"/>
              <c:showBubbleSize val="0"/>
            </c:dLbl>
            <c:dLbl>
              <c:idx val="2"/>
              <c:tx>
                <c:rich>
                  <a:bodyPr/>
                  <a:lstStyle/>
                  <a:p>
                    <a:r>
                      <a:rPr lang="en-US" b="1" sz="800">
                        <a:solidFill>
                          <a:srgbClr val="2D3142"/>
                        </a:solidFill>
                      </a:rPr>
                      <a:t>35</a:t>
                    </a:r>
                  </a:p>
                </c:rich>
              </c:tx>
              <c:showLegendKey val="0"/>
              <c:showVal val="0"/>
              <c:showCatName val="0"/>
              <c:showSerName val="0"/>
              <c:showPercent val="0"/>
              <c:showBubbleSize val="0"/>
            </c:dLbl>
            <c:dLbl>
              <c:idx val="3"/>
              <c:tx>
                <c:rich>
                  <a:bodyPr/>
                  <a:lstStyle/>
                  <a:p>
                    <a:r>
                      <a:rPr lang="en-US" b="1" sz="800">
                        <a:solidFill>
                          <a:srgbClr val="2D3142"/>
                        </a:solidFill>
                      </a:rPr>
                      <a:t>4</a:t>
                    </a:r>
                  </a:p>
                </c:rich>
              </c:tx>
              <c:showLegendKey val="0"/>
              <c:showVal val="0"/>
              <c:showCatName val="0"/>
              <c:showSerName val="0"/>
              <c:showPercent val="0"/>
              <c:showBubbleSize val="0"/>
            </c:dLbl>
            <c:dLbl>
              <c:idx val="4"/>
              <c:tx>
                <c:rich>
                  <a:bodyPr/>
                  <a:lstStyle/>
                  <a:p>
                    <a:r>
                      <a:rPr lang="en-US" b="1" sz="800">
                        <a:solidFill>
                          <a:srgbClr val="2D3142"/>
                        </a:solidFill>
                      </a:rPr>
                      <a:t>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Preventing people with mental illnesses from purchasing guns </c:v>
                </c:pt>
                <c:pt idx="1">
                  <c:v>Banning assault-style weapons</c:v>
                </c:pt>
                <c:pt idx="2">
                  <c:v>Allowing teachers and school officials to carry guns in schools</c:v>
                </c:pt>
                <c:pt idx="3">
                  <c:v>Improving mental health screening and treatment</c:v>
                </c:pt>
                <c:pt idx="4">
                  <c:v>Having metal detectors in schools</c:v>
                </c:pt>
              </c:strCache>
            </c:strRef>
          </c:cat>
          <c:val>
            <c:numRef>
              <c:f>Sheet1!$E$2:$E$6</c:f>
              <c:numCache>
                <c:formatCode>0</c:formatCode>
                <c:ptCount val="5"/>
                <c:pt idx="0">
                  <c:v>3.999206044645445</c:v>
                </c:pt>
                <c:pt idx="1">
                  <c:v>16.552590060461235</c:v>
                </c:pt>
                <c:pt idx="2">
                  <c:v>34.54163231362507</c:v>
                </c:pt>
                <c:pt idx="3">
                  <c:v>3.5979975672404505</c:v>
                </c:pt>
                <c:pt idx="4">
                  <c:v>7.439724583929122</c:v>
                </c:pt>
              </c:numCache>
            </c:numRef>
          </c:val>
        </c:ser>
        <c:ser>
          <c:idx val="4"/>
          <c:order val="4"/>
          <c:tx>
            <c:strRef>
              <c:f>Sheet1!$F$1</c:f>
              <c:strCache>
                <c:ptCount val="1"/>
                <c:pt idx="0">
                  <c:v>DON’T KNOW</c:v>
                </c:pt>
              </c:strCache>
            </c:strRef>
          </c:tx>
          <c:spPr>
            <a:solidFill>
              <a:srgbClr val="E1EDFA"/>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0</a:t>
                    </a:r>
                  </a:p>
                </c:rich>
              </c:tx>
              <c:showLegendKey val="0"/>
              <c:showVal val="0"/>
              <c:showCatName val="0"/>
              <c:showSerName val="0"/>
              <c:showPercent val="0"/>
              <c:showBubbleSize val="0"/>
            </c:dLbl>
            <c:dLbl>
              <c:idx val="2"/>
              <c:tx>
                <c:rich>
                  <a:bodyPr/>
                  <a:lstStyle/>
                  <a:p>
                    <a:r>
                      <a:rPr lang="en-US" b="1" sz="800">
                        <a:solidFill>
                          <a:srgbClr val="2D3142"/>
                        </a:solidFill>
                      </a:rPr>
                      <a:t>0</a:t>
                    </a:r>
                  </a:p>
                </c:rich>
              </c:tx>
              <c:showLegendKey val="0"/>
              <c:showVal val="0"/>
              <c:showCatName val="0"/>
              <c:showSerName val="0"/>
              <c:showPercent val="0"/>
              <c:showBubbleSize val="0"/>
            </c:dLbl>
            <c:dLbl>
              <c:idx val="3"/>
              <c:tx>
                <c:rich>
                  <a:bodyPr/>
                  <a:lstStyle/>
                  <a:p>
                    <a:r>
                      <a:rPr lang="en-US" b="1" sz="800">
                        <a:solidFill>
                          <a:srgbClr val="2D3142"/>
                        </a:solidFill>
                      </a:rPr>
                      <a:t>0</a:t>
                    </a:r>
                  </a:p>
                </c:rich>
              </c:tx>
              <c:showLegendKey val="0"/>
              <c:showVal val="0"/>
              <c:showCatName val="0"/>
              <c:showSerName val="0"/>
              <c:showPercent val="0"/>
              <c:showBubbleSize val="0"/>
            </c:dLbl>
            <c:dLbl>
              <c:idx val="4"/>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Preventing people with mental illnesses from purchasing guns </c:v>
                </c:pt>
                <c:pt idx="1">
                  <c:v>Banning assault-style weapons</c:v>
                </c:pt>
                <c:pt idx="2">
                  <c:v>Allowing teachers and school officials to carry guns in schools</c:v>
                </c:pt>
                <c:pt idx="3">
                  <c:v>Improving mental health screening and treatment</c:v>
                </c:pt>
                <c:pt idx="4">
                  <c:v>Having metal detectors in schools</c:v>
                </c:pt>
              </c:strCache>
            </c:strRef>
          </c:cat>
          <c:val>
            <c:numRef>
              <c:f>Sheet1!$F$2:$F$6</c:f>
              <c:numCache>
                <c:formatCode>0</c:formatCode>
                <c:ptCount val="5"/>
                <c:pt idx="0">
                  <c:v>0.0</c:v>
                </c:pt>
                <c:pt idx="1">
                  <c:v>0.0</c:v>
                </c:pt>
                <c:pt idx="2">
                  <c:v>0.10752099135318137</c:v>
                </c:pt>
                <c:pt idx="3">
                  <c:v>0.10752099135318137</c:v>
                </c:pt>
                <c:pt idx="4">
                  <c:v>0.0</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chart" Target="../charts/char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BF9"/>
        </a:solidFill>
        <a:effectLst/>
      </p:bgPr>
    </p:bg>
    <p:spTree>
      <p:nvGrpSpPr>
        <p:cNvPr id="1" name=""/>
        <p:cNvGrpSpPr/>
        <p:nvPr/>
      </p:nvGrpSpPr>
      <p:grpSpPr/>
      <p:sp>
        <p:nvSpPr>
          <p:cNvPr id="2" name="Rounded Rectangle 1"/>
          <p:cNvSpPr/>
          <p:nvPr/>
        </p:nvSpPr>
        <p:spPr>
          <a:xfrm rot="2700000">
            <a:off x="7315200" y="-1828800"/>
            <a:ext cx="3657600" cy="8229600"/>
          </a:xfrm>
          <a:prstGeom prst="roundRect">
            <a:avLst>
              <a:gd name="adj" fmla="val 50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rot="2700000">
            <a:off x="9601200" y="3200400"/>
            <a:ext cx="1828800" cy="45720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2700000">
            <a:off x="7772400" y="5029200"/>
            <a:ext cx="731520" cy="2286000"/>
          </a:xfrm>
          <a:prstGeom prst="roundRect">
            <a:avLst>
              <a:gd name="adj" fmla="val 50000"/>
            </a:avLst>
          </a:prstGeom>
          <a:solidFill>
            <a:srgbClr val="5A9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ver_Title"/>
          <p:cNvSpPr txBox="1"/>
          <p:nvPr/>
        </p:nvSpPr>
        <p:spPr>
          <a:xfrm>
            <a:off x="1097280" y="2286000"/>
            <a:ext cx="7333488" cy="1828800"/>
          </a:xfrm>
          <a:prstGeom prst="rect">
            <a:avLst/>
          </a:prstGeom>
          <a:noFill/>
        </p:spPr>
        <p:txBody>
          <a:bodyPr wrap="square">
            <a:spAutoFit/>
          </a:bodyPr>
          <a:lstStyle/>
          <a:p>
            <a:pPr>
              <a:defRPr sz="5600" b="1">
                <a:solidFill>
                  <a:srgbClr val="4A5568"/>
                </a:solidFill>
                <a:latin typeface="Century Gothic"/>
              </a:defRPr>
            </a:pPr>
            <a:r>
              <a:t>Teens, Social Media &amp; Technology 2024</a:t>
            </a:r>
          </a:p>
        </p:txBody>
      </p:sp>
      <p:sp>
        <p:nvSpPr>
          <p:cNvPr id="6" name="Cover_Subtitle"/>
          <p:cNvSpPr txBox="1"/>
          <p:nvPr/>
        </p:nvSpPr>
        <p:spPr>
          <a:xfrm>
            <a:off x="1143000" y="4846320"/>
            <a:ext cx="6400800" cy="914400"/>
          </a:xfrm>
          <a:prstGeom prst="rect">
            <a:avLst/>
          </a:prstGeom>
          <a:noFill/>
        </p:spPr>
        <p:txBody>
          <a:bodyPr wrap="square">
            <a:spAutoFit/>
          </a:bodyPr>
          <a:lstStyle/>
          <a:p>
            <a:pPr>
              <a:defRPr sz="2000">
                <a:solidFill>
                  <a:srgbClr val="A0AEC0"/>
                </a:solidFill>
                <a:latin typeface="Century Gothic"/>
              </a:defRPr>
            </a:pPr>
            <a:r>
              <a:t>A Survey of American Adolescents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500000">
            <a:off x="274320" y="365760"/>
            <a:ext cx="137160" cy="548640"/>
          </a:xfrm>
          <a:prstGeom prst="roundRect">
            <a:avLst>
              <a:gd name="adj" fmla="val 50000"/>
            </a:avLst>
          </a:prstGeom>
          <a:solidFill>
            <a:srgbClr val="5A9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xec_Title"/>
          <p:cNvSpPr txBox="1"/>
          <p:nvPr/>
        </p:nvSpPr>
        <p:spPr>
          <a:xfrm>
            <a:off x="548640" y="320040"/>
            <a:ext cx="3931920" cy="548640"/>
          </a:xfrm>
          <a:prstGeom prst="rect">
            <a:avLst/>
          </a:prstGeom>
          <a:noFill/>
        </p:spPr>
        <p:txBody>
          <a:bodyPr wrap="none">
            <a:spAutoFit/>
          </a:bodyPr>
          <a:lstStyle/>
          <a:p>
            <a:pPr>
              <a:defRPr sz="2600" b="1">
                <a:solidFill>
                  <a:srgbClr val="4A5568"/>
                </a:solidFill>
                <a:latin typeface="Century Gothic"/>
              </a:defRPr>
            </a:pPr>
            <a:r>
              <a:t>Executive Summary</a:t>
            </a:r>
          </a:p>
        </p:txBody>
      </p:sp>
      <p:sp>
        <p:nvSpPr>
          <p:cNvPr id="4" name="Rectangle 3"/>
          <p:cNvSpPr/>
          <p:nvPr/>
        </p:nvSpPr>
        <p:spPr>
          <a:xfrm>
            <a:off x="457200" y="150876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0876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Digital Access Is Universal, But Homework Equity Isn't</a:t>
            </a:r>
            <a:r>
              <a:rPr b="0" sz="1100">
                <a:solidFill>
                  <a:srgbClr val="333333"/>
                </a:solidFill>
                <a:latin typeface="Calibri"/>
              </a:rPr>
              <a:t> — Nearly all teens have smartphones and computers, yet 16% regularly struggle with unreliable internet or must use public Wi-Fi to complete assignments, signaling a persistent connectivity gap beneath surface-level device ownership.</a:t>
            </a:r>
          </a:p>
        </p:txBody>
      </p:sp>
      <p:sp>
        <p:nvSpPr>
          <p:cNvPr id="7" name="Rectangle 6"/>
          <p:cNvSpPr/>
          <p:nvPr/>
        </p:nvSpPr>
        <p:spPr>
          <a:xfrm>
            <a:off x="457200" y="231648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1648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648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Online Connection Dominates, In-Person Time Declines</a:t>
            </a:r>
            <a:r>
              <a:rPr b="0" sz="1100">
                <a:solidFill>
                  <a:srgbClr val="333333"/>
                </a:solidFill>
                <a:latin typeface="Calibri"/>
              </a:rPr>
              <a:t> — 60% of teens connect with friends online daily versus 24% in person, driven less by preference than by structural barriers like transportation, scheduling conflicts, and parental restrictions that make physical meetups harder to coordinate.</a:t>
            </a:r>
          </a:p>
        </p:txBody>
      </p:sp>
      <p:sp>
        <p:nvSpPr>
          <p:cNvPr id="10" name="Rectangle 9"/>
          <p:cNvSpPr/>
          <p:nvPr/>
        </p:nvSpPr>
        <p:spPr>
          <a:xfrm>
            <a:off x="457200" y="312420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12420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12420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Social Media Feels Essential Yet Exhausting</a:t>
            </a:r>
            <a:r>
              <a:rPr b="0" sz="1100">
                <a:solidFill>
                  <a:srgbClr val="333333"/>
                </a:solidFill>
                <a:latin typeface="Calibri"/>
              </a:rPr>
              <a:t> — Teens recognize platforms as vital for staying connected and expressing creativity, but nearly half report feeling overwhelmed by drama, pressured to curate content for validation, and anxious without their phones, revealing a relationship built on dependency rather than joy.</a:t>
            </a:r>
          </a:p>
        </p:txBody>
      </p:sp>
      <p:sp>
        <p:nvSpPr>
          <p:cNvPr id="13" name="Rectangle 12"/>
          <p:cNvSpPr/>
          <p:nvPr/>
        </p:nvSpPr>
        <p:spPr>
          <a:xfrm>
            <a:off x="457200" y="393192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3192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Harassment Is Pervasive and Inadequately Addressed</a:t>
            </a:r>
            <a:r>
              <a:rPr b="0" sz="1100">
                <a:solidFill>
                  <a:srgbClr val="333333"/>
                </a:solidFill>
                <a:latin typeface="Calibri"/>
              </a:rPr>
              <a:t> — 60% of teens view online bullying as a major problem, with 42% personally experiencing offensive name-calling and 32% targeted by false rumors; teens rate social platforms, elected officials, and bystanders as performing poorly in prevention, leaving responsibility unclear.</a:t>
            </a:r>
          </a:p>
        </p:txBody>
      </p:sp>
      <p:sp>
        <p:nvSpPr>
          <p:cNvPr id="16" name="Rectangle 15"/>
          <p:cNvSpPr/>
          <p:nvPr/>
        </p:nvSpPr>
        <p:spPr>
          <a:xfrm>
            <a:off x="457200" y="473964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73964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73964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Mental Health Concerns Trump All Other Prevention Strategies</a:t>
            </a:r>
            <a:r>
              <a:rPr b="0" sz="1100">
                <a:solidFill>
                  <a:srgbClr val="333333"/>
                </a:solidFill>
                <a:latin typeface="Calibri"/>
              </a:rPr>
              <a:t> — 56% believe preventing gun purchases by those with mental illness would be very effective at stopping school shootings, and 55% prioritize improved mental health screening, far outpacing support for arming teachers (12%) or banning assault weapons (39%), pointing to a consensus around intervention over enforcement.</a:t>
            </a:r>
          </a:p>
        </p:txBody>
      </p:sp>
      <p:sp>
        <p:nvSpPr>
          <p:cNvPr id="19" name="Rectangle 18"/>
          <p:cNvSpPr/>
          <p:nvPr/>
        </p:nvSpPr>
        <p:spPr>
          <a:xfrm>
            <a:off x="457200" y="554736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547360"/>
            <a:ext cx="91440" cy="670560"/>
          </a:xfrm>
          <a:prstGeom prst="rect">
            <a:avLst/>
          </a:prstGeom>
          <a:solidFill>
            <a:srgbClr val="5A94DE"/>
          </a:solidFill>
          <a:ln>
            <a:solidFill>
              <a:srgbClr val="5A9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547360"/>
            <a:ext cx="10957255" cy="670560"/>
          </a:xfrm>
          <a:prstGeom prst="rect">
            <a:avLst/>
          </a:prstGeom>
          <a:noFill/>
        </p:spPr>
        <p:txBody>
          <a:bodyPr wrap="square" anchor="ctr">
            <a:spAutoFit/>
          </a:bodyPr>
          <a:lstStyle/>
          <a:p>
            <a:pPr algn="l">
              <a:lnSpc>
                <a:spcPct val="110000"/>
              </a:lnSpc>
            </a:pPr>
            <a:r>
              <a:rPr b="1" sz="1200">
                <a:solidFill>
                  <a:srgbClr val="5A94DE"/>
                </a:solidFill>
                <a:latin typeface="Calibri"/>
              </a:rPr>
              <a:t>Curation and Self-Protection Are Constant Work</a:t>
            </a:r>
            <a:r>
              <a:rPr b="0" sz="1100">
                <a:solidFill>
                  <a:srgbClr val="333333"/>
                </a:solidFill>
                <a:latin typeface="Calibri"/>
              </a:rPr>
              <a:t> — Teens actively manage their digital footprint by unfollowing drama-creators (78%), deleting posts to avoid future consequences (34%), and hiding content from parents (30%), treating social media as a space requiring vigilant boundary-setting rather than spontaneous self-expression.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01</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Device Access &amp; Digital Divide</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What technology do teens have at home? Who lacks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Device Access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Device access is nearly universal — 95% have smartphones, 88% have computers — but ownership alone doesn't guarantee equitable participation in school or social life, especially when connectivity remains unstable.</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At home, do you have or have access to...?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At home, do you have or have access to...?</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Homework Barriers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Most teens navigate homework without major tech barriers, but 12% regularly face unreliable internet or must resort to public Wi-Fi, and 35% sometimes complete assignments on their phones, signaling persistent equity gaps beneath surface-level access.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often, if ever, do you experience each of the following?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teens experience homework-related technology barriers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02</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Friendship &amp; Connection</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How do teens spend time with friends? In-person vs. online dynamics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In-Person vs. Online Friend Time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Online socializing dominates daily life for 60% of teens compared to just 24% who see friends in person daily, reflecting a structural shift where digital connection has become the default mode of peer interaction.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often do you get together with friends in person?   ·   Base (asked): 743  |  How often do you get together with friends online?   ·   Significance testing (HIGH% / LOW%): ▲/▼ (or ↑/↓) indicates significantly higher/lower than the preceding group (Order: in person → online).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How often get together with friends IN PERSON</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How often get together with friends ONLINE</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In-Person Friend Time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Gender differences in face-to-face socializing are modest, with males slightly more likely to meet friends several times a week (30% vs. 22%), suggesting in-person time constraints affect teens broadly rather than skewing heavily by identity.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Total=743 | Male=348 | Female=393  |  How often do you get together with friends in person?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Gender differences in face-to-face socializing frequency</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Barriers to In-Person Time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Competing obligations — both their own (41%) and their friends' (34%) — are the top barriers to in-person time, outweighing transportation challenges (32%) and revealing that busyness, not preference, drives the shift toward online connection.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Why not spend MORE time with your friends in person outside of school?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Why not spend MORE time with friends in person outside of school?</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Diversity of Friend Networks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Friend networks are diverse and school-anchored: 89% include school peers, 63% cross gender lines, and 61% span race or ethnicity, but only 16% include someone first met online, showing digital platforms supplement rather than replace offline relationships.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724  |  Are any of your close friends...?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Are any of your close friends...?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03</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Social Media Use &amp; Attitudes</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Which platforms? What's the overall sentiment? Why positive or negative?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Social Media Platform Use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YouTube (85%), Instagram (72%), and Snapchat (69%) dominate teen platform use, with Facebook trailing at 51% and niche platforms like Reddit and Tumblr under 10%, signaling a visual-first, video-driven media diet.</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Do you ever use any of the following social media sites?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 of teens who use each social media platform</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Most-Used Platform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Snapchat is the most-used platform for girls (48% vs. 33% for boys), while boys favor YouTube (35% vs. 22%), revealing gendered preferences for ephemeral messaging versus long-form video content that platforms should design around.</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Total=634 | Male=295 | Female=337  |  Which one of these sites do you use most often?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Which social media site do you use most often?</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Overall Effect of Social Media</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Teens are split on social media's overall impact — 31% see it as mostly positive, 24% mostly negative, and 45% neutral — suggesting ambivalence rooted in simultaneous benefits (connection) and costs (drama, pressure) that coexist daily.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Overall, what effect would you say social media has had on people your age?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What effect has social media had on people your age?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Overall Effect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Girls are more likely than boys to view social media negatively (28% vs. 21%), hinting at heightened exposure to relational conflict, appearance pressure, or harassment that makes the platform experience feel more taxing for young women.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Total=743 | Male=348 | Female=393  |  Overall, what effect would you say social media has had on people your age?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Overall effect of social media — by gender</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Why Positive?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For teens who view social media positively, connection with friends and family is the overwhelming driver (100%), with information access and self-expression barely registering, underscoring that platforms win or lose on their ability to facilitate meaningful relationships.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91  |  What is the main reason you think social media has a “mostly positive ef...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Main reasons teens see social media as mostly positive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04</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Social Media Behavior &amp; Feelings</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What do teens post? How does social media make them feel?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Posting Frequency</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Posting is selective rather than constant: only 16% share selfies often, 11% post original videos frequently, and 43% never try to make content go viral, revealing a cautious, audience-aware approach to self-presentation over performative oversharing.</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How often, if ever, do you post the following things on social media?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 post the following on social media?</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Posting Selfies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Girls post selfies far more often than boys (22% vs. 10% posting often), and boys are twice as likely to never post them (38% vs. 15%), reflecting gendered norms around self-presentation and visual identity work that platforms amplify.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Total=720 | Male=336 | Female=382  |  How often, if ever, do you post the following things on social media?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 post selfies? — by gender</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Topics Posted About</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Teens post most about accomplishments (51%) and family (46%), while only 10% share religious beliefs and 10% political views, suggesting social media serves as a highlight reel for safe, socially affirming content rather than a space for ideological expression.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Which of the following things, if any, do you ever post about on social ...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Which topics do you post about on social media?</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Positive Feelings from Social Media</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Social media delivers on connection: 71% feel more in touch with friends' feelings, 84% feel more connected to their lives, and 70% sense support during tough times, validating the platform's core promise of relational closeness despite its downsides.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In general, does what you see on social media make you feel...?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Does social media make you feel...? (Positive dimensions)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Negative Feelings from Social Media</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Negative effects are real but less universal: 27% feel worse about their own lives, 47% feel overwhelmed by drama, and 44% feel pressure to curate content for validation, showing costs are concentrated among a sizable minority rather than evenly distributed.</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In general, does what you see on social media make you feel...?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Does social media make you feel...? (Negative dimensions)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Pressure to Look Good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Girls feel significantly more pressure to post content that looks good (20% a lot vs. 10% for boys), revealing gendered performance anxiety that platforms could address through design choices that reduce social comparison and appearance-based feedback loops.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Total=720 | Male=336 | Female=382  |  In general, does what you see on social media make you feel...?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Pressure to post content that makes you look good — by gender</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Feelings When Using Social Media</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Most teens feel authentic (66%), confident (72%), and included (74%) on social media, but a meaningful minority feel fake (34%), insecure (27%), or excluded (26%), pointing to a bifurcated experience where platforms work well for some and alienate others.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How do you feel when using social media?   ·   Base (asked): 720  |  How do you feel when using social media?   ·   Base (asked): 720  |  How do you feel when using social media?   ·   Base (asked): 720  |  How do you feel when using social media?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Authentic or Fake?</a:t>
            </a:r>
          </a:p>
        </p:txBody>
      </p:sp>
      <p:graphicFrame>
        <p:nvGraphicFramePr>
          <p:cNvPr id="9" name="Chart 8"/>
          <p:cNvGraphicFramePr>
            <a:graphicFrameLocks noGrp="1"/>
          </p:cNvGraphicFramePr>
          <p:nvPr/>
        </p:nvGraphicFramePr>
        <p:xfrm>
          <a:off x="457200" y="1764792"/>
          <a:ext cx="5570067" cy="2029967"/>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Confidence or Insecure?</a:t>
            </a:r>
          </a:p>
        </p:txBody>
      </p:sp>
      <p:graphicFrame>
        <p:nvGraphicFramePr>
          <p:cNvPr id="11" name="Chart 10"/>
          <p:cNvGraphicFramePr>
            <a:graphicFrameLocks noGrp="1"/>
          </p:cNvGraphicFramePr>
          <p:nvPr/>
        </p:nvGraphicFramePr>
        <p:xfrm>
          <a:off x="6164427" y="1764792"/>
          <a:ext cx="5570067" cy="2029967"/>
        </p:xfrm>
        <a:graphic>
          <a:graphicData uri="http://schemas.openxmlformats.org/drawingml/2006/chart">
            <c:chart xmlns:c="http://schemas.openxmlformats.org/drawingml/2006/chart" r:id="rId3"/>
          </a:graphicData>
        </a:graphic>
      </p:graphicFrame>
      <p:sp>
        <p:nvSpPr>
          <p:cNvPr id="12" name="TextBox 11"/>
          <p:cNvSpPr txBox="1"/>
          <p:nvPr/>
        </p:nvSpPr>
        <p:spPr>
          <a:xfrm>
            <a:off x="457200" y="3931920"/>
            <a:ext cx="5570067" cy="256032"/>
          </a:xfrm>
          <a:prstGeom prst="rect">
            <a:avLst/>
          </a:prstGeom>
          <a:noFill/>
        </p:spPr>
        <p:txBody>
          <a:bodyPr wrap="square" anchor="t">
            <a:spAutoFit/>
          </a:bodyPr>
          <a:lstStyle/>
          <a:p>
            <a:pPr algn="l"/>
            <a:r>
              <a:rPr sz="1000" b="1">
                <a:solidFill>
                  <a:srgbClr val="2D3142"/>
                </a:solidFill>
                <a:latin typeface="Calibri"/>
              </a:rPr>
              <a:t>Reserved or Ongoing?</a:t>
            </a:r>
          </a:p>
        </p:txBody>
      </p:sp>
      <p:graphicFrame>
        <p:nvGraphicFramePr>
          <p:cNvPr id="13" name="Chart 12"/>
          <p:cNvGraphicFramePr>
            <a:graphicFrameLocks noGrp="1"/>
          </p:cNvGraphicFramePr>
          <p:nvPr/>
        </p:nvGraphicFramePr>
        <p:xfrm>
          <a:off x="457200" y="4187952"/>
          <a:ext cx="5570067" cy="2029967"/>
        </p:xfrm>
        <a:graphic>
          <a:graphicData uri="http://schemas.openxmlformats.org/drawingml/2006/chart">
            <c:chart xmlns:c="http://schemas.openxmlformats.org/drawingml/2006/chart" r:id="rId4"/>
          </a:graphicData>
        </a:graphic>
      </p:graphicFrame>
      <p:sp>
        <p:nvSpPr>
          <p:cNvPr id="14" name="TextBox 13"/>
          <p:cNvSpPr txBox="1"/>
          <p:nvPr/>
        </p:nvSpPr>
        <p:spPr>
          <a:xfrm>
            <a:off x="6164427" y="3931920"/>
            <a:ext cx="5570067" cy="256032"/>
          </a:xfrm>
          <a:prstGeom prst="rect">
            <a:avLst/>
          </a:prstGeom>
          <a:noFill/>
        </p:spPr>
        <p:txBody>
          <a:bodyPr wrap="square" anchor="t">
            <a:spAutoFit/>
          </a:bodyPr>
          <a:lstStyle/>
          <a:p>
            <a:pPr algn="l"/>
            <a:r>
              <a:rPr sz="1000" b="1">
                <a:solidFill>
                  <a:srgbClr val="2D3142"/>
                </a:solidFill>
                <a:latin typeface="Calibri"/>
              </a:rPr>
              <a:t>Included or Excluded?</a:t>
            </a:r>
          </a:p>
        </p:txBody>
      </p:sp>
      <p:graphicFrame>
        <p:nvGraphicFramePr>
          <p:cNvPr id="15" name="Chart 14"/>
          <p:cNvGraphicFramePr>
            <a:graphicFrameLocks noGrp="1"/>
          </p:cNvGraphicFramePr>
          <p:nvPr/>
        </p:nvGraphicFramePr>
        <p:xfrm>
          <a:off x="6164427" y="4187952"/>
          <a:ext cx="5570067" cy="2029967"/>
        </p:xfrm>
        <a:graphic>
          <a:graphicData uri="http://schemas.openxmlformats.org/drawingml/2006/chart">
            <c:chart xmlns:c="http://schemas.openxmlformats.org/drawingml/2006/chart" r:id="rId5"/>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05</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Digital Wellbeing &amp; Device Relationships</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Time spent, attempts to cut back, feelings without devices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Perceived Time Spent</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55% of teens believe they spend too much time on their phones and 42% on social media, yet only 29% say the same about gaming, suggesting self-awareness around compulsive use is highest for always-on communication tools rather than leisure activities.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721  |  Overall, how much time would you say you spend...?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Overall, how much time would you say you spend...?</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Attempts to Cut Back</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Attempts to cut back are common — 54% have tried reducing phone time, 59% social media, and 64% gaming — but the fact that usage remains high suggests willpower alone isn't enough without structural design changes or external support.</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721  |  Have you ever cut back on the amount of time you spend...?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Have you ever cut back on the amount of time you spend...?</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Feelings Without Cellphone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Anxiety (43%) and loneliness (26%) dominate when teens lose phone access, outweighing relief (18%) or happiness (17%), revealing dependency that feels compulsory rather than chosen and points to a need for healthier detachment norms.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721  |  How do you feel when you do NOT have your cellphone?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do you feel when you do NOT have your cellphone?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Phone Use Motivations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Phones serve multiple roles: 84% use them to connect with others (often or sometimes), 83% to learn, and 90% just to pass time, but 43% also use them to avoid in-person interaction, showing devices function as both social bridges and escape hatches.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721  |  When you are using your cellphone, how often, if ever, are you...?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When using your cellphone, how often are you...?</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Problematic Phone Behaviors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Compulsive behaviors are widespread — 59% feel pressure to respond immediately, 74% check notifications upon waking, and 32% lose focus in class — revealing that always-on connectivity creates cognitive load and attention fragmentation teens struggle to manage.</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721  |  Still thinking about your cellphone, how often, if ever, do you…?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Parental Phone Distraction</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51% of teens say their parents are often or sometimes distracted by phones during conversations, mirroring teens' own struggles and suggesting device dependency is a family-wide issue requiring collective rather than individual solutions.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often, if ever, do you feel that your parent or caregiver is distrac...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is your parent distracted by their phone during conversations?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06</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Online Communities &amp; Experiences</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Online groups, content curation, harassment, privacy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Online Group Participation</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46% of teens spend time in online groups or forums at least sometimes, with 12% doing so often, showing niche community participation is common but not universal and serves as a supplement to mainstream platform use.</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often, if ever, do you spend time in any groups or forums online (in...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 spend time in online groups or forums?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Types of Online Groups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Hobbies and gaming (53%), humor (52%), and pop culture (37%) dominate online group participation, while politics (12%) and religion (10%) trail far behind, reinforcing that teens seek entertainment and shared interests over ideological or spiritual community online.</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574  |  Thinking about the groups or forums online where you spend time, are any...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Are any of the online groups you participate in focused on...?</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Role of Online Groups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Online groups play a meaningful role for many: 55% say they help get through tough times (major or minor role), 68% aid acceptance, and 74% expose them to new people, validating niche communities as sources of support and identity exploration.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574  |  Thinking about online groups where you spend time, how much of a role, i...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much have online groups helped with...?</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Perceived Online Problems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Teens view harassment (63% major problem), privacy violations (57%), misinformation (61%), and excessive time online (60%) as serious threats, showing widespread concern about platform harms that outpaces trust in current solutions or oversight.</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much of a problem, if at all, are each of the following?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much of a problem are each of the following?</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Responsibility for Addressing Harassment</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No stakeholder earns strong marks for addressing harassment: social platforms get 37% poor ratings, elected officials 42%, and even parents only 59% excellent/good, revealing a leadership vacuum where teens see the problem clearly but solutions as inadequate across the board.</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As far as you know, how good of a job are each of the following groups d...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good a job are these groups doing addressing online harassment?</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Personal Experiences of Online Harassment</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Personal harassment is common — 42% have been called offensive names, 32% targeted by false rumors, and 25% sent unsolicited explicit images — making online harm a lived reality for most rather than an abstract concern.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Still thinking about your experiences online or on your cellphone, which...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Have any of the following ever happened to you online?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Online Harassment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Girls are significantly more likely than boys to experience rumor-spreading (39% vs. 26%) and unsolicited explicit images (29% vs. 20%), pointing to gendered harassment patterns that platforms must address through targeted intervention and reporting tools.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Total=743 | Male=348 | Female=393  |  Still thinking about your experiences online or on your cellphone, which...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Online harassment experiences — by gender</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Content Curation Behaviors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Teens actively curate their feeds (47% organize content often or sometimes) and delete posts to avoid future consequences (34%) or hide them from parents (30%), treating social media as a space requiring constant boundary management rather than carefree expression.</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How often, if ever, do you do each of the following on social media?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Unfollowing Frequency</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Unfollowing is routine — 45% do it often or sometimes — driven by drama (78%), overposting (54%), and bullying (52%), showing teens use curation as a self-protection strategy when platforms fail to moderate harmful behavior effectively.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720  |  How often, if ever, do you unfriend or unfollow people on social media?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often do you unfriend or unfollow people on social media?</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Reasons for Unfollowing</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Drama is the top reason for unfollowing (78%), far outpacing political disagreement (22%), revealing that interpersonal conflict and relational toxicity drive disengagement more than ideological divides, even in a polarized era.</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319  |  Have you ever unfriended or unfollowed someone on social media because...?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Have you ever unfriended or unfollowed someone because...?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Social Media's Civic &amp; Social Role</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Teens see social media as moderately helpful for cross-cultural interaction (69% a lot or some) and supporting causes (66%), but only 37% trust it for finding reliable information, exposing a credibility gap that limits platforms' civic utility.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much, if at all, do you think social media helps people your age do ...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much does social media help people your age...?</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rot="1800000">
            <a:off x="-3657600" y="-914400"/>
            <a:ext cx="5486400" cy="10972800"/>
          </a:xfrm>
          <a:prstGeom prst="roundRect">
            <a:avLst>
              <a:gd name="adj" fmla="val 50000"/>
            </a:avLst>
          </a:prstGeom>
          <a:solidFill>
            <a:srgbClr val="FDE4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ection_Label"/>
          <p:cNvSpPr txBox="1"/>
          <p:nvPr/>
        </p:nvSpPr>
        <p:spPr>
          <a:xfrm>
            <a:off x="4114800" y="2560320"/>
            <a:ext cx="3657600" cy="457200"/>
          </a:xfrm>
          <a:prstGeom prst="rect">
            <a:avLst/>
          </a:prstGeom>
          <a:noFill/>
        </p:spPr>
        <p:txBody>
          <a:bodyPr wrap="none">
            <a:spAutoFit/>
          </a:bodyPr>
          <a:lstStyle/>
          <a:p>
            <a:pPr>
              <a:defRPr sz="1600" b="1">
                <a:solidFill>
                  <a:srgbClr val="F4A261"/>
                </a:solidFill>
                <a:latin typeface="Century Gothic"/>
              </a:defRPr>
            </a:pPr>
            <a:r>
              <a:t>SECTION 07</a:t>
            </a:r>
          </a:p>
        </p:txBody>
      </p:sp>
      <p:sp>
        <p:nvSpPr>
          <p:cNvPr id="4" name="Section_Title"/>
          <p:cNvSpPr txBox="1"/>
          <p:nvPr/>
        </p:nvSpPr>
        <p:spPr>
          <a:xfrm>
            <a:off x="4023360" y="2926080"/>
            <a:ext cx="7772400" cy="1371600"/>
          </a:xfrm>
          <a:prstGeom prst="rect">
            <a:avLst/>
          </a:prstGeom>
          <a:noFill/>
        </p:spPr>
        <p:txBody>
          <a:bodyPr wrap="square">
            <a:spAutoFit/>
          </a:bodyPr>
          <a:lstStyle/>
          <a:p>
            <a:pPr>
              <a:defRPr sz="4800" b="1">
                <a:solidFill>
                  <a:srgbClr val="4A5568"/>
                </a:solidFill>
                <a:latin typeface="Century Gothic"/>
              </a:defRPr>
            </a:pPr>
            <a:r>
              <a:t>School Safety</a:t>
            </a:r>
          </a:p>
        </p:txBody>
      </p:sp>
      <p:sp>
        <p:nvSpPr>
          <p:cNvPr id="5" name="Section_Subtitle"/>
          <p:cNvSpPr txBox="1"/>
          <p:nvPr/>
        </p:nvSpPr>
        <p:spPr>
          <a:xfrm>
            <a:off x="4114800" y="4572000"/>
            <a:ext cx="7315200" cy="731520"/>
          </a:xfrm>
          <a:prstGeom prst="rect">
            <a:avLst/>
          </a:prstGeom>
          <a:noFill/>
        </p:spPr>
        <p:txBody>
          <a:bodyPr wrap="square">
            <a:spAutoFit/>
          </a:bodyPr>
          <a:lstStyle/>
          <a:p>
            <a:pPr>
              <a:defRPr sz="2200">
                <a:solidFill>
                  <a:srgbClr val="A0AEC0"/>
                </a:solidFill>
                <a:latin typeface="Century Gothic"/>
              </a:defRPr>
            </a:pPr>
            <a:r>
              <a:t>Worry about school shootings and perceived effectiveness of prevention measures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Worry About School Shootings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57% of teens are very or somewhat worried about school shootings, with only 13% not worried at all, reflecting pervasive anxiety that shapes daily school experience and demands visible, credible prevention efforts to restore a sense of safety.</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worried, if at all, are you about the possibility of a shooting happ...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worried are you about a shooting happening at your school?</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Worry by Gender</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Girls are significantly more worried about school shootings than boys (28% very worried vs. 22%), while boys are nearly twice as likely to feel no worry (17% vs. 10%), suggesting gendered threat perception that may stem from different experiences of vulnerability or media exposure.</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Total=743 | Male=348 | Female=393  |  How worried, if at all, are you about the possibility of a shooting happ...   ·   Significance testing (HIGH% / LOW%): ▲/▼ (or ↑/↓) indicates significantly higher/lower than the preceding group (Order: Male → Female).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Worry about school shootings — by gender</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400" b="1">
                <a:solidFill>
                  <a:srgbClr val="4A5568"/>
                </a:solidFill>
                <a:latin typeface="Century Gothic"/>
              </a:defRPr>
            </a:pPr>
            <a:r>
              <a:t>Perceived Effectiveness of Prevention Measures</a:t>
            </a:r>
          </a:p>
        </p:txBody>
      </p:sp>
      <p:sp>
        <p:nvSpPr>
          <p:cNvPr id="3" name="Rounded Rectangle 2"/>
          <p:cNvSpPr/>
          <p:nvPr/>
        </p:nvSpPr>
        <p:spPr>
          <a:xfrm>
            <a:off x="457200" y="731520"/>
            <a:ext cx="10362895" cy="594360"/>
          </a:xfrm>
          <a:prstGeom prst="roundRect">
            <a:avLst>
              <a:gd name="adj" fmla="val 15000"/>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rot="1500000">
            <a:off x="594360" y="914400"/>
            <a:ext cx="109728" cy="228600"/>
          </a:xfrm>
          <a:prstGeom prst="roundRect">
            <a:avLst>
              <a:gd name="adj" fmla="val 50000"/>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868680" y="749808"/>
            <a:ext cx="9966960" cy="548640"/>
          </a:xfrm>
          <a:prstGeom prst="rect">
            <a:avLst/>
          </a:prstGeom>
          <a:noFill/>
        </p:spPr>
        <p:txBody>
          <a:bodyPr wrap="square" anchor="ctr">
            <a:spAutoFit/>
          </a:bodyPr>
          <a:lstStyle/>
          <a:p>
            <a:pPr>
              <a:defRPr sz="1300">
                <a:solidFill>
                  <a:srgbClr val="4A5568"/>
                </a:solidFill>
                <a:latin typeface="Century Gothic"/>
              </a:defRPr>
            </a:pPr>
            <a:r>
              <a:t>Mental health interventions dominate prevention preferences — 57% view restricting gun purchases for those with mental illness as very effective, and 55% prioritize improved screening and treatment — far outpacing support for arming teachers (12%) or banning assault weapons (39%), pointing to a consensus around care-based solutions.</a:t>
            </a:r>
          </a:p>
        </p:txBody>
      </p:sp>
      <p:sp>
        <p:nvSpPr>
          <p:cNvPr id="6" name="Footnote"/>
          <p:cNvSpPr txBox="1"/>
          <p:nvPr/>
        </p:nvSpPr>
        <p:spPr>
          <a:xfrm>
            <a:off x="457200" y="6446520"/>
            <a:ext cx="11247120" cy="365760"/>
          </a:xfrm>
          <a:prstGeom prst="rect">
            <a:avLst/>
          </a:prstGeom>
          <a:noFill/>
        </p:spPr>
        <p:txBody>
          <a:bodyPr wrap="square" anchor="t">
            <a:spAutoFit/>
          </a:bodyPr>
          <a:lstStyle/>
          <a:p>
            <a:pPr>
              <a:defRPr sz="900">
                <a:solidFill>
                  <a:srgbClr val="A0AEC0"/>
                </a:solidFill>
                <a:latin typeface="Calibri"/>
              </a:defRPr>
            </a:pPr>
            <a:r>
              <a:t>Base (asked): 743  |  How effective, if at all, do you think each of the following would be at...   ·   Source: Pew Research Center</a:t>
            </a:r>
          </a:p>
        </p:txBody>
      </p:sp>
      <p:sp>
        <p:nvSpPr>
          <p:cNvPr id="7" name="Rounded Rectangle 6"/>
          <p:cNvSpPr/>
          <p:nvPr/>
        </p:nvSpPr>
        <p:spPr>
          <a:xfrm>
            <a:off x="457200" y="6400800"/>
            <a:ext cx="11247120" cy="914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How effective would each of the following be at preventing school shootings?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